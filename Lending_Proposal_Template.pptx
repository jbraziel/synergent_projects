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74" r:id="rId3"/>
    <p:sldId id="286" r:id="rId4"/>
    <p:sldId id="290" r:id="rId5"/>
    <p:sldId id="291" r:id="rId6"/>
    <p:sldId id="258" r:id="rId7"/>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BCCA"/>
    <a:srgbClr val="002E8A"/>
    <a:srgbClr val="5D93FF"/>
    <a:srgbClr val="2F6673"/>
    <a:srgbClr val="4AA0B4"/>
    <a:srgbClr val="76BD22"/>
    <a:srgbClr val="3555BD"/>
    <a:srgbClr val="BAC6EC"/>
    <a:srgbClr val="3C8394"/>
    <a:srgbClr val="1F43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E74EC8-CCEE-4276-AE8B-259A8965CE70}" v="12" dt="2026-05-26T16:25:07.7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59" d="100"/>
          <a:sy n="159" d="100"/>
        </p:scale>
        <p:origin x="2520"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Braziel" userId="5add26521aa46a26" providerId="LiveId" clId="{98CDCD58-43B4-467E-98F4-AC1A5120113B}"/>
    <pc:docChg chg="custSel modSld">
      <pc:chgData name="Jen Braziel" userId="5add26521aa46a26" providerId="LiveId" clId="{98CDCD58-43B4-467E-98F4-AC1A5120113B}" dt="2026-05-26T16:25:26.465" v="433" actId="1076"/>
      <pc:docMkLst>
        <pc:docMk/>
      </pc:docMkLst>
      <pc:sldChg chg="modSp mod">
        <pc:chgData name="Jen Braziel" userId="5add26521aa46a26" providerId="LiveId" clId="{98CDCD58-43B4-467E-98F4-AC1A5120113B}" dt="2026-05-26T16:00:29.926" v="401" actId="20577"/>
        <pc:sldMkLst>
          <pc:docMk/>
          <pc:sldMk cId="4068915439" sldId="274"/>
        </pc:sldMkLst>
        <pc:spChg chg="mod">
          <ac:chgData name="Jen Braziel" userId="5add26521aa46a26" providerId="LiveId" clId="{98CDCD58-43B4-467E-98F4-AC1A5120113B}" dt="2026-05-26T15:57:24.964" v="366"/>
          <ac:spMkLst>
            <pc:docMk/>
            <pc:sldMk cId="4068915439" sldId="274"/>
            <ac:spMk id="3" creationId="{A36A96F0-834A-CD0B-9AAE-C15F692CAD3A}"/>
          </ac:spMkLst>
        </pc:spChg>
        <pc:spChg chg="mod">
          <ac:chgData name="Jen Braziel" userId="5add26521aa46a26" providerId="LiveId" clId="{98CDCD58-43B4-467E-98F4-AC1A5120113B}" dt="2026-05-26T16:00:16.888" v="371"/>
          <ac:spMkLst>
            <pc:docMk/>
            <pc:sldMk cId="4068915439" sldId="274"/>
            <ac:spMk id="4" creationId="{DAA444FD-C98E-9629-1F86-5A2F8E235657}"/>
          </ac:spMkLst>
        </pc:spChg>
        <pc:spChg chg="mod">
          <ac:chgData name="Jen Braziel" userId="5add26521aa46a26" providerId="LiveId" clId="{98CDCD58-43B4-467E-98F4-AC1A5120113B}" dt="2026-05-26T15:57:24.964" v="366"/>
          <ac:spMkLst>
            <pc:docMk/>
            <pc:sldMk cId="4068915439" sldId="274"/>
            <ac:spMk id="5" creationId="{75CE96CD-A582-8CB5-2922-51FCC0DD182C}"/>
          </ac:spMkLst>
        </pc:spChg>
        <pc:spChg chg="mod">
          <ac:chgData name="Jen Braziel" userId="5add26521aa46a26" providerId="LiveId" clId="{98CDCD58-43B4-467E-98F4-AC1A5120113B}" dt="2026-05-26T15:58:35.975" v="369" actId="20577"/>
          <ac:spMkLst>
            <pc:docMk/>
            <pc:sldMk cId="4068915439" sldId="274"/>
            <ac:spMk id="6" creationId="{A17C86AE-CA13-866B-AC53-4EB3BF07C44C}"/>
          </ac:spMkLst>
        </pc:spChg>
        <pc:spChg chg="mod">
          <ac:chgData name="Jen Braziel" userId="5add26521aa46a26" providerId="LiveId" clId="{98CDCD58-43B4-467E-98F4-AC1A5120113B}" dt="2026-05-26T16:00:16.888" v="371"/>
          <ac:spMkLst>
            <pc:docMk/>
            <pc:sldMk cId="4068915439" sldId="274"/>
            <ac:spMk id="7" creationId="{0C8028DF-06E2-C4D5-E963-E16E58CB0644}"/>
          </ac:spMkLst>
        </pc:spChg>
        <pc:spChg chg="mod">
          <ac:chgData name="Jen Braziel" userId="5add26521aa46a26" providerId="LiveId" clId="{98CDCD58-43B4-467E-98F4-AC1A5120113B}" dt="2026-05-26T16:00:16.888" v="371"/>
          <ac:spMkLst>
            <pc:docMk/>
            <pc:sldMk cId="4068915439" sldId="274"/>
            <ac:spMk id="10" creationId="{4D9FB8DE-E3B0-338D-1BD8-C8A4C0A2E4E3}"/>
          </ac:spMkLst>
        </pc:spChg>
        <pc:spChg chg="mod">
          <ac:chgData name="Jen Braziel" userId="5add26521aa46a26" providerId="LiveId" clId="{98CDCD58-43B4-467E-98F4-AC1A5120113B}" dt="2026-05-26T16:00:16.888" v="371"/>
          <ac:spMkLst>
            <pc:docMk/>
            <pc:sldMk cId="4068915439" sldId="274"/>
            <ac:spMk id="11" creationId="{27359728-87E7-743B-8A99-E0891B9EA31E}"/>
          </ac:spMkLst>
        </pc:spChg>
        <pc:spChg chg="mod">
          <ac:chgData name="Jen Braziel" userId="5add26521aa46a26" providerId="LiveId" clId="{98CDCD58-43B4-467E-98F4-AC1A5120113B}" dt="2026-05-26T16:00:16.888" v="371"/>
          <ac:spMkLst>
            <pc:docMk/>
            <pc:sldMk cId="4068915439" sldId="274"/>
            <ac:spMk id="13" creationId="{CE1B7401-A182-9F1B-9EA1-A6274EE7A7A6}"/>
          </ac:spMkLst>
        </pc:spChg>
        <pc:spChg chg="mod">
          <ac:chgData name="Jen Braziel" userId="5add26521aa46a26" providerId="LiveId" clId="{98CDCD58-43B4-467E-98F4-AC1A5120113B}" dt="2026-05-26T16:00:29.926" v="401" actId="20577"/>
          <ac:spMkLst>
            <pc:docMk/>
            <pc:sldMk cId="4068915439" sldId="274"/>
            <ac:spMk id="15" creationId="{50475B2F-6CC7-9556-A94B-65AF0A69BEF4}"/>
          </ac:spMkLst>
        </pc:spChg>
        <pc:spChg chg="mod">
          <ac:chgData name="Jen Braziel" userId="5add26521aa46a26" providerId="LiveId" clId="{98CDCD58-43B4-467E-98F4-AC1A5120113B}" dt="2026-05-26T16:00:16.888" v="371"/>
          <ac:spMkLst>
            <pc:docMk/>
            <pc:sldMk cId="4068915439" sldId="274"/>
            <ac:spMk id="18" creationId="{AE87A49A-101F-E6FF-920D-ECC6BB829485}"/>
          </ac:spMkLst>
        </pc:spChg>
        <pc:spChg chg="mod">
          <ac:chgData name="Jen Braziel" userId="5add26521aa46a26" providerId="LiveId" clId="{98CDCD58-43B4-467E-98F4-AC1A5120113B}" dt="2026-05-26T16:00:16.888" v="371"/>
          <ac:spMkLst>
            <pc:docMk/>
            <pc:sldMk cId="4068915439" sldId="274"/>
            <ac:spMk id="25" creationId="{FDFCA467-C711-F8AF-DA97-8342015FB35E}"/>
          </ac:spMkLst>
        </pc:spChg>
        <pc:spChg chg="mod">
          <ac:chgData name="Jen Braziel" userId="5add26521aa46a26" providerId="LiveId" clId="{98CDCD58-43B4-467E-98F4-AC1A5120113B}" dt="2026-05-26T16:00:16.895" v="372"/>
          <ac:spMkLst>
            <pc:docMk/>
            <pc:sldMk cId="4068915439" sldId="274"/>
            <ac:spMk id="26" creationId="{330396F0-7427-39DF-0D18-51F906A1A1AA}"/>
          </ac:spMkLst>
        </pc:spChg>
        <pc:spChg chg="mod">
          <ac:chgData name="Jen Braziel" userId="5add26521aa46a26" providerId="LiveId" clId="{98CDCD58-43B4-467E-98F4-AC1A5120113B}" dt="2026-05-26T16:00:16.888" v="371"/>
          <ac:spMkLst>
            <pc:docMk/>
            <pc:sldMk cId="4068915439" sldId="274"/>
            <ac:spMk id="27" creationId="{CB71B6FE-627D-095D-CBF7-F22B2C467C45}"/>
          </ac:spMkLst>
        </pc:spChg>
      </pc:sldChg>
      <pc:sldChg chg="modSp mod">
        <pc:chgData name="Jen Braziel" userId="5add26521aa46a26" providerId="LiveId" clId="{98CDCD58-43B4-467E-98F4-AC1A5120113B}" dt="2026-05-26T16:02:30.075" v="427" actId="1037"/>
        <pc:sldMkLst>
          <pc:docMk/>
          <pc:sldMk cId="3456677066" sldId="286"/>
        </pc:sldMkLst>
        <pc:spChg chg="mod">
          <ac:chgData name="Jen Braziel" userId="5add26521aa46a26" providerId="LiveId" clId="{98CDCD58-43B4-467E-98F4-AC1A5120113B}" dt="2026-05-26T16:02:15.583" v="422"/>
          <ac:spMkLst>
            <pc:docMk/>
            <pc:sldMk cId="3456677066" sldId="286"/>
            <ac:spMk id="2" creationId="{54989107-ACFE-8FA3-9218-3618F22A0D0B}"/>
          </ac:spMkLst>
        </pc:spChg>
        <pc:spChg chg="mod">
          <ac:chgData name="Jen Braziel" userId="5add26521aa46a26" providerId="LiveId" clId="{98CDCD58-43B4-467E-98F4-AC1A5120113B}" dt="2026-05-26T16:01:28.836" v="419" actId="20577"/>
          <ac:spMkLst>
            <pc:docMk/>
            <pc:sldMk cId="3456677066" sldId="286"/>
            <ac:spMk id="64" creationId="{419A3DEA-C674-CBA6-4E9F-93B2ECAC3C32}"/>
          </ac:spMkLst>
        </pc:spChg>
        <pc:spChg chg="mod">
          <ac:chgData name="Jen Braziel" userId="5add26521aa46a26" providerId="LiveId" clId="{98CDCD58-43B4-467E-98F4-AC1A5120113B}" dt="2026-05-26T15:50:21.561" v="265" actId="20577"/>
          <ac:spMkLst>
            <pc:docMk/>
            <pc:sldMk cId="3456677066" sldId="286"/>
            <ac:spMk id="90" creationId="{C535D654-D3BF-8043-4607-505D052CC6D2}"/>
          </ac:spMkLst>
        </pc:spChg>
        <pc:graphicFrameChg chg="mod">
          <ac:chgData name="Jen Braziel" userId="5add26521aa46a26" providerId="LiveId" clId="{98CDCD58-43B4-467E-98F4-AC1A5120113B}" dt="2026-05-26T16:02:21.607" v="423" actId="14100"/>
          <ac:graphicFrameMkLst>
            <pc:docMk/>
            <pc:sldMk cId="3456677066" sldId="286"/>
            <ac:graphicFrameMk id="78" creationId="{9AFF16DB-375C-5799-22AF-5DF35421C742}"/>
          </ac:graphicFrameMkLst>
        </pc:graphicFrameChg>
        <pc:picChg chg="mod">
          <ac:chgData name="Jen Braziel" userId="5add26521aa46a26" providerId="LiveId" clId="{98CDCD58-43B4-467E-98F4-AC1A5120113B}" dt="2026-05-26T16:02:30.075" v="427" actId="1037"/>
          <ac:picMkLst>
            <pc:docMk/>
            <pc:sldMk cId="3456677066" sldId="286"/>
            <ac:picMk id="79" creationId="{373A5920-FF27-74C0-9332-C9D5A77A8D34}"/>
          </ac:picMkLst>
        </pc:picChg>
      </pc:sldChg>
      <pc:sldChg chg="addSp modSp mod">
        <pc:chgData name="Jen Braziel" userId="5add26521aa46a26" providerId="LiveId" clId="{98CDCD58-43B4-467E-98F4-AC1A5120113B}" dt="2026-05-26T16:25:26.465" v="433" actId="1076"/>
        <pc:sldMkLst>
          <pc:docMk/>
          <pc:sldMk cId="3372573862" sldId="290"/>
        </pc:sldMkLst>
        <pc:spChg chg="add mod">
          <ac:chgData name="Jen Braziel" userId="5add26521aa46a26" providerId="LiveId" clId="{98CDCD58-43B4-467E-98F4-AC1A5120113B}" dt="2026-05-26T16:25:26.465" v="433" actId="1076"/>
          <ac:spMkLst>
            <pc:docMk/>
            <pc:sldMk cId="3372573862" sldId="290"/>
            <ac:spMk id="19" creationId="{09BBC5BC-7B7B-A750-E498-5ACFF1A69A6C}"/>
          </ac:spMkLst>
        </pc:spChg>
        <pc:spChg chg="mod">
          <ac:chgData name="Jen Braziel" userId="5add26521aa46a26" providerId="LiveId" clId="{98CDCD58-43B4-467E-98F4-AC1A5120113B}" dt="2026-05-26T15:54:48.248" v="342" actId="20577"/>
          <ac:spMkLst>
            <pc:docMk/>
            <pc:sldMk cId="3372573862" sldId="290"/>
            <ac:spMk id="33" creationId="{E7C0D1BE-A497-51C5-D5DA-9DA5EFF88B46}"/>
          </ac:spMkLst>
        </pc:spChg>
        <pc:graphicFrameChg chg="mod modGraphic">
          <ac:chgData name="Jen Braziel" userId="5add26521aa46a26" providerId="LiveId" clId="{98CDCD58-43B4-467E-98F4-AC1A5120113B}" dt="2026-05-26T16:24:53.201" v="428"/>
          <ac:graphicFrameMkLst>
            <pc:docMk/>
            <pc:sldMk cId="3372573862" sldId="290"/>
            <ac:graphicFrameMk id="4" creationId="{CA0B6C24-4B6F-5333-2A2E-8B8B7B664080}"/>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endParaRPr lang="en-US" sz="800" dirty="0">
            <a:solidFill>
              <a:schemeClr val="tx1"/>
            </a:solidFill>
            <a:latin typeface="Montserrat SemiBold" panose="00000700000000000000" pitchFamily="2" charset="0"/>
          </a:endParaRP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custLinFactNeighborX="-130" custLinFactNeighborY="-39678">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endParaRPr lang="en-US" sz="900" dirty="0">
            <a:solidFill>
              <a:schemeClr val="tx1"/>
            </a:solidFill>
            <a:latin typeface="Montserrat SemiBold" panose="00000700000000000000" pitchFamily="2" charset="0"/>
          </a:endParaRP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endParaRPr lang="en-US" sz="900" dirty="0">
            <a:solidFill>
              <a:schemeClr val="tx1"/>
            </a:solidFill>
            <a:latin typeface="Montserrat SemiBold" panose="00000700000000000000" pitchFamily="2" charset="0"/>
          </a:endParaRPr>
        </a:p>
        <a:p>
          <a:pPr algn="l"/>
          <a:r>
            <a:rPr lang="en-US" sz="900" dirty="0">
              <a:solidFill>
                <a:schemeClr val="tx1"/>
              </a:solidFill>
              <a:latin typeface="Montserrat SemiBold" panose="00000700000000000000" pitchFamily="2" charset="0"/>
            </a:rPr>
            <a:t>A comprehensive performance analysis will be conducted at the conclusion of the campaign to evaluate ROI, conversion rates, year over year metrics and identify opportunities for future optimization.</a:t>
          </a:r>
        </a:p>
        <a:p>
          <a:pPr algn="l"/>
          <a:endParaRPr lang="en-US" sz="900" dirty="0">
            <a:solidFill>
              <a:schemeClr val="tx1"/>
            </a:solidFill>
            <a:latin typeface="Montserrat SemiBold" panose="00000700000000000000" pitchFamily="2" charset="0"/>
          </a:endParaRP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custLinFactNeighborX="1890" custLinFactNeighborY="8757"/>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5AD1377-33B5-4CEE-9D10-C63CFD04912B}"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US"/>
        </a:p>
      </dgm:t>
    </dgm:pt>
    <dgm:pt modelId="{7C8116A6-B0BF-4E65-B311-82F3867F25ED}">
      <dgm:prSet phldrT="[Text]" phldr="0" custT="1"/>
      <dgm:spPr/>
      <dgm:t>
        <a:bodyPr/>
        <a:lstStyle/>
        <a:p>
          <a:r>
            <a:rPr lang="en-US" sz="1000" dirty="0">
              <a:solidFill>
                <a:srgbClr val="3555BD"/>
              </a:solidFill>
              <a:latin typeface="Montserrat SemiBold" panose="00000700000000000000" pitchFamily="2" charset="0"/>
            </a:rPr>
            <a:t>Data Mining &amp; Target Audience Selection</a:t>
          </a:r>
        </a:p>
        <a:p>
          <a:endParaRPr lang="en-US" sz="1000" dirty="0">
            <a:latin typeface="Montserrat SemiBold" panose="00000700000000000000" pitchFamily="2" charset="0"/>
          </a:endParaRPr>
        </a:p>
      </dgm:t>
    </dgm:pt>
    <dgm:pt modelId="{F2E02DBF-18B2-42F8-AA3A-AE8D73919E8E}" type="parTrans" cxnId="{14A14660-9CC3-4B3B-A0D0-055C9B134A23}">
      <dgm:prSet/>
      <dgm:spPr/>
      <dgm:t>
        <a:bodyPr/>
        <a:lstStyle/>
        <a:p>
          <a:endParaRPr lang="en-US"/>
        </a:p>
      </dgm:t>
    </dgm:pt>
    <dgm:pt modelId="{4C84947C-A764-42CD-8444-81BD95F5EC19}" type="sibTrans" cxnId="{14A14660-9CC3-4B3B-A0D0-055C9B134A23}">
      <dgm:prSet phldrT="1" phldr="0"/>
      <dgm:spPr>
        <a:solidFill>
          <a:srgbClr val="3555BD"/>
        </a:solidFill>
      </dgm:spPr>
    </dgm:pt>
    <dgm:pt modelId="{BB3B7CEA-2CA7-4F86-B081-93F0AD9F8359}">
      <dgm:prSet phldrT="[Text]" phldr="0" custT="1"/>
      <dgm:spPr/>
      <dgm:t>
        <a:bodyPr/>
        <a:lstStyle/>
        <a:p>
          <a:endParaRPr lang="en-US" sz="1000" dirty="0">
            <a:latin typeface="Montserrat SemiBold" panose="00000700000000000000" pitchFamily="2" charset="0"/>
          </a:endParaRPr>
        </a:p>
        <a:p>
          <a:r>
            <a:rPr lang="en-US" sz="1000" dirty="0">
              <a:solidFill>
                <a:srgbClr val="3555BD"/>
              </a:solidFill>
              <a:latin typeface="Montserrat SemiBold" panose="00000700000000000000" pitchFamily="2" charset="0"/>
            </a:rPr>
            <a:t>Creative Design &amp; Offer Strategy</a:t>
          </a:r>
        </a:p>
      </dgm:t>
    </dgm:pt>
    <dgm:pt modelId="{84EA6C45-4726-41A5-9F01-9CB6C8988BFA}" type="parTrans" cxnId="{882EF901-8DC0-482F-8C2D-CF2E192E556D}">
      <dgm:prSet/>
      <dgm:spPr/>
      <dgm:t>
        <a:bodyPr/>
        <a:lstStyle/>
        <a:p>
          <a:endParaRPr lang="en-US"/>
        </a:p>
      </dgm:t>
    </dgm:pt>
    <dgm:pt modelId="{FA3C9EE2-8A98-4896-8D6B-F1FD29817BFE}" type="sibTrans" cxnId="{882EF901-8DC0-482F-8C2D-CF2E192E556D}">
      <dgm:prSet phldrT="2" phldr="0"/>
      <dgm:spPr>
        <a:solidFill>
          <a:srgbClr val="3555BD"/>
        </a:solidFill>
      </dgm:spPr>
    </dgm:pt>
    <dgm:pt modelId="{13925CDA-87AC-44B5-A416-1D5697A400D0}">
      <dgm:prSet phldrT="[Text]" phldr="0" custT="1"/>
      <dgm:spPr/>
      <dgm:t>
        <a:bodyPr/>
        <a:lstStyle/>
        <a:p>
          <a:pPr>
            <a:lnSpc>
              <a:spcPct val="100000"/>
            </a:lnSpc>
            <a:spcAft>
              <a:spcPts val="0"/>
            </a:spcAft>
          </a:pPr>
          <a:r>
            <a:rPr lang="en-US" sz="1000" dirty="0">
              <a:solidFill>
                <a:srgbClr val="2F6673"/>
              </a:solidFill>
              <a:latin typeface="Montserrat SemiBold" panose="00000700000000000000" pitchFamily="2" charset="0"/>
            </a:rPr>
            <a:t>Direct Mail </a:t>
          </a:r>
        </a:p>
        <a:p>
          <a:pPr>
            <a:lnSpc>
              <a:spcPct val="100000"/>
            </a:lnSpc>
            <a:spcAft>
              <a:spcPts val="0"/>
            </a:spcAft>
          </a:pPr>
          <a:r>
            <a:rPr lang="en-US" sz="1000" dirty="0">
              <a:solidFill>
                <a:srgbClr val="2F6673"/>
              </a:solidFill>
              <a:latin typeface="Montserrat SemiBold" panose="00000700000000000000" pitchFamily="2" charset="0"/>
            </a:rPr>
            <a:t>Outreach</a:t>
          </a:r>
        </a:p>
        <a:p>
          <a:pPr>
            <a:lnSpc>
              <a:spcPct val="100000"/>
            </a:lnSpc>
            <a:spcAft>
              <a:spcPts val="0"/>
            </a:spcAft>
          </a:pPr>
          <a:endParaRPr lang="en-US" sz="1000" dirty="0">
            <a:latin typeface="Montserrat SemiBold" panose="00000700000000000000" pitchFamily="2" charset="0"/>
          </a:endParaRPr>
        </a:p>
      </dgm:t>
    </dgm:pt>
    <dgm:pt modelId="{29CD0769-E275-4E75-A3D8-1E8CB8B7B5B2}" type="parTrans" cxnId="{D30F5D6A-9F9A-4907-96B4-E353404BC174}">
      <dgm:prSet/>
      <dgm:spPr/>
      <dgm:t>
        <a:bodyPr/>
        <a:lstStyle/>
        <a:p>
          <a:endParaRPr lang="en-US"/>
        </a:p>
      </dgm:t>
    </dgm:pt>
    <dgm:pt modelId="{7A49A60E-2920-4159-83E9-29F287A468A7}" type="sibTrans" cxnId="{D30F5D6A-9F9A-4907-96B4-E353404BC174}">
      <dgm:prSet phldrT="3" phldr="0"/>
      <dgm:spPr>
        <a:solidFill>
          <a:srgbClr val="3555BD"/>
        </a:solidFill>
      </dgm:spPr>
    </dgm:pt>
    <dgm:pt modelId="{7B8F9721-0744-47AD-B148-2F91AB8B4E7C}">
      <dgm:prSet custT="1"/>
      <dgm:spPr/>
      <dgm:t>
        <a:bodyPr/>
        <a:lstStyle/>
        <a:p>
          <a:endParaRPr lang="en-US" sz="1000" dirty="0">
            <a:latin typeface="Montserrat SemiBold" panose="00000700000000000000" pitchFamily="2" charset="0"/>
          </a:endParaRPr>
        </a:p>
        <a:p>
          <a:r>
            <a:rPr lang="en-US" sz="1000" dirty="0">
              <a:solidFill>
                <a:srgbClr val="2F6673"/>
              </a:solidFill>
              <a:latin typeface="Montserrat SemiBold" panose="00000700000000000000" pitchFamily="2" charset="0"/>
            </a:rPr>
            <a:t>Targeted Email Reinforcement</a:t>
          </a:r>
        </a:p>
      </dgm:t>
    </dgm:pt>
    <dgm:pt modelId="{4F20E845-AC7E-4403-8C0A-A8DA5B2C72E1}" type="parTrans" cxnId="{9F0416AE-86DF-43D3-9364-1CA2220A7B7C}">
      <dgm:prSet/>
      <dgm:spPr/>
      <dgm:t>
        <a:bodyPr/>
        <a:lstStyle/>
        <a:p>
          <a:endParaRPr lang="en-US"/>
        </a:p>
      </dgm:t>
    </dgm:pt>
    <dgm:pt modelId="{C9D89684-2C3B-450A-A08D-C92DF63CA41C}" type="sibTrans" cxnId="{9F0416AE-86DF-43D3-9364-1CA2220A7B7C}">
      <dgm:prSet phldrT="4" phldr="0"/>
      <dgm:spPr>
        <a:solidFill>
          <a:srgbClr val="3555BD"/>
        </a:solidFill>
      </dgm:spPr>
    </dgm:pt>
    <dgm:pt modelId="{F9F3C018-DC4E-40BC-88F5-25B006706D0D}">
      <dgm:prSet custT="1"/>
      <dgm:spPr/>
      <dgm:t>
        <a:bodyPr/>
        <a:lstStyle/>
        <a:p>
          <a:r>
            <a:rPr lang="en-US" sz="1000" dirty="0">
              <a:solidFill>
                <a:srgbClr val="002060"/>
              </a:solidFill>
              <a:latin typeface="Montserrat SemiBold" panose="00000700000000000000" pitchFamily="2" charset="0"/>
            </a:rPr>
            <a:t>Results Analysis &amp; Optimization</a:t>
          </a:r>
        </a:p>
        <a:p>
          <a:endParaRPr lang="en-US" sz="1000" dirty="0">
            <a:latin typeface="Montserrat SemiBold" panose="00000700000000000000" pitchFamily="2" charset="0"/>
          </a:endParaRPr>
        </a:p>
      </dgm:t>
    </dgm:pt>
    <dgm:pt modelId="{EF820D20-4351-4CD2-AF9E-EB173FA96CC5}" type="parTrans" cxnId="{30F3BCAD-656C-4690-ADA5-299112689CA4}">
      <dgm:prSet/>
      <dgm:spPr/>
      <dgm:t>
        <a:bodyPr/>
        <a:lstStyle/>
        <a:p>
          <a:endParaRPr lang="en-US"/>
        </a:p>
      </dgm:t>
    </dgm:pt>
    <dgm:pt modelId="{87788E77-6F76-4C42-9EA3-43727F569B3A}" type="sibTrans" cxnId="{30F3BCAD-656C-4690-ADA5-299112689CA4}">
      <dgm:prSet phldrT="5" phldr="0"/>
      <dgm:spPr>
        <a:solidFill>
          <a:srgbClr val="3555BD"/>
        </a:solidFill>
      </dgm:spPr>
    </dgm:pt>
    <dgm:pt modelId="{470AF600-A524-4708-A746-DCACC8EC7CD4}" type="pres">
      <dgm:prSet presAssocID="{35AD1377-33B5-4CEE-9D10-C63CFD04912B}" presName="Name0" presStyleCnt="0">
        <dgm:presLayoutVars>
          <dgm:dir/>
          <dgm:resizeHandles val="exact"/>
        </dgm:presLayoutVars>
      </dgm:prSet>
      <dgm:spPr/>
    </dgm:pt>
    <dgm:pt modelId="{A310310D-C640-41A8-951A-E98BAF954897}" type="pres">
      <dgm:prSet presAssocID="{35AD1377-33B5-4CEE-9D10-C63CFD04912B}" presName="arrow" presStyleLbl="bgShp" presStyleIdx="0" presStyleCnt="1" custLinFactNeighborY="-2434"/>
      <dgm:spPr/>
    </dgm:pt>
    <dgm:pt modelId="{695E60DC-8334-4270-94C2-4D43213EFDDA}" type="pres">
      <dgm:prSet presAssocID="{35AD1377-33B5-4CEE-9D10-C63CFD04912B}" presName="points" presStyleCnt="0"/>
      <dgm:spPr/>
    </dgm:pt>
    <dgm:pt modelId="{3797BB0B-68AB-4B2D-AE9B-7BF84A0C83D3}" type="pres">
      <dgm:prSet presAssocID="{7C8116A6-B0BF-4E65-B311-82F3867F25ED}" presName="compositeA" presStyleCnt="0"/>
      <dgm:spPr/>
    </dgm:pt>
    <dgm:pt modelId="{9B27E755-E604-42B0-9497-9BE2A00F9F94}" type="pres">
      <dgm:prSet presAssocID="{7C8116A6-B0BF-4E65-B311-82F3867F25ED}" presName="textA" presStyleLbl="revTx" presStyleIdx="0" presStyleCnt="5" custLinFactNeighborX="-1315" custLinFactNeighborY="-17007">
        <dgm:presLayoutVars>
          <dgm:bulletEnabled val="1"/>
        </dgm:presLayoutVars>
      </dgm:prSet>
      <dgm:spPr/>
    </dgm:pt>
    <dgm:pt modelId="{F0D41D6E-E85C-4DFF-A97D-0A2EBCC7345D}" type="pres">
      <dgm:prSet presAssocID="{7C8116A6-B0BF-4E65-B311-82F3867F25ED}" presName="circleA" presStyleLbl="node1" presStyleIdx="0" presStyleCnt="5"/>
      <dgm:spPr/>
    </dgm:pt>
    <dgm:pt modelId="{BD6DFF28-48A7-41E2-8290-AD77909A402A}" type="pres">
      <dgm:prSet presAssocID="{7C8116A6-B0BF-4E65-B311-82F3867F25ED}" presName="spaceA" presStyleCnt="0"/>
      <dgm:spPr/>
    </dgm:pt>
    <dgm:pt modelId="{A603ACD8-526C-4F5C-82D2-9441B460FA18}" type="pres">
      <dgm:prSet presAssocID="{4C84947C-A764-42CD-8444-81BD95F5EC19}" presName="space" presStyleCnt="0"/>
      <dgm:spPr/>
    </dgm:pt>
    <dgm:pt modelId="{B11E6902-34CA-4C56-A06F-00611F350B4B}" type="pres">
      <dgm:prSet presAssocID="{BB3B7CEA-2CA7-4F86-B081-93F0AD9F8359}" presName="compositeB" presStyleCnt="0"/>
      <dgm:spPr/>
    </dgm:pt>
    <dgm:pt modelId="{A6D026A8-D865-48EA-BBC4-8DBB095D8389}" type="pres">
      <dgm:prSet presAssocID="{BB3B7CEA-2CA7-4F86-B081-93F0AD9F8359}" presName="textB" presStyleLbl="revTx" presStyleIdx="1" presStyleCnt="5">
        <dgm:presLayoutVars>
          <dgm:bulletEnabled val="1"/>
        </dgm:presLayoutVars>
      </dgm:prSet>
      <dgm:spPr/>
    </dgm:pt>
    <dgm:pt modelId="{A665F1DC-C267-48D5-9740-00BE1DF29BA4}" type="pres">
      <dgm:prSet presAssocID="{BB3B7CEA-2CA7-4F86-B081-93F0AD9F8359}" presName="circleB" presStyleLbl="node1" presStyleIdx="1" presStyleCnt="5"/>
      <dgm:spPr/>
    </dgm:pt>
    <dgm:pt modelId="{DABC86D1-AD46-4F01-9296-A81F694AC6AC}" type="pres">
      <dgm:prSet presAssocID="{BB3B7CEA-2CA7-4F86-B081-93F0AD9F8359}" presName="spaceB" presStyleCnt="0"/>
      <dgm:spPr/>
    </dgm:pt>
    <dgm:pt modelId="{E7AFEC46-8A9E-4584-8BA6-DCBE021C65A1}" type="pres">
      <dgm:prSet presAssocID="{FA3C9EE2-8A98-4896-8D6B-F1FD29817BFE}" presName="space" presStyleCnt="0"/>
      <dgm:spPr/>
    </dgm:pt>
    <dgm:pt modelId="{9B4687E8-34B5-4855-B7B0-6A9FFCAE19E2}" type="pres">
      <dgm:prSet presAssocID="{13925CDA-87AC-44B5-A416-1D5697A400D0}" presName="compositeA" presStyleCnt="0"/>
      <dgm:spPr/>
    </dgm:pt>
    <dgm:pt modelId="{DC6F7691-C6B8-4B44-8F90-B17D5D03CF3F}" type="pres">
      <dgm:prSet presAssocID="{13925CDA-87AC-44B5-A416-1D5697A400D0}" presName="textA" presStyleLbl="revTx" presStyleIdx="2" presStyleCnt="5">
        <dgm:presLayoutVars>
          <dgm:bulletEnabled val="1"/>
        </dgm:presLayoutVars>
      </dgm:prSet>
      <dgm:spPr/>
    </dgm:pt>
    <dgm:pt modelId="{7DA1F0A7-556A-40AE-9554-2099BF16D7E2}" type="pres">
      <dgm:prSet presAssocID="{13925CDA-87AC-44B5-A416-1D5697A400D0}" presName="circleA" presStyleLbl="node1" presStyleIdx="2" presStyleCnt="5"/>
      <dgm:spPr/>
    </dgm:pt>
    <dgm:pt modelId="{C2920BE3-8A76-4F79-9678-475A865B8178}" type="pres">
      <dgm:prSet presAssocID="{13925CDA-87AC-44B5-A416-1D5697A400D0}" presName="spaceA" presStyleCnt="0"/>
      <dgm:spPr/>
    </dgm:pt>
    <dgm:pt modelId="{522CAA73-B2CF-464A-9D3F-1A584DF5132A}" type="pres">
      <dgm:prSet presAssocID="{7A49A60E-2920-4159-83E9-29F287A468A7}" presName="space" presStyleCnt="0"/>
      <dgm:spPr/>
    </dgm:pt>
    <dgm:pt modelId="{D32E8367-C34C-4587-AC7D-886EE6A6DF42}" type="pres">
      <dgm:prSet presAssocID="{7B8F9721-0744-47AD-B148-2F91AB8B4E7C}" presName="compositeB" presStyleCnt="0"/>
      <dgm:spPr/>
    </dgm:pt>
    <dgm:pt modelId="{423DB10D-59CE-4925-843B-CC6696CFDF09}" type="pres">
      <dgm:prSet presAssocID="{7B8F9721-0744-47AD-B148-2F91AB8B4E7C}" presName="textB" presStyleLbl="revTx" presStyleIdx="3" presStyleCnt="5">
        <dgm:presLayoutVars>
          <dgm:bulletEnabled val="1"/>
        </dgm:presLayoutVars>
      </dgm:prSet>
      <dgm:spPr/>
    </dgm:pt>
    <dgm:pt modelId="{863AF722-C927-4F9C-BC38-30D489237A6A}" type="pres">
      <dgm:prSet presAssocID="{7B8F9721-0744-47AD-B148-2F91AB8B4E7C}" presName="circleB" presStyleLbl="node1" presStyleIdx="3" presStyleCnt="5"/>
      <dgm:spPr/>
    </dgm:pt>
    <dgm:pt modelId="{6DA6C70B-D3B4-4466-9E3F-00359A88B70C}" type="pres">
      <dgm:prSet presAssocID="{7B8F9721-0744-47AD-B148-2F91AB8B4E7C}" presName="spaceB" presStyleCnt="0"/>
      <dgm:spPr/>
    </dgm:pt>
    <dgm:pt modelId="{2587BEB6-C674-4016-A86D-201FB30BCA5B}" type="pres">
      <dgm:prSet presAssocID="{C9D89684-2C3B-450A-A08D-C92DF63CA41C}" presName="space" presStyleCnt="0"/>
      <dgm:spPr/>
    </dgm:pt>
    <dgm:pt modelId="{E24EEA33-4B7C-4877-A2EF-068C2835A1D1}" type="pres">
      <dgm:prSet presAssocID="{F9F3C018-DC4E-40BC-88F5-25B006706D0D}" presName="compositeA" presStyleCnt="0"/>
      <dgm:spPr/>
    </dgm:pt>
    <dgm:pt modelId="{E95ECE82-1418-44E6-B1F7-C88CDAC86858}" type="pres">
      <dgm:prSet presAssocID="{F9F3C018-DC4E-40BC-88F5-25B006706D0D}" presName="textA" presStyleLbl="revTx" presStyleIdx="4" presStyleCnt="5">
        <dgm:presLayoutVars>
          <dgm:bulletEnabled val="1"/>
        </dgm:presLayoutVars>
      </dgm:prSet>
      <dgm:spPr/>
    </dgm:pt>
    <dgm:pt modelId="{45243F2D-7691-4644-A7A6-2140C950B1DA}" type="pres">
      <dgm:prSet presAssocID="{F9F3C018-DC4E-40BC-88F5-25B006706D0D}" presName="circleA" presStyleLbl="node1" presStyleIdx="4" presStyleCnt="5"/>
      <dgm:spPr/>
    </dgm:pt>
    <dgm:pt modelId="{D145ECC5-8CBC-432D-BA36-C2D2F7AB4ACE}" type="pres">
      <dgm:prSet presAssocID="{F9F3C018-DC4E-40BC-88F5-25B006706D0D}" presName="spaceA" presStyleCnt="0"/>
      <dgm:spPr/>
    </dgm:pt>
  </dgm:ptLst>
  <dgm:cxnLst>
    <dgm:cxn modelId="{882EF901-8DC0-482F-8C2D-CF2E192E556D}" srcId="{35AD1377-33B5-4CEE-9D10-C63CFD04912B}" destId="{BB3B7CEA-2CA7-4F86-B081-93F0AD9F8359}" srcOrd="1" destOrd="0" parTransId="{84EA6C45-4726-41A5-9F01-9CB6C8988BFA}" sibTransId="{FA3C9EE2-8A98-4896-8D6B-F1FD29817BFE}"/>
    <dgm:cxn modelId="{89AD8417-63AC-43B1-B70F-7FDEB60C8CA9}" type="presOf" srcId="{BB3B7CEA-2CA7-4F86-B081-93F0AD9F8359}" destId="{A6D026A8-D865-48EA-BBC4-8DBB095D8389}" srcOrd="0" destOrd="0" presId="urn:microsoft.com/office/officeart/2005/8/layout/hProcess11"/>
    <dgm:cxn modelId="{F12D8A28-8271-43E5-9B24-16A48B8C81AB}" type="presOf" srcId="{7B8F9721-0744-47AD-B148-2F91AB8B4E7C}" destId="{423DB10D-59CE-4925-843B-CC6696CFDF09}" srcOrd="0" destOrd="0" presId="urn:microsoft.com/office/officeart/2005/8/layout/hProcess11"/>
    <dgm:cxn modelId="{14A14660-9CC3-4B3B-A0D0-055C9B134A23}" srcId="{35AD1377-33B5-4CEE-9D10-C63CFD04912B}" destId="{7C8116A6-B0BF-4E65-B311-82F3867F25ED}" srcOrd="0" destOrd="0" parTransId="{F2E02DBF-18B2-42F8-AA3A-AE8D73919E8E}" sibTransId="{4C84947C-A764-42CD-8444-81BD95F5EC19}"/>
    <dgm:cxn modelId="{385D8964-02EF-4FDC-BDC0-284F148ECF2D}" type="presOf" srcId="{F9F3C018-DC4E-40BC-88F5-25B006706D0D}" destId="{E95ECE82-1418-44E6-B1F7-C88CDAC86858}" srcOrd="0" destOrd="0" presId="urn:microsoft.com/office/officeart/2005/8/layout/hProcess11"/>
    <dgm:cxn modelId="{522FA568-3929-48AE-80F8-249442F8F125}" type="presOf" srcId="{7C8116A6-B0BF-4E65-B311-82F3867F25ED}" destId="{9B27E755-E604-42B0-9497-9BE2A00F9F94}" srcOrd="0" destOrd="0" presId="urn:microsoft.com/office/officeart/2005/8/layout/hProcess11"/>
    <dgm:cxn modelId="{D30F5D6A-9F9A-4907-96B4-E353404BC174}" srcId="{35AD1377-33B5-4CEE-9D10-C63CFD04912B}" destId="{13925CDA-87AC-44B5-A416-1D5697A400D0}" srcOrd="2" destOrd="0" parTransId="{29CD0769-E275-4E75-A3D8-1E8CB8B7B5B2}" sibTransId="{7A49A60E-2920-4159-83E9-29F287A468A7}"/>
    <dgm:cxn modelId="{30F3BCAD-656C-4690-ADA5-299112689CA4}" srcId="{35AD1377-33B5-4CEE-9D10-C63CFD04912B}" destId="{F9F3C018-DC4E-40BC-88F5-25B006706D0D}" srcOrd="4" destOrd="0" parTransId="{EF820D20-4351-4CD2-AF9E-EB173FA96CC5}" sibTransId="{87788E77-6F76-4C42-9EA3-43727F569B3A}"/>
    <dgm:cxn modelId="{9F0416AE-86DF-43D3-9364-1CA2220A7B7C}" srcId="{35AD1377-33B5-4CEE-9D10-C63CFD04912B}" destId="{7B8F9721-0744-47AD-B148-2F91AB8B4E7C}" srcOrd="3" destOrd="0" parTransId="{4F20E845-AC7E-4403-8C0A-A8DA5B2C72E1}" sibTransId="{C9D89684-2C3B-450A-A08D-C92DF63CA41C}"/>
    <dgm:cxn modelId="{D4BF93C3-A766-4BA7-A1CE-33827D9DC116}" type="presOf" srcId="{35AD1377-33B5-4CEE-9D10-C63CFD04912B}" destId="{470AF600-A524-4708-A746-DCACC8EC7CD4}" srcOrd="0" destOrd="0" presId="urn:microsoft.com/office/officeart/2005/8/layout/hProcess11"/>
    <dgm:cxn modelId="{5052C6F7-B618-4F60-BDDA-0E050143E1DC}" type="presOf" srcId="{13925CDA-87AC-44B5-A416-1D5697A400D0}" destId="{DC6F7691-C6B8-4B44-8F90-B17D5D03CF3F}" srcOrd="0" destOrd="0" presId="urn:microsoft.com/office/officeart/2005/8/layout/hProcess11"/>
    <dgm:cxn modelId="{679573FE-A338-4680-AD2E-CBED23CF4A04}" type="presParOf" srcId="{470AF600-A524-4708-A746-DCACC8EC7CD4}" destId="{A310310D-C640-41A8-951A-E98BAF954897}" srcOrd="0" destOrd="0" presId="urn:microsoft.com/office/officeart/2005/8/layout/hProcess11"/>
    <dgm:cxn modelId="{11E1A712-1477-45B8-A036-880E817FE74B}" type="presParOf" srcId="{470AF600-A524-4708-A746-DCACC8EC7CD4}" destId="{695E60DC-8334-4270-94C2-4D43213EFDDA}" srcOrd="1" destOrd="0" presId="urn:microsoft.com/office/officeart/2005/8/layout/hProcess11"/>
    <dgm:cxn modelId="{0471A3A1-1BCE-4993-8244-D26F22AD4414}" type="presParOf" srcId="{695E60DC-8334-4270-94C2-4D43213EFDDA}" destId="{3797BB0B-68AB-4B2D-AE9B-7BF84A0C83D3}" srcOrd="0" destOrd="0" presId="urn:microsoft.com/office/officeart/2005/8/layout/hProcess11"/>
    <dgm:cxn modelId="{68B463AF-57A7-4F1D-ACEC-99F11D00101D}" type="presParOf" srcId="{3797BB0B-68AB-4B2D-AE9B-7BF84A0C83D3}" destId="{9B27E755-E604-42B0-9497-9BE2A00F9F94}" srcOrd="0" destOrd="0" presId="urn:microsoft.com/office/officeart/2005/8/layout/hProcess11"/>
    <dgm:cxn modelId="{C72BAFF8-A5C3-4E50-A667-82CDC1BAB6EA}" type="presParOf" srcId="{3797BB0B-68AB-4B2D-AE9B-7BF84A0C83D3}" destId="{F0D41D6E-E85C-4DFF-A97D-0A2EBCC7345D}" srcOrd="1" destOrd="0" presId="urn:microsoft.com/office/officeart/2005/8/layout/hProcess11"/>
    <dgm:cxn modelId="{9DE32D0D-A97B-41AD-9B27-9EF3E5EAFBEC}" type="presParOf" srcId="{3797BB0B-68AB-4B2D-AE9B-7BF84A0C83D3}" destId="{BD6DFF28-48A7-41E2-8290-AD77909A402A}" srcOrd="2" destOrd="0" presId="urn:microsoft.com/office/officeart/2005/8/layout/hProcess11"/>
    <dgm:cxn modelId="{B5E86EEF-3C97-46DF-AE4A-065FC24A0EAF}" type="presParOf" srcId="{695E60DC-8334-4270-94C2-4D43213EFDDA}" destId="{A603ACD8-526C-4F5C-82D2-9441B460FA18}" srcOrd="1" destOrd="0" presId="urn:microsoft.com/office/officeart/2005/8/layout/hProcess11"/>
    <dgm:cxn modelId="{98103338-5A01-4CC8-A72E-C8BCD06DF7E4}" type="presParOf" srcId="{695E60DC-8334-4270-94C2-4D43213EFDDA}" destId="{B11E6902-34CA-4C56-A06F-00611F350B4B}" srcOrd="2" destOrd="0" presId="urn:microsoft.com/office/officeart/2005/8/layout/hProcess11"/>
    <dgm:cxn modelId="{6DBC29E1-75EA-403C-BE9F-7C9CA8D37708}" type="presParOf" srcId="{B11E6902-34CA-4C56-A06F-00611F350B4B}" destId="{A6D026A8-D865-48EA-BBC4-8DBB095D8389}" srcOrd="0" destOrd="0" presId="urn:microsoft.com/office/officeart/2005/8/layout/hProcess11"/>
    <dgm:cxn modelId="{D1B532DF-8CBE-4B7A-894E-AB9FE2084876}" type="presParOf" srcId="{B11E6902-34CA-4C56-A06F-00611F350B4B}" destId="{A665F1DC-C267-48D5-9740-00BE1DF29BA4}" srcOrd="1" destOrd="0" presId="urn:microsoft.com/office/officeart/2005/8/layout/hProcess11"/>
    <dgm:cxn modelId="{914C672F-2490-455F-8A0C-0FD8BCBA09E8}" type="presParOf" srcId="{B11E6902-34CA-4C56-A06F-00611F350B4B}" destId="{DABC86D1-AD46-4F01-9296-A81F694AC6AC}" srcOrd="2" destOrd="0" presId="urn:microsoft.com/office/officeart/2005/8/layout/hProcess11"/>
    <dgm:cxn modelId="{E7E647B7-A059-4F09-B735-DAD9CBAC49B1}" type="presParOf" srcId="{695E60DC-8334-4270-94C2-4D43213EFDDA}" destId="{E7AFEC46-8A9E-4584-8BA6-DCBE021C65A1}" srcOrd="3" destOrd="0" presId="urn:microsoft.com/office/officeart/2005/8/layout/hProcess11"/>
    <dgm:cxn modelId="{F7407421-44ED-489C-8F8F-DC82331DFFFA}" type="presParOf" srcId="{695E60DC-8334-4270-94C2-4D43213EFDDA}" destId="{9B4687E8-34B5-4855-B7B0-6A9FFCAE19E2}" srcOrd="4" destOrd="0" presId="urn:microsoft.com/office/officeart/2005/8/layout/hProcess11"/>
    <dgm:cxn modelId="{FE4FEC81-28C1-4B1A-8DC9-48D9356466A0}" type="presParOf" srcId="{9B4687E8-34B5-4855-B7B0-6A9FFCAE19E2}" destId="{DC6F7691-C6B8-4B44-8F90-B17D5D03CF3F}" srcOrd="0" destOrd="0" presId="urn:microsoft.com/office/officeart/2005/8/layout/hProcess11"/>
    <dgm:cxn modelId="{CA558221-5364-4171-841B-60530AD2D514}" type="presParOf" srcId="{9B4687E8-34B5-4855-B7B0-6A9FFCAE19E2}" destId="{7DA1F0A7-556A-40AE-9554-2099BF16D7E2}" srcOrd="1" destOrd="0" presId="urn:microsoft.com/office/officeart/2005/8/layout/hProcess11"/>
    <dgm:cxn modelId="{75182B77-8D73-45E7-80DC-F13AA6F8D1DD}" type="presParOf" srcId="{9B4687E8-34B5-4855-B7B0-6A9FFCAE19E2}" destId="{C2920BE3-8A76-4F79-9678-475A865B8178}" srcOrd="2" destOrd="0" presId="urn:microsoft.com/office/officeart/2005/8/layout/hProcess11"/>
    <dgm:cxn modelId="{9E94531E-EB96-419F-87F7-AB2C24C8A838}" type="presParOf" srcId="{695E60DC-8334-4270-94C2-4D43213EFDDA}" destId="{522CAA73-B2CF-464A-9D3F-1A584DF5132A}" srcOrd="5" destOrd="0" presId="urn:microsoft.com/office/officeart/2005/8/layout/hProcess11"/>
    <dgm:cxn modelId="{9BD56628-D369-41B6-8482-00D792549182}" type="presParOf" srcId="{695E60DC-8334-4270-94C2-4D43213EFDDA}" destId="{D32E8367-C34C-4587-AC7D-886EE6A6DF42}" srcOrd="6" destOrd="0" presId="urn:microsoft.com/office/officeart/2005/8/layout/hProcess11"/>
    <dgm:cxn modelId="{DEC969A8-8609-456D-B716-58685473B062}" type="presParOf" srcId="{D32E8367-C34C-4587-AC7D-886EE6A6DF42}" destId="{423DB10D-59CE-4925-843B-CC6696CFDF09}" srcOrd="0" destOrd="0" presId="urn:microsoft.com/office/officeart/2005/8/layout/hProcess11"/>
    <dgm:cxn modelId="{B337FAEB-E31C-4EE0-8AE2-64F614E03DE9}" type="presParOf" srcId="{D32E8367-C34C-4587-AC7D-886EE6A6DF42}" destId="{863AF722-C927-4F9C-BC38-30D489237A6A}" srcOrd="1" destOrd="0" presId="urn:microsoft.com/office/officeart/2005/8/layout/hProcess11"/>
    <dgm:cxn modelId="{3CF29FC0-DD32-456F-A221-4A518BDE311B}" type="presParOf" srcId="{D32E8367-C34C-4587-AC7D-886EE6A6DF42}" destId="{6DA6C70B-D3B4-4466-9E3F-00359A88B70C}" srcOrd="2" destOrd="0" presId="urn:microsoft.com/office/officeart/2005/8/layout/hProcess11"/>
    <dgm:cxn modelId="{E64092E3-88C2-4415-8A06-7271857B84A9}" type="presParOf" srcId="{695E60DC-8334-4270-94C2-4D43213EFDDA}" destId="{2587BEB6-C674-4016-A86D-201FB30BCA5B}" srcOrd="7" destOrd="0" presId="urn:microsoft.com/office/officeart/2005/8/layout/hProcess11"/>
    <dgm:cxn modelId="{A427DE18-0274-4EEF-9524-9505428114BD}" type="presParOf" srcId="{695E60DC-8334-4270-94C2-4D43213EFDDA}" destId="{E24EEA33-4B7C-4877-A2EF-068C2835A1D1}" srcOrd="8" destOrd="0" presId="urn:microsoft.com/office/officeart/2005/8/layout/hProcess11"/>
    <dgm:cxn modelId="{0EB80913-8E11-44CC-B9D4-B2D57699032D}" type="presParOf" srcId="{E24EEA33-4B7C-4877-A2EF-068C2835A1D1}" destId="{E95ECE82-1418-44E6-B1F7-C88CDAC86858}" srcOrd="0" destOrd="0" presId="urn:microsoft.com/office/officeart/2005/8/layout/hProcess11"/>
    <dgm:cxn modelId="{CEE88616-A8F5-4E83-8296-DE7C8F73155F}" type="presParOf" srcId="{E24EEA33-4B7C-4877-A2EF-068C2835A1D1}" destId="{45243F2D-7691-4644-A7A6-2140C950B1DA}" srcOrd="1" destOrd="0" presId="urn:microsoft.com/office/officeart/2005/8/layout/hProcess11"/>
    <dgm:cxn modelId="{CC44F687-43B7-432C-A25C-5C1F93FD7B32}" type="presParOf" srcId="{E24EEA33-4B7C-4877-A2EF-068C2835A1D1}" destId="{D145ECC5-8CBC-432D-BA36-C2D2F7AB4ACE}" srcOrd="2" destOrd="0" presId="urn:microsoft.com/office/officeart/2005/8/layout/hProcess11"/>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800" i="1" dirty="0">
              <a:solidFill>
                <a:schemeClr val="tx1"/>
              </a:solidFill>
              <a:latin typeface="Montserrat SemiBold" panose="00000700000000000000" pitchFamily="2" charset="0"/>
            </a:rPr>
            <a:t>Estimates do not include postage. First Class Postage is estimated at .431 each. This is an estimate – actual pricing and quantities determined at time of datamining based on criteria. Any programming, design, and/or reporting changes may result in additional costs.</a:t>
          </a:r>
          <a:endParaRPr lang="en-US" sz="800" dirty="0">
            <a:solidFill>
              <a:schemeClr val="tx1"/>
            </a:solidFill>
            <a:latin typeface="Montserrat SemiBold" panose="00000700000000000000" pitchFamily="2" charset="0"/>
          </a:endParaRP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custLinFactNeighborX="-130" custLinFactNeighborY="-39678">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341081" y="0"/>
          <a:ext cx="4843465" cy="509630"/>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4733" tIns="30480" rIns="56896" bIns="30480" numCol="1" spcCol="1270" anchor="ctr" anchorCtr="0">
          <a:noAutofit/>
        </a:bodyPr>
        <a:lstStyle/>
        <a:p>
          <a:pPr marL="0" lvl="0" indent="0" algn="l" defTabSz="355600">
            <a:lnSpc>
              <a:spcPct val="90000"/>
            </a:lnSpc>
            <a:spcBef>
              <a:spcPct val="0"/>
            </a:spcBef>
            <a:spcAft>
              <a:spcPct val="35000"/>
            </a:spcAft>
            <a:buNone/>
          </a:pPr>
          <a:endParaRPr lang="en-US" sz="800" kern="1200" dirty="0">
            <a:solidFill>
              <a:schemeClr val="tx1"/>
            </a:solidFill>
            <a:latin typeface="Montserrat SemiBold" panose="00000700000000000000" pitchFamily="2" charset="0"/>
          </a:endParaRPr>
        </a:p>
      </dsp:txBody>
      <dsp:txXfrm rot="10800000">
        <a:off x="1468488" y="0"/>
        <a:ext cx="4716058" cy="509630"/>
      </dsp:txXfrm>
    </dsp:sp>
    <dsp:sp modelId="{5567B541-69EE-4118-8A2C-792E956D701E}">
      <dsp:nvSpPr>
        <dsp:cNvPr id="0" name=""/>
        <dsp:cNvSpPr/>
      </dsp:nvSpPr>
      <dsp:spPr>
        <a:xfrm>
          <a:off x="1092563" y="0"/>
          <a:ext cx="509630" cy="509630"/>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309445" y="0"/>
          <a:ext cx="4141844" cy="1064795"/>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9545" tIns="34290" rIns="64008" bIns="34290" numCol="1" spcCol="1270" anchor="ctr" anchorCtr="0">
          <a:noAutofit/>
        </a:bodyPr>
        <a:lstStyle/>
        <a:p>
          <a:pPr marL="0" lvl="0" indent="0" algn="l" defTabSz="400050">
            <a:lnSpc>
              <a:spcPct val="90000"/>
            </a:lnSpc>
            <a:spcBef>
              <a:spcPct val="0"/>
            </a:spcBef>
            <a:spcAft>
              <a:spcPct val="35000"/>
            </a:spcAft>
            <a:buNone/>
          </a:pPr>
          <a:endParaRPr lang="en-US" sz="900" kern="1200" dirty="0">
            <a:solidFill>
              <a:schemeClr val="tx1"/>
            </a:solidFill>
            <a:latin typeface="Montserrat SemiBold" panose="00000700000000000000" pitchFamily="2" charset="0"/>
          </a:endParaRPr>
        </a:p>
      </dsp:txBody>
      <dsp:txXfrm rot="10800000">
        <a:off x="1575644" y="0"/>
        <a:ext cx="3875645" cy="1064795"/>
      </dsp:txXfrm>
    </dsp:sp>
    <dsp:sp modelId="{5567B541-69EE-4118-8A2C-792E956D701E}">
      <dsp:nvSpPr>
        <dsp:cNvPr id="0" name=""/>
        <dsp:cNvSpPr/>
      </dsp:nvSpPr>
      <dsp:spPr>
        <a:xfrm>
          <a:off x="777047" y="0"/>
          <a:ext cx="1064795" cy="1064795"/>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352101" y="0"/>
          <a:ext cx="4311198" cy="106479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9544" tIns="34290" rIns="64008" bIns="34290" numCol="1" spcCol="1270" anchor="ctr" anchorCtr="0">
          <a:noAutofit/>
        </a:bodyPr>
        <a:lstStyle/>
        <a:p>
          <a:pPr marL="0" lvl="0" indent="0" algn="l" defTabSz="400050">
            <a:lnSpc>
              <a:spcPct val="90000"/>
            </a:lnSpc>
            <a:spcBef>
              <a:spcPct val="0"/>
            </a:spcBef>
            <a:spcAft>
              <a:spcPct val="35000"/>
            </a:spcAft>
            <a:buNone/>
          </a:pPr>
          <a:endParaRPr lang="en-US" sz="900" kern="1200" dirty="0">
            <a:solidFill>
              <a:schemeClr val="tx1"/>
            </a:solidFill>
            <a:latin typeface="Montserrat SemiBold" panose="00000700000000000000" pitchFamily="2" charset="0"/>
          </a:endParaRPr>
        </a:p>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A comprehensive performance analysis will be conducted at the conclusion of the campaign to evaluate ROI, conversion rates, year over year metrics and identify opportunities for future optimization.</a:t>
          </a:r>
        </a:p>
        <a:p>
          <a:pPr marL="0" lvl="0" indent="0" algn="l" defTabSz="400050">
            <a:lnSpc>
              <a:spcPct val="90000"/>
            </a:lnSpc>
            <a:spcBef>
              <a:spcPct val="0"/>
            </a:spcBef>
            <a:spcAft>
              <a:spcPct val="35000"/>
            </a:spcAft>
            <a:buNone/>
          </a:pPr>
          <a:endParaRPr lang="en-US" sz="900" kern="1200" dirty="0">
            <a:solidFill>
              <a:schemeClr val="tx1"/>
            </a:solidFill>
            <a:latin typeface="Montserrat SemiBold" panose="00000700000000000000" pitchFamily="2" charset="0"/>
          </a:endParaRPr>
        </a:p>
      </dsp:txBody>
      <dsp:txXfrm rot="10800000">
        <a:off x="1618299" y="0"/>
        <a:ext cx="4045000" cy="1064793"/>
      </dsp:txXfrm>
    </dsp:sp>
    <dsp:sp modelId="{5567B541-69EE-4118-8A2C-792E956D701E}">
      <dsp:nvSpPr>
        <dsp:cNvPr id="0" name=""/>
        <dsp:cNvSpPr/>
      </dsp:nvSpPr>
      <dsp:spPr>
        <a:xfrm>
          <a:off x="839829" y="0"/>
          <a:ext cx="1064793" cy="106479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10310D-C640-41A8-951A-E98BAF954897}">
      <dsp:nvSpPr>
        <dsp:cNvPr id="0" name=""/>
        <dsp:cNvSpPr/>
      </dsp:nvSpPr>
      <dsp:spPr>
        <a:xfrm>
          <a:off x="0" y="557923"/>
          <a:ext cx="10299017" cy="768849"/>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27E755-E604-42B0-9497-9BE2A00F9F94}">
      <dsp:nvSpPr>
        <dsp:cNvPr id="0" name=""/>
        <dsp:cNvSpPr/>
      </dsp:nvSpPr>
      <dsp:spPr>
        <a:xfrm>
          <a:off x="0" y="0"/>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kern="1200" dirty="0">
              <a:solidFill>
                <a:srgbClr val="3555BD"/>
              </a:solidFill>
              <a:latin typeface="Montserrat SemiBold" panose="00000700000000000000" pitchFamily="2" charset="0"/>
            </a:rPr>
            <a:t>Data Mining &amp; Target Audience Selection</a:t>
          </a:r>
        </a:p>
        <a:p>
          <a:pPr marL="0" lvl="0" indent="0" algn="ctr" defTabSz="444500">
            <a:lnSpc>
              <a:spcPct val="90000"/>
            </a:lnSpc>
            <a:spcBef>
              <a:spcPct val="0"/>
            </a:spcBef>
            <a:spcAft>
              <a:spcPct val="35000"/>
            </a:spcAft>
            <a:buNone/>
          </a:pPr>
          <a:endParaRPr lang="en-US" sz="1000" kern="1200" dirty="0">
            <a:latin typeface="Montserrat SemiBold" panose="00000700000000000000" pitchFamily="2" charset="0"/>
          </a:endParaRPr>
        </a:p>
      </dsp:txBody>
      <dsp:txXfrm>
        <a:off x="0" y="0"/>
        <a:ext cx="1780955" cy="768849"/>
      </dsp:txXfrm>
    </dsp:sp>
    <dsp:sp modelId="{F0D41D6E-E85C-4DFF-A97D-0A2EBCC7345D}">
      <dsp:nvSpPr>
        <dsp:cNvPr id="0" name=""/>
        <dsp:cNvSpPr/>
      </dsp:nvSpPr>
      <dsp:spPr>
        <a:xfrm>
          <a:off x="798444"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D026A8-D865-48EA-BBC4-8DBB095D8389}">
      <dsp:nvSpPr>
        <dsp:cNvPr id="0" name=""/>
        <dsp:cNvSpPr/>
      </dsp:nvSpPr>
      <dsp:spPr>
        <a:xfrm>
          <a:off x="1874076" y="1153274"/>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endParaRPr lang="en-US" sz="1000" kern="1200" dirty="0">
            <a:latin typeface="Montserrat SemiBold" panose="00000700000000000000" pitchFamily="2" charset="0"/>
          </a:endParaRPr>
        </a:p>
        <a:p>
          <a:pPr marL="0" lvl="0" indent="0" algn="ctr" defTabSz="444500">
            <a:lnSpc>
              <a:spcPct val="90000"/>
            </a:lnSpc>
            <a:spcBef>
              <a:spcPct val="0"/>
            </a:spcBef>
            <a:spcAft>
              <a:spcPct val="35000"/>
            </a:spcAft>
            <a:buNone/>
          </a:pPr>
          <a:r>
            <a:rPr lang="en-US" sz="1000" kern="1200" dirty="0">
              <a:solidFill>
                <a:srgbClr val="3555BD"/>
              </a:solidFill>
              <a:latin typeface="Montserrat SemiBold" panose="00000700000000000000" pitchFamily="2" charset="0"/>
            </a:rPr>
            <a:t>Creative Design &amp; Offer Strategy</a:t>
          </a:r>
        </a:p>
      </dsp:txBody>
      <dsp:txXfrm>
        <a:off x="1874076" y="1153274"/>
        <a:ext cx="1780955" cy="768849"/>
      </dsp:txXfrm>
    </dsp:sp>
    <dsp:sp modelId="{A665F1DC-C267-48D5-9740-00BE1DF29BA4}">
      <dsp:nvSpPr>
        <dsp:cNvPr id="0" name=""/>
        <dsp:cNvSpPr/>
      </dsp:nvSpPr>
      <dsp:spPr>
        <a:xfrm>
          <a:off x="2668448"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6F7691-C6B8-4B44-8F90-B17D5D03CF3F}">
      <dsp:nvSpPr>
        <dsp:cNvPr id="0" name=""/>
        <dsp:cNvSpPr/>
      </dsp:nvSpPr>
      <dsp:spPr>
        <a:xfrm>
          <a:off x="3744079" y="0"/>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100000"/>
            </a:lnSpc>
            <a:spcBef>
              <a:spcPct val="0"/>
            </a:spcBef>
            <a:spcAft>
              <a:spcPts val="0"/>
            </a:spcAft>
            <a:buNone/>
          </a:pPr>
          <a:r>
            <a:rPr lang="en-US" sz="1000" kern="1200" dirty="0">
              <a:solidFill>
                <a:srgbClr val="2F6673"/>
              </a:solidFill>
              <a:latin typeface="Montserrat SemiBold" panose="00000700000000000000" pitchFamily="2" charset="0"/>
            </a:rPr>
            <a:t>Direct Mail </a:t>
          </a:r>
        </a:p>
        <a:p>
          <a:pPr marL="0" lvl="0" indent="0" algn="ctr" defTabSz="444500">
            <a:lnSpc>
              <a:spcPct val="100000"/>
            </a:lnSpc>
            <a:spcBef>
              <a:spcPct val="0"/>
            </a:spcBef>
            <a:spcAft>
              <a:spcPts val="0"/>
            </a:spcAft>
            <a:buNone/>
          </a:pPr>
          <a:r>
            <a:rPr lang="en-US" sz="1000" kern="1200" dirty="0">
              <a:solidFill>
                <a:srgbClr val="2F6673"/>
              </a:solidFill>
              <a:latin typeface="Montserrat SemiBold" panose="00000700000000000000" pitchFamily="2" charset="0"/>
            </a:rPr>
            <a:t>Outreach</a:t>
          </a:r>
        </a:p>
        <a:p>
          <a:pPr marL="0" lvl="0" indent="0" algn="ctr" defTabSz="444500">
            <a:lnSpc>
              <a:spcPct val="100000"/>
            </a:lnSpc>
            <a:spcBef>
              <a:spcPct val="0"/>
            </a:spcBef>
            <a:spcAft>
              <a:spcPts val="0"/>
            </a:spcAft>
            <a:buNone/>
          </a:pPr>
          <a:endParaRPr lang="en-US" sz="1000" kern="1200" dirty="0">
            <a:latin typeface="Montserrat SemiBold" panose="00000700000000000000" pitchFamily="2" charset="0"/>
          </a:endParaRPr>
        </a:p>
      </dsp:txBody>
      <dsp:txXfrm>
        <a:off x="3744079" y="0"/>
        <a:ext cx="1780955" cy="768849"/>
      </dsp:txXfrm>
    </dsp:sp>
    <dsp:sp modelId="{7DA1F0A7-556A-40AE-9554-2099BF16D7E2}">
      <dsp:nvSpPr>
        <dsp:cNvPr id="0" name=""/>
        <dsp:cNvSpPr/>
      </dsp:nvSpPr>
      <dsp:spPr>
        <a:xfrm>
          <a:off x="4538451"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3DB10D-59CE-4925-843B-CC6696CFDF09}">
      <dsp:nvSpPr>
        <dsp:cNvPr id="0" name=""/>
        <dsp:cNvSpPr/>
      </dsp:nvSpPr>
      <dsp:spPr>
        <a:xfrm>
          <a:off x="5614083" y="1153274"/>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endParaRPr lang="en-US" sz="1000" kern="1200" dirty="0">
            <a:latin typeface="Montserrat SemiBold" panose="00000700000000000000" pitchFamily="2" charset="0"/>
          </a:endParaRPr>
        </a:p>
        <a:p>
          <a:pPr marL="0" lvl="0" indent="0" algn="ctr" defTabSz="444500">
            <a:lnSpc>
              <a:spcPct val="90000"/>
            </a:lnSpc>
            <a:spcBef>
              <a:spcPct val="0"/>
            </a:spcBef>
            <a:spcAft>
              <a:spcPct val="35000"/>
            </a:spcAft>
            <a:buNone/>
          </a:pPr>
          <a:r>
            <a:rPr lang="en-US" sz="1000" kern="1200" dirty="0">
              <a:solidFill>
                <a:srgbClr val="2F6673"/>
              </a:solidFill>
              <a:latin typeface="Montserrat SemiBold" panose="00000700000000000000" pitchFamily="2" charset="0"/>
            </a:rPr>
            <a:t>Targeted Email Reinforcement</a:t>
          </a:r>
        </a:p>
      </dsp:txBody>
      <dsp:txXfrm>
        <a:off x="5614083" y="1153274"/>
        <a:ext cx="1780955" cy="768849"/>
      </dsp:txXfrm>
    </dsp:sp>
    <dsp:sp modelId="{863AF722-C927-4F9C-BC38-30D489237A6A}">
      <dsp:nvSpPr>
        <dsp:cNvPr id="0" name=""/>
        <dsp:cNvSpPr/>
      </dsp:nvSpPr>
      <dsp:spPr>
        <a:xfrm>
          <a:off x="6408454"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5ECE82-1418-44E6-B1F7-C88CDAC86858}">
      <dsp:nvSpPr>
        <dsp:cNvPr id="0" name=""/>
        <dsp:cNvSpPr/>
      </dsp:nvSpPr>
      <dsp:spPr>
        <a:xfrm>
          <a:off x="7484086" y="0"/>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kern="1200" dirty="0">
              <a:solidFill>
                <a:srgbClr val="002060"/>
              </a:solidFill>
              <a:latin typeface="Montserrat SemiBold" panose="00000700000000000000" pitchFamily="2" charset="0"/>
            </a:rPr>
            <a:t>Results Analysis &amp; Optimization</a:t>
          </a:r>
        </a:p>
        <a:p>
          <a:pPr marL="0" lvl="0" indent="0" algn="ctr" defTabSz="444500">
            <a:lnSpc>
              <a:spcPct val="90000"/>
            </a:lnSpc>
            <a:spcBef>
              <a:spcPct val="0"/>
            </a:spcBef>
            <a:spcAft>
              <a:spcPct val="35000"/>
            </a:spcAft>
            <a:buNone/>
          </a:pPr>
          <a:endParaRPr lang="en-US" sz="1000" kern="1200" dirty="0">
            <a:latin typeface="Montserrat SemiBold" panose="00000700000000000000" pitchFamily="2" charset="0"/>
          </a:endParaRPr>
        </a:p>
      </dsp:txBody>
      <dsp:txXfrm>
        <a:off x="7484086" y="0"/>
        <a:ext cx="1780955" cy="768849"/>
      </dsp:txXfrm>
    </dsp:sp>
    <dsp:sp modelId="{45243F2D-7691-4644-A7A6-2140C950B1DA}">
      <dsp:nvSpPr>
        <dsp:cNvPr id="0" name=""/>
        <dsp:cNvSpPr/>
      </dsp:nvSpPr>
      <dsp:spPr>
        <a:xfrm>
          <a:off x="8278458"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515822" y="0"/>
          <a:ext cx="5401233" cy="6495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426" tIns="30480" rIns="56896" bIns="30480" numCol="1" spcCol="1270" anchor="ctr" anchorCtr="0">
          <a:noAutofit/>
        </a:bodyPr>
        <a:lstStyle/>
        <a:p>
          <a:pPr marL="0" lvl="0" indent="0" algn="l" defTabSz="355600">
            <a:lnSpc>
              <a:spcPct val="90000"/>
            </a:lnSpc>
            <a:spcBef>
              <a:spcPct val="0"/>
            </a:spcBef>
            <a:spcAft>
              <a:spcPct val="35000"/>
            </a:spcAft>
            <a:buNone/>
          </a:pPr>
          <a:r>
            <a:rPr lang="en-US" sz="800" i="1" kern="1200" dirty="0">
              <a:solidFill>
                <a:schemeClr val="tx1"/>
              </a:solidFill>
              <a:latin typeface="Montserrat SemiBold" panose="00000700000000000000" pitchFamily="2" charset="0"/>
            </a:rPr>
            <a:t>Estimates do not include postage. First Class Postage is estimated at .431 each. This is an estimate – actual pricing and quantities determined at time of datamining based on criteria. Any programming, design, and/or reporting changes may result in additional costs.</a:t>
          </a:r>
          <a:endParaRPr lang="en-US" sz="800" kern="1200" dirty="0">
            <a:solidFill>
              <a:schemeClr val="tx1"/>
            </a:solidFill>
            <a:latin typeface="Montserrat SemiBold" panose="00000700000000000000" pitchFamily="2" charset="0"/>
          </a:endParaRPr>
        </a:p>
      </dsp:txBody>
      <dsp:txXfrm rot="10800000">
        <a:off x="1678205" y="0"/>
        <a:ext cx="5238850" cy="649533"/>
      </dsp:txXfrm>
    </dsp:sp>
    <dsp:sp modelId="{5567B541-69EE-4118-8A2C-792E956D701E}">
      <dsp:nvSpPr>
        <dsp:cNvPr id="0" name=""/>
        <dsp:cNvSpPr/>
      </dsp:nvSpPr>
      <dsp:spPr>
        <a:xfrm>
          <a:off x="1198077" y="0"/>
          <a:ext cx="649533" cy="6495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B338B9C6-5C18-4B8B-9E21-33F5466022F0}" type="datetimeFigureOut">
              <a:rPr lang="en-US" smtClean="0"/>
              <a:t>5/26/2026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2F6BE6D4-C9EA-47B9-BEC8-C31534AC5C1C}" type="slidenum">
              <a:rPr lang="en-US" smtClean="0"/>
              <a:t>‹#›</a:t>
            </a:fld>
            <a:endParaRPr lang="en-US"/>
          </a:p>
        </p:txBody>
      </p:sp>
    </p:spTree>
    <p:extLst>
      <p:ext uri="{BB962C8B-B14F-4D97-AF65-F5344CB8AC3E}">
        <p14:creationId xmlns:p14="http://schemas.microsoft.com/office/powerpoint/2010/main" val="3961898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od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F2B315-134B-4519-1C11-281D34E83264}"/>
              </a:ext>
            </a:extLst>
          </p:cNvPr>
          <p:cNvPicPr>
            <a:picLocks noChangeAspect="1"/>
          </p:cNvPicPr>
          <p:nvPr userDrawn="1"/>
        </p:nvPicPr>
        <p:blipFill>
          <a:blip r:embed="rId2"/>
          <a:stretch>
            <a:fillRect/>
          </a:stretch>
        </p:blipFill>
        <p:spPr>
          <a:xfrm>
            <a:off x="-1" y="5910387"/>
            <a:ext cx="12192001" cy="756398"/>
          </a:xfrm>
          <a:prstGeom prst="rect">
            <a:avLst/>
          </a:prstGeom>
        </p:spPr>
      </p:pic>
      <p:sp>
        <p:nvSpPr>
          <p:cNvPr id="9" name="TextBox 8">
            <a:extLst>
              <a:ext uri="{FF2B5EF4-FFF2-40B4-BE49-F238E27FC236}">
                <a16:creationId xmlns:a16="http://schemas.microsoft.com/office/drawing/2014/main" id="{02CDE086-80C9-78A2-0C6E-BFDF64ECE79C}"/>
              </a:ext>
            </a:extLst>
          </p:cNvPr>
          <p:cNvSpPr txBox="1"/>
          <p:nvPr userDrawn="1"/>
        </p:nvSpPr>
        <p:spPr>
          <a:xfrm>
            <a:off x="9737217" y="6156522"/>
            <a:ext cx="1996059" cy="307777"/>
          </a:xfrm>
          <a:prstGeom prst="rect">
            <a:avLst/>
          </a:prstGeom>
          <a:noFill/>
        </p:spPr>
        <p:txBody>
          <a:bodyPr wrap="none" rtlCol="0">
            <a:spAutoFit/>
          </a:bodyPr>
          <a:lstStyle/>
          <a:p>
            <a:pPr algn="r"/>
            <a:r>
              <a:rPr lang="en-US" sz="1400" dirty="0">
                <a:solidFill>
                  <a:schemeClr val="bg1"/>
                </a:solidFill>
                <a:latin typeface="Montserrat" pitchFamily="2" charset="77"/>
              </a:rPr>
              <a:t>Marketing Solutions</a:t>
            </a:r>
          </a:p>
        </p:txBody>
      </p:sp>
      <p:cxnSp>
        <p:nvCxnSpPr>
          <p:cNvPr id="10" name="Straight Connector 9">
            <a:extLst>
              <a:ext uri="{FF2B5EF4-FFF2-40B4-BE49-F238E27FC236}">
                <a16:creationId xmlns:a16="http://schemas.microsoft.com/office/drawing/2014/main" id="{2F476F9D-019C-0E98-8A30-61D3B1CEC62B}"/>
              </a:ext>
            </a:extLst>
          </p:cNvPr>
          <p:cNvCxnSpPr>
            <a:cxnSpLocks/>
          </p:cNvCxnSpPr>
          <p:nvPr userDrawn="1"/>
        </p:nvCxnSpPr>
        <p:spPr>
          <a:xfrm flipH="1">
            <a:off x="358588" y="1082154"/>
            <a:ext cx="11474824" cy="0"/>
          </a:xfrm>
          <a:prstGeom prst="line">
            <a:avLst/>
          </a:prstGeom>
          <a:ln w="19050">
            <a:solidFill>
              <a:srgbClr val="76BD64"/>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B0E24637-2D37-60E0-A5AC-F1CC7AA99C4E}"/>
              </a:ext>
            </a:extLst>
          </p:cNvPr>
          <p:cNvSpPr txBox="1"/>
          <p:nvPr userDrawn="1"/>
        </p:nvSpPr>
        <p:spPr>
          <a:xfrm>
            <a:off x="309313" y="394164"/>
            <a:ext cx="11274552" cy="824465"/>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1400" dirty="0">
                <a:solidFill>
                  <a:schemeClr val="tx1">
                    <a:lumMod val="65000"/>
                    <a:lumOff val="35000"/>
                  </a:schemeClr>
                </a:solidFill>
                <a:latin typeface="Montserrat Medium" panose="00000600000000000000" pitchFamily="2" charset="0"/>
              </a:rPr>
              <a:t>{{</a:t>
            </a:r>
            <a:r>
              <a:rPr lang="en-US" sz="1400" dirty="0" err="1">
                <a:solidFill>
                  <a:schemeClr val="tx1">
                    <a:lumMod val="65000"/>
                    <a:lumOff val="35000"/>
                  </a:schemeClr>
                </a:solidFill>
                <a:latin typeface="Montserrat Medium" panose="00000600000000000000" pitchFamily="2" charset="0"/>
              </a:rPr>
              <a:t>creditunion_name</a:t>
            </a:r>
            <a:r>
              <a:rPr lang="en-US" sz="1400" dirty="0">
                <a:solidFill>
                  <a:schemeClr val="tx1">
                    <a:lumMod val="65000"/>
                    <a:lumOff val="35000"/>
                  </a:schemeClr>
                </a:solidFill>
                <a:latin typeface="Montserrat Medium" panose="00000600000000000000" pitchFamily="2" charset="0"/>
              </a:rPr>
              <a:t>}} | {{</a:t>
            </a:r>
            <a:r>
              <a:rPr lang="en-US" sz="1400" dirty="0" err="1">
                <a:solidFill>
                  <a:schemeClr val="tx1">
                    <a:lumMod val="65000"/>
                    <a:lumOff val="35000"/>
                  </a:schemeClr>
                </a:solidFill>
                <a:latin typeface="Montserrat Medium" panose="00000600000000000000" pitchFamily="2" charset="0"/>
              </a:rPr>
              <a:t>proposal_name</a:t>
            </a:r>
            <a:r>
              <a:rPr lang="en-US" sz="1400" dirty="0">
                <a:solidFill>
                  <a:schemeClr val="tx1">
                    <a:lumMod val="65000"/>
                    <a:lumOff val="35000"/>
                  </a:schemeClr>
                </a:solidFill>
                <a:latin typeface="Montserrat Medium" panose="00000600000000000000" pitchFamily="2" charset="0"/>
              </a:rPr>
              <a:t>}} | {{</a:t>
            </a:r>
            <a:r>
              <a:rPr lang="en-US" sz="1400" dirty="0" err="1">
                <a:solidFill>
                  <a:schemeClr val="tx1">
                    <a:lumMod val="65000"/>
                    <a:lumOff val="35000"/>
                  </a:schemeClr>
                </a:solidFill>
                <a:latin typeface="Montserrat Medium" panose="00000600000000000000" pitchFamily="2" charset="0"/>
              </a:rPr>
              <a:t>proposal_date</a:t>
            </a:r>
            <a:r>
              <a:rPr lang="en-US" sz="1400" dirty="0">
                <a:solidFill>
                  <a:schemeClr val="tx1">
                    <a:lumMod val="65000"/>
                    <a:lumOff val="35000"/>
                  </a:schemeClr>
                </a:solidFill>
                <a:latin typeface="Montserrat Medium" panose="00000600000000000000" pitchFamily="2" charset="0"/>
              </a:rPr>
              <a:t>}}</a:t>
            </a:r>
          </a:p>
        </p:txBody>
      </p:sp>
      <p:sp>
        <p:nvSpPr>
          <p:cNvPr id="13" name="Slide Number Placeholder 5">
            <a:extLst>
              <a:ext uri="{FF2B5EF4-FFF2-40B4-BE49-F238E27FC236}">
                <a16:creationId xmlns:a16="http://schemas.microsoft.com/office/drawing/2014/main" id="{C3CF129B-D35E-EF33-0535-03857C19E62D}"/>
              </a:ext>
            </a:extLst>
          </p:cNvPr>
          <p:cNvSpPr>
            <a:spLocks noGrp="1"/>
          </p:cNvSpPr>
          <p:nvPr>
            <p:ph type="sldNum" sz="quarter" idx="12"/>
          </p:nvPr>
        </p:nvSpPr>
        <p:spPr>
          <a:xfrm>
            <a:off x="0" y="6200827"/>
            <a:ext cx="12192000" cy="219165"/>
          </a:xfrm>
          <a:prstGeom prst="rect">
            <a:avLst/>
          </a:prstGeom>
        </p:spPr>
        <p:txBody>
          <a:bodyPr/>
          <a:lstStyle>
            <a:lvl1pPr algn="ctr">
              <a:defRPr sz="1000" b="1">
                <a:solidFill>
                  <a:schemeClr val="bg1"/>
                </a:solidFill>
                <a:latin typeface="Montserrat" panose="00000500000000000000" pitchFamily="2" charset="0"/>
              </a:defRPr>
            </a:lvl1pPr>
          </a:lstStyle>
          <a:p>
            <a:fld id="{36529709-AEC5-4306-8E0C-3A32A9027161}" type="slidenum">
              <a:rPr lang="en-US" smtClean="0"/>
              <a:pPr/>
              <a:t>‹#›</a:t>
            </a:fld>
            <a:endParaRPr lang="en-US" b="1" dirty="0"/>
          </a:p>
        </p:txBody>
      </p:sp>
    </p:spTree>
    <p:extLst>
      <p:ext uri="{BB962C8B-B14F-4D97-AF65-F5344CB8AC3E}">
        <p14:creationId xmlns:p14="http://schemas.microsoft.com/office/powerpoint/2010/main" val="2946362104"/>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4B6FB3E-BF60-224E-2A51-D534EC5E294B}"/>
              </a:ext>
            </a:extLst>
          </p:cNvPr>
          <p:cNvPicPr>
            <a:picLocks noChangeAspect="1"/>
          </p:cNvPicPr>
          <p:nvPr userDrawn="1"/>
        </p:nvPicPr>
        <p:blipFill>
          <a:blip r:embed="rId2"/>
          <a:stretch>
            <a:fillRect/>
          </a:stretch>
        </p:blipFill>
        <p:spPr>
          <a:xfrm>
            <a:off x="-1" y="5910387"/>
            <a:ext cx="12192001" cy="756398"/>
          </a:xfrm>
          <a:prstGeom prst="rect">
            <a:avLst/>
          </a:prstGeom>
        </p:spPr>
      </p:pic>
      <p:sp>
        <p:nvSpPr>
          <p:cNvPr id="8" name="TextBox 7">
            <a:extLst>
              <a:ext uri="{FF2B5EF4-FFF2-40B4-BE49-F238E27FC236}">
                <a16:creationId xmlns:a16="http://schemas.microsoft.com/office/drawing/2014/main" id="{6FED3A53-EBC0-ACC8-864B-99F0BF2D0A51}"/>
              </a:ext>
            </a:extLst>
          </p:cNvPr>
          <p:cNvSpPr txBox="1"/>
          <p:nvPr userDrawn="1"/>
        </p:nvSpPr>
        <p:spPr>
          <a:xfrm>
            <a:off x="9737217" y="6156522"/>
            <a:ext cx="1996059" cy="307777"/>
          </a:xfrm>
          <a:prstGeom prst="rect">
            <a:avLst/>
          </a:prstGeom>
          <a:noFill/>
        </p:spPr>
        <p:txBody>
          <a:bodyPr wrap="none" rtlCol="0">
            <a:spAutoFit/>
          </a:bodyPr>
          <a:lstStyle/>
          <a:p>
            <a:pPr algn="r"/>
            <a:r>
              <a:rPr lang="en-US" sz="1400" dirty="0">
                <a:solidFill>
                  <a:schemeClr val="bg1"/>
                </a:solidFill>
                <a:latin typeface="Montserrat" pitchFamily="2" charset="77"/>
              </a:rPr>
              <a:t>Marketing Solutions</a:t>
            </a:r>
          </a:p>
        </p:txBody>
      </p:sp>
      <p:sp>
        <p:nvSpPr>
          <p:cNvPr id="9" name="Title 1">
            <a:extLst>
              <a:ext uri="{FF2B5EF4-FFF2-40B4-BE49-F238E27FC236}">
                <a16:creationId xmlns:a16="http://schemas.microsoft.com/office/drawing/2014/main" id="{0C6895C5-297E-09F7-5A8A-11D9EF59E146}"/>
              </a:ext>
            </a:extLst>
          </p:cNvPr>
          <p:cNvSpPr txBox="1">
            <a:spLocks/>
          </p:cNvSpPr>
          <p:nvPr userDrawn="1"/>
        </p:nvSpPr>
        <p:spPr>
          <a:xfrm>
            <a:off x="1178378" y="2640329"/>
            <a:ext cx="10515600" cy="1494337"/>
          </a:xfrm>
          <a:prstGeom prst="rect">
            <a:avLst/>
          </a:prstGeom>
        </p:spPr>
        <p:txBody>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pPr>
              <a:spcBef>
                <a:spcPts val="300"/>
              </a:spcBef>
              <a:spcAft>
                <a:spcPts val="300"/>
              </a:spcAft>
            </a:pPr>
            <a:r>
              <a:rPr lang="en-US" dirty="0">
                <a:latin typeface="Montserrat Medium" panose="020F0502020204030204" pitchFamily="2" charset="0"/>
              </a:rPr>
              <a:t>{{</a:t>
            </a:r>
            <a:r>
              <a:rPr lang="en-US" dirty="0" err="1">
                <a:latin typeface="Montserrat Medium" panose="020F0502020204030204" pitchFamily="2" charset="0"/>
              </a:rPr>
              <a:t>creditunion_name</a:t>
            </a:r>
            <a:r>
              <a:rPr lang="en-US" dirty="0">
                <a:latin typeface="Montserrat Medium" panose="020F0502020204030204" pitchFamily="2" charset="0"/>
              </a:rPr>
              <a:t>}}</a:t>
            </a:r>
          </a:p>
          <a:p>
            <a:pPr>
              <a:spcBef>
                <a:spcPts val="300"/>
              </a:spcBef>
              <a:spcAft>
                <a:spcPts val="300"/>
              </a:spcAft>
            </a:pPr>
            <a:r>
              <a:rPr lang="en-US" sz="2000" dirty="0">
                <a:latin typeface="Montserrat" panose="00000500000000000000" pitchFamily="2" charset="0"/>
              </a:rPr>
              <a:t>{{</a:t>
            </a:r>
            <a:r>
              <a:rPr lang="en-US" sz="2000" dirty="0" err="1">
                <a:latin typeface="Montserrat" panose="00000500000000000000" pitchFamily="2" charset="0"/>
              </a:rPr>
              <a:t>proposal_name</a:t>
            </a:r>
            <a:r>
              <a:rPr lang="en-US" sz="2000" dirty="0">
                <a:latin typeface="Montserrat" panose="00000500000000000000" pitchFamily="2" charset="0"/>
              </a:rPr>
              <a:t>}}</a:t>
            </a:r>
          </a:p>
          <a:p>
            <a:pPr>
              <a:spcBef>
                <a:spcPts val="300"/>
              </a:spcBef>
              <a:spcAft>
                <a:spcPts val="300"/>
              </a:spcAft>
            </a:pPr>
            <a:r>
              <a:rPr lang="en-US" sz="2000" dirty="0">
                <a:latin typeface="Montserrat" panose="00000500000000000000" pitchFamily="2" charset="0"/>
              </a:rPr>
              <a:t>{{</a:t>
            </a:r>
            <a:r>
              <a:rPr lang="en-US" sz="2000" dirty="0" err="1">
                <a:latin typeface="Montserrat" panose="00000500000000000000" pitchFamily="2" charset="0"/>
              </a:rPr>
              <a:t>proposal_date</a:t>
            </a:r>
            <a:r>
              <a:rPr lang="en-US" sz="2000" dirty="0">
                <a:latin typeface="Montserrat" panose="00000500000000000000" pitchFamily="2" charset="0"/>
              </a:rPr>
              <a:t>}}</a:t>
            </a:r>
          </a:p>
        </p:txBody>
      </p:sp>
      <p:cxnSp>
        <p:nvCxnSpPr>
          <p:cNvPr id="10" name="Straight Connector 9">
            <a:extLst>
              <a:ext uri="{FF2B5EF4-FFF2-40B4-BE49-F238E27FC236}">
                <a16:creationId xmlns:a16="http://schemas.microsoft.com/office/drawing/2014/main" id="{E8B1C808-27D3-B67D-E05D-B83EE831CF86}"/>
              </a:ext>
            </a:extLst>
          </p:cNvPr>
          <p:cNvCxnSpPr>
            <a:cxnSpLocks/>
          </p:cNvCxnSpPr>
          <p:nvPr userDrawn="1"/>
        </p:nvCxnSpPr>
        <p:spPr>
          <a:xfrm>
            <a:off x="1086358" y="2545318"/>
            <a:ext cx="0" cy="1589348"/>
          </a:xfrm>
          <a:prstGeom prst="line">
            <a:avLst/>
          </a:prstGeom>
          <a:ln w="19050">
            <a:solidFill>
              <a:srgbClr val="76BD64"/>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DBB59DC-6AB5-4822-325F-2A2714932B32}"/>
              </a:ext>
            </a:extLst>
          </p:cNvPr>
          <p:cNvSpPr txBox="1"/>
          <p:nvPr userDrawn="1"/>
        </p:nvSpPr>
        <p:spPr>
          <a:xfrm>
            <a:off x="7104100" y="5664165"/>
            <a:ext cx="4662332" cy="246221"/>
          </a:xfrm>
          <a:prstGeom prst="rect">
            <a:avLst/>
          </a:prstGeom>
          <a:noFill/>
        </p:spPr>
        <p:txBody>
          <a:bodyPr wrap="square" rtlCol="0">
            <a:spAutoFit/>
          </a:bodyPr>
          <a:lstStyle/>
          <a:p>
            <a:r>
              <a:rPr lang="en-US" sz="1000" dirty="0">
                <a:latin typeface="Montserrat" panose="00000500000000000000" pitchFamily="2" charset="0"/>
              </a:rPr>
              <a:t>2 Ledgeview Drive | Westbrook, ME 04092 | 207.773.5671 | 800.341.0180 </a:t>
            </a:r>
          </a:p>
        </p:txBody>
      </p:sp>
      <p:cxnSp>
        <p:nvCxnSpPr>
          <p:cNvPr id="12" name="Straight Connector 11">
            <a:extLst>
              <a:ext uri="{FF2B5EF4-FFF2-40B4-BE49-F238E27FC236}">
                <a16:creationId xmlns:a16="http://schemas.microsoft.com/office/drawing/2014/main" id="{11D8D64F-7690-9D09-1D67-985458750A78}"/>
              </a:ext>
            </a:extLst>
          </p:cNvPr>
          <p:cNvCxnSpPr>
            <a:cxnSpLocks/>
          </p:cNvCxnSpPr>
          <p:nvPr userDrawn="1"/>
        </p:nvCxnSpPr>
        <p:spPr>
          <a:xfrm flipH="1">
            <a:off x="7159925" y="5568386"/>
            <a:ext cx="4534053" cy="0"/>
          </a:xfrm>
          <a:prstGeom prst="line">
            <a:avLst/>
          </a:prstGeom>
          <a:ln w="19050">
            <a:solidFill>
              <a:srgbClr val="76BD64"/>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62B9ECEE-2F9F-8E62-FD38-CC1D2C79A3AC}"/>
              </a:ext>
            </a:extLst>
          </p:cNvPr>
          <p:cNvPicPr>
            <a:picLocks noChangeAspect="1"/>
          </p:cNvPicPr>
          <p:nvPr userDrawn="1"/>
        </p:nvPicPr>
        <p:blipFill rotWithShape="1">
          <a:blip r:embed="rId2"/>
          <a:srcRect l="21193" t="3327" r="-21193" b="-3327"/>
          <a:stretch/>
        </p:blipFill>
        <p:spPr>
          <a:xfrm>
            <a:off x="345064" y="191215"/>
            <a:ext cx="14874862" cy="756398"/>
          </a:xfrm>
          <a:prstGeom prst="rect">
            <a:avLst/>
          </a:prstGeom>
        </p:spPr>
      </p:pic>
    </p:spTree>
    <p:extLst>
      <p:ext uri="{BB962C8B-B14F-4D97-AF65-F5344CB8AC3E}">
        <p14:creationId xmlns:p14="http://schemas.microsoft.com/office/powerpoint/2010/main" val="1172239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08F3D-D1B5-D13C-4A30-1EE0D7DB0F4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9A9ADF-5636-FA75-EFCF-9E704CB244A8}"/>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2EBDE0-2579-550E-AD89-CE14890C31B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531D1043-1C21-5FEE-04FA-BC2105538605}"/>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Tree>
    <p:extLst>
      <p:ext uri="{BB962C8B-B14F-4D97-AF65-F5344CB8AC3E}">
        <p14:creationId xmlns:p14="http://schemas.microsoft.com/office/powerpoint/2010/main" val="2124275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C975C-7F76-4FA2-0436-DBB0EC7804C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74C73BD-82AB-A5B9-B237-2F73D1135A4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8A6C85-4CE8-6205-FCB8-BBC3C8F9CEF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EB4373-C9DC-78E2-B5E4-1287F7A59464}"/>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314E2BBD-77BB-FA56-C087-74539868D59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E879CB6-1351-D329-A571-E655EACAF118}"/>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813229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B21EB-3ED6-2141-FFE5-3152F458C14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B03376C-6F26-754E-97C9-51E2A00F246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E477DF-8061-CD5D-6CB5-F8768971C1E9}"/>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33E298-3DB4-548E-A9DA-DB39C8B44A21}"/>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123438-6BDD-B06B-7F50-8897563188AF}"/>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5BA5AE-2F17-2A36-017C-9027EA14ED6D}"/>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8B935CFD-01F7-5C78-5C1B-D49388BA345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9589CA2-8179-F74F-64A1-6032E2009B98}"/>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147907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8E4639F-A41D-594F-EFA3-CE7EC0D24B7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37201889-C9F7-9F0D-B000-FA7A1D5CD3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782CA93-225F-740B-CCD4-D93490DF21EA}"/>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1224951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735224-B6AE-919F-4C80-4251B08C387F}"/>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33DD81C5-E645-3087-C261-884A71C767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92EA1A1-4702-D6A3-4EE1-A7AC56805035}"/>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3012823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FCC92-A4CA-34A8-8693-6E0F51D87FB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84BC5-EF7B-8BF1-22BF-4A90EC34069E}"/>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DC48B9-1E53-28A4-9A35-342094BB4E1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FC3A72-9B90-AAC0-1D3D-04120B12216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E481806C-587A-19F3-9D88-3BF678B8FB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6818B0D-DBB1-8F06-E8B5-1AEEE8B69C69}"/>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223674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2CD2F-5C9A-5536-5C2A-D0812E7020D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5CE790-0100-B132-B205-AD74DAF9859E}"/>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EC58FD-E54E-1540-CD20-0000B1664C1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F2A246-6145-F88C-5851-A0ED6F57C91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09211C7A-9EA4-8B85-FA2C-D47375C795E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6C53585-FBD1-1B11-6AE0-76E2744FE6A1}"/>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1455429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9563-8551-7910-9042-613A3FEBF3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2C42E5-7AD4-E2FC-CF38-39FE1D75ED91}"/>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73ADDB-D982-F3AC-018A-9FCD2DD9487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A0468723-457F-454C-425F-A66C909F867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DAFE-5C1E-916C-514D-78301263ABBD}"/>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461458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3D465-6880-8E21-6B79-BC959EACF23B}"/>
              </a:ext>
            </a:extLst>
          </p:cNvPr>
          <p:cNvSpPr>
            <a:spLocks noGrp="1"/>
          </p:cNvSpPr>
          <p:nvPr>
            <p:ph type="title"/>
          </p:nvPr>
        </p:nvSpPr>
        <p:spPr>
          <a:xfrm>
            <a:off x="458724" y="407987"/>
            <a:ext cx="5105400" cy="1325563"/>
          </a:xfrm>
          <a:prstGeom prst="rect">
            <a:avLst/>
          </a:prstGeom>
        </p:spPr>
        <p:txBody>
          <a:bodyPr>
            <a:normAutofit/>
          </a:bodyPr>
          <a:lstStyle>
            <a:lvl1pPr>
              <a:defRPr sz="3600" b="0" i="0">
                <a:latin typeface="Montserrat" pitchFamily="2" charset="77"/>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B244DCB-9720-E753-6FE4-AD57C1EB8F58}"/>
              </a:ext>
            </a:extLst>
          </p:cNvPr>
          <p:cNvSpPr>
            <a:spLocks noGrp="1"/>
          </p:cNvSpPr>
          <p:nvPr>
            <p:ph idx="1"/>
          </p:nvPr>
        </p:nvSpPr>
        <p:spPr>
          <a:xfrm>
            <a:off x="458724" y="1868487"/>
            <a:ext cx="5789676" cy="4351338"/>
          </a:xfrm>
          <a:prstGeom prst="rect">
            <a:avLst/>
          </a:prstGeom>
        </p:spPr>
        <p:txBody>
          <a:bodyPr>
            <a:normAutofit/>
          </a:bodyPr>
          <a:lstStyle>
            <a:lvl1pPr>
              <a:spcBef>
                <a:spcPts val="0"/>
              </a:spcBef>
              <a:spcAft>
                <a:spcPts val="600"/>
              </a:spcAft>
              <a:defRPr sz="2000" b="0" i="0">
                <a:latin typeface="Montserrat" pitchFamily="2" charset="77"/>
              </a:defRPr>
            </a:lvl1pPr>
            <a:lvl2pPr>
              <a:defRPr sz="1600" b="0" i="0">
                <a:latin typeface="Montserrat" pitchFamily="2" charset="77"/>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BCC6291-335F-26A3-5853-0F3716E1784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BCB9E7C-7FA0-9709-100E-FE05189FA06E}"/>
              </a:ext>
            </a:extLst>
          </p:cNvPr>
          <p:cNvSpPr>
            <a:spLocks noGrp="1"/>
          </p:cNvSpPr>
          <p:nvPr>
            <p:ph type="ftr" sz="quarter" idx="11"/>
          </p:nvPr>
        </p:nvSpPr>
        <p:spPr>
          <a:xfrm>
            <a:off x="7239000" y="6436588"/>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3F9FD67A-14DA-4E7C-E7E4-C4F1457CC916}"/>
              </a:ext>
            </a:extLst>
          </p:cNvPr>
          <p:cNvSpPr>
            <a:spLocks noGrp="1"/>
          </p:cNvSpPr>
          <p:nvPr>
            <p:ph type="sldNum" sz="quarter" idx="12"/>
          </p:nvPr>
        </p:nvSpPr>
        <p:spPr>
          <a:xfrm>
            <a:off x="0" y="6127847"/>
            <a:ext cx="12192000" cy="365125"/>
          </a:xfrm>
          <a:prstGeom prst="rect">
            <a:avLst/>
          </a:prstGeom>
        </p:spPr>
        <p:txBody>
          <a:bodyPr/>
          <a:lstStyle/>
          <a:p>
            <a:fld id="{88557022-9F57-BB49-96A1-473752655FA4}" type="slidenum">
              <a:rPr lang="en-US" smtClean="0"/>
              <a:t>‹#›</a:t>
            </a:fld>
            <a:endParaRPr lang="en-US"/>
          </a:p>
        </p:txBody>
      </p:sp>
      <p:sp>
        <p:nvSpPr>
          <p:cNvPr id="7" name="Content Placeholder 2">
            <a:extLst>
              <a:ext uri="{FF2B5EF4-FFF2-40B4-BE49-F238E27FC236}">
                <a16:creationId xmlns:a16="http://schemas.microsoft.com/office/drawing/2014/main" id="{FECB219A-ABBB-5DD8-6B42-7728A76BAC4F}"/>
              </a:ext>
            </a:extLst>
          </p:cNvPr>
          <p:cNvSpPr>
            <a:spLocks noGrp="1"/>
          </p:cNvSpPr>
          <p:nvPr>
            <p:ph idx="13"/>
          </p:nvPr>
        </p:nvSpPr>
        <p:spPr>
          <a:xfrm>
            <a:off x="6731000" y="395287"/>
            <a:ext cx="5105400" cy="5824538"/>
          </a:xfrm>
          <a:prstGeom prst="rect">
            <a:avLst/>
          </a:prstGeom>
        </p:spPr>
        <p:txBody>
          <a:bodyPr>
            <a:normAutofit/>
          </a:bodyPr>
          <a:lstStyle>
            <a:lvl1pPr>
              <a:spcBef>
                <a:spcPts val="0"/>
              </a:spcBef>
              <a:spcAft>
                <a:spcPts val="600"/>
              </a:spcAft>
              <a:defRPr sz="2200" b="0" i="0">
                <a:solidFill>
                  <a:srgbClr val="3555BD"/>
                </a:solidFill>
                <a:latin typeface="Lora Medium" pitchFamily="2" charset="77"/>
              </a:defRPr>
            </a:lvl1pPr>
            <a:lvl2pPr>
              <a:defRPr sz="1600" b="0" i="0">
                <a:latin typeface="Montserrat" pitchFamily="2" charset="77"/>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20463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9960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diagramData" Target="../diagrams/data1.xml"/><Relationship Id="rId12"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slideLayout" Target="../slideLayouts/slideLayout1.xml"/><Relationship Id="rId6" Type="http://schemas.openxmlformats.org/officeDocument/2006/relationships/image" Target="../media/image10.svg"/><Relationship Id="rId11" Type="http://schemas.microsoft.com/office/2007/relationships/diagramDrawing" Target="../diagrams/drawing1.xml"/><Relationship Id="rId5" Type="http://schemas.openxmlformats.org/officeDocument/2006/relationships/image" Target="../media/image9.svg"/><Relationship Id="rId10" Type="http://schemas.openxmlformats.org/officeDocument/2006/relationships/diagramColors" Target="../diagrams/colors1.xml"/><Relationship Id="rId4" Type="http://schemas.openxmlformats.org/officeDocument/2006/relationships/image" Target="../media/image8.svg"/><Relationship Id="rId9"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image" Target="../media/image14.svg"/><Relationship Id="rId18" Type="http://schemas.microsoft.com/office/2007/relationships/diagramDrawing" Target="../diagrams/drawing4.xml"/><Relationship Id="rId3" Type="http://schemas.openxmlformats.org/officeDocument/2006/relationships/diagramLayout" Target="../diagrams/layout2.xml"/><Relationship Id="rId21" Type="http://schemas.openxmlformats.org/officeDocument/2006/relationships/image" Target="../media/image17.svg"/><Relationship Id="rId7" Type="http://schemas.openxmlformats.org/officeDocument/2006/relationships/image" Target="../media/image13.svg"/><Relationship Id="rId12" Type="http://schemas.microsoft.com/office/2007/relationships/diagramDrawing" Target="../diagrams/drawing3.xml"/><Relationship Id="rId17" Type="http://schemas.openxmlformats.org/officeDocument/2006/relationships/diagramColors" Target="../diagrams/colors4.xml"/><Relationship Id="rId2" Type="http://schemas.openxmlformats.org/officeDocument/2006/relationships/diagramData" Target="../diagrams/data2.xml"/><Relationship Id="rId16" Type="http://schemas.openxmlformats.org/officeDocument/2006/relationships/diagramQuickStyle" Target="../diagrams/quickStyle4.xml"/><Relationship Id="rId20" Type="http://schemas.openxmlformats.org/officeDocument/2006/relationships/image" Target="../media/image16.svg"/><Relationship Id="rId1" Type="http://schemas.openxmlformats.org/officeDocument/2006/relationships/slideLayout" Target="../slideLayouts/slideLayout1.xml"/><Relationship Id="rId6" Type="http://schemas.microsoft.com/office/2007/relationships/diagramDrawing" Target="../diagrams/drawing2.xml"/><Relationship Id="rId11" Type="http://schemas.openxmlformats.org/officeDocument/2006/relationships/diagramColors" Target="../diagrams/colors3.xml"/><Relationship Id="rId5" Type="http://schemas.openxmlformats.org/officeDocument/2006/relationships/diagramColors" Target="../diagrams/colors2.xml"/><Relationship Id="rId15" Type="http://schemas.openxmlformats.org/officeDocument/2006/relationships/diagramLayout" Target="../diagrams/layout4.xml"/><Relationship Id="rId23" Type="http://schemas.openxmlformats.org/officeDocument/2006/relationships/image" Target="../media/image19.svg"/><Relationship Id="rId10" Type="http://schemas.openxmlformats.org/officeDocument/2006/relationships/diagramQuickStyle" Target="../diagrams/quickStyle3.xml"/><Relationship Id="rId19" Type="http://schemas.openxmlformats.org/officeDocument/2006/relationships/image" Target="../media/image15.svg"/><Relationship Id="rId4" Type="http://schemas.openxmlformats.org/officeDocument/2006/relationships/diagramQuickStyle" Target="../diagrams/quickStyle2.xml"/><Relationship Id="rId9" Type="http://schemas.openxmlformats.org/officeDocument/2006/relationships/diagramLayout" Target="../diagrams/layout3.xml"/><Relationship Id="rId14" Type="http://schemas.openxmlformats.org/officeDocument/2006/relationships/diagramData" Target="../diagrams/data4.xml"/><Relationship Id="rId22" Type="http://schemas.openxmlformats.org/officeDocument/2006/relationships/image" Target="../media/image18.sv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21.svg"/><Relationship Id="rId7" Type="http://schemas.openxmlformats.org/officeDocument/2006/relationships/diagramQuickStyle" Target="../diagrams/quickStyle5.xml"/><Relationship Id="rId2"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diagramLayout" Target="../diagrams/layout5.xml"/><Relationship Id="rId5" Type="http://schemas.openxmlformats.org/officeDocument/2006/relationships/diagramData" Target="../diagrams/data5.xml"/><Relationship Id="rId10" Type="http://schemas.openxmlformats.org/officeDocument/2006/relationships/image" Target="../media/image23.svg"/><Relationship Id="rId4" Type="http://schemas.openxmlformats.org/officeDocument/2006/relationships/image" Target="../media/image22.svg"/><Relationship Id="rId9" Type="http://schemas.microsoft.com/office/2007/relationships/diagramDrawing" Target="../diagrams/drawing5.xml"/></Relationships>
</file>

<file path=ppt/slides/_rels/slide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61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367A1-BFFC-F313-18BE-022DCB87851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17C86AE-CA13-866B-AC53-4EB3BF07C44C}"/>
              </a:ext>
            </a:extLst>
          </p:cNvPr>
          <p:cNvSpPr/>
          <p:nvPr/>
        </p:nvSpPr>
        <p:spPr>
          <a:xfrm>
            <a:off x="458724" y="1411448"/>
            <a:ext cx="11071398" cy="1724831"/>
          </a:xfrm>
          <a:prstGeom prst="rect">
            <a:avLst/>
          </a:prstGeom>
        </p:spPr>
        <p:txBody>
          <a:bodyPr wrap="square" lIns="91440" tIns="45720" rIns="91440" bIns="45720" anchor="t">
            <a:spAutoFit/>
          </a:bodyPr>
          <a:lstStyle/>
          <a:p>
            <a:pPr marR="182880">
              <a:lnSpc>
                <a:spcPct val="115000"/>
              </a:lnSpc>
              <a:spcAft>
                <a:spcPts val="1000"/>
              </a:spcAft>
            </a:pPr>
            <a:r>
              <a:rPr lang="en-US" sz="1400" dirty="0">
                <a:solidFill>
                  <a:srgbClr val="002060"/>
                </a:solidFill>
                <a:latin typeface="Montserrat SemiBold" panose="00000700000000000000" pitchFamily="2" charset="0"/>
                <a:ea typeface="Times New Roman" panose="02020603050405020304" pitchFamily="18" charset="0"/>
                <a:cs typeface="Arial"/>
              </a:rPr>
              <a:t>Campaign Business Objective</a:t>
            </a:r>
          </a:p>
          <a:p>
            <a:pPr marR="182880">
              <a:lnSpc>
                <a:spcPct val="115000"/>
              </a:lnSpc>
              <a:spcAft>
                <a:spcPts val="1000"/>
              </a:spcAft>
            </a:pPr>
            <a:r>
              <a:rPr lang="en-US" sz="1050" b="1" dirty="0">
                <a:solidFill>
                  <a:srgbClr val="3C8394"/>
                </a:solidFill>
                <a:latin typeface="Montserrat" panose="00000500000000000000" pitchFamily="50" charset="0"/>
                <a:ea typeface="Times New Roman" panose="02020603050405020304" pitchFamily="18" charset="0"/>
                <a:cs typeface="Arial"/>
              </a:rPr>
              <a:t>Drive {{</a:t>
            </a:r>
            <a:r>
              <a:rPr lang="en-US" sz="1050" b="1" dirty="0" err="1">
                <a:solidFill>
                  <a:srgbClr val="3C8394"/>
                </a:solidFill>
                <a:latin typeface="Montserrat" panose="00000500000000000000" pitchFamily="50" charset="0"/>
                <a:ea typeface="Times New Roman" panose="02020603050405020304" pitchFamily="18" charset="0"/>
                <a:cs typeface="Arial"/>
              </a:rPr>
              <a:t>loan_type</a:t>
            </a:r>
            <a:r>
              <a:rPr lang="en-US" sz="1050" b="1" dirty="0">
                <a:solidFill>
                  <a:srgbClr val="3C8394"/>
                </a:solidFill>
                <a:latin typeface="Montserrat" panose="00000500000000000000" pitchFamily="50" charset="0"/>
                <a:ea typeface="Times New Roman" panose="02020603050405020304" pitchFamily="18" charset="0"/>
                <a:cs typeface="Arial"/>
              </a:rPr>
              <a:t>}} Growth </a:t>
            </a:r>
          </a:p>
          <a:p>
            <a:pPr marR="182880">
              <a:lnSpc>
                <a:spcPct val="115000"/>
              </a:lnSpc>
              <a:spcAft>
                <a:spcPts val="1000"/>
              </a:spcAft>
            </a:pPr>
            <a:r>
              <a:rPr lang="en-US" sz="1050" dirty="0">
                <a:latin typeface="Montserrat" panose="00000500000000000000" pitchFamily="50" charset="0"/>
                <a:ea typeface="Times New Roman" panose="02020603050405020304" pitchFamily="18" charset="0"/>
                <a:cs typeface="Arial"/>
              </a:rPr>
              <a:t>Deliver measurable campaign performance by increasing awareness and generating qualified applications, targeting a conversion rate of </a:t>
            </a:r>
            <a:r>
              <a:rPr lang="en-US" sz="1050" b="1" dirty="0">
                <a:solidFill>
                  <a:srgbClr val="3C8394"/>
                </a:solidFill>
                <a:latin typeface="Montserrat" panose="00000500000000000000" pitchFamily="50" charset="0"/>
                <a:ea typeface="Times New Roman" panose="02020603050405020304" pitchFamily="18" charset="0"/>
                <a:cs typeface="Arial"/>
              </a:rPr>
              <a:t>{{</a:t>
            </a:r>
            <a:r>
              <a:rPr lang="en-US" sz="1050" b="1" dirty="0" err="1">
                <a:solidFill>
                  <a:srgbClr val="3C8394"/>
                </a:solidFill>
                <a:latin typeface="Montserrat" panose="00000500000000000000" pitchFamily="50" charset="0"/>
                <a:ea typeface="Times New Roman" panose="02020603050405020304" pitchFamily="18" charset="0"/>
                <a:cs typeface="Arial"/>
              </a:rPr>
              <a:t>target_conversion_rate</a:t>
            </a:r>
            <a:r>
              <a:rPr lang="en-US" sz="1050" b="1" dirty="0">
                <a:solidFill>
                  <a:srgbClr val="3C8394"/>
                </a:solidFill>
                <a:latin typeface="Montserrat" panose="00000500000000000000" pitchFamily="50" charset="0"/>
                <a:ea typeface="Times New Roman" panose="02020603050405020304" pitchFamily="18" charset="0"/>
                <a:cs typeface="Arial"/>
              </a:rPr>
              <a:t>}}</a:t>
            </a:r>
            <a:r>
              <a:rPr lang="en-US" sz="1050" dirty="0">
                <a:latin typeface="Montserrat" panose="00000500000000000000" pitchFamily="50" charset="0"/>
                <a:ea typeface="Times New Roman" panose="02020603050405020304" pitchFamily="18" charset="0"/>
                <a:cs typeface="Arial"/>
              </a:rPr>
              <a:t>.</a:t>
            </a:r>
          </a:p>
          <a:p>
            <a:pPr marR="182880">
              <a:lnSpc>
                <a:spcPct val="115000"/>
              </a:lnSpc>
              <a:spcAft>
                <a:spcPts val="1000"/>
              </a:spcAft>
            </a:pPr>
            <a:br>
              <a:rPr lang="en-US" sz="1200" b="1" dirty="0">
                <a:latin typeface="Montserrat" panose="00000500000000000000" pitchFamily="50" charset="0"/>
                <a:ea typeface="Times New Roman" panose="02020603050405020304" pitchFamily="18" charset="0"/>
                <a:cs typeface="Arial" panose="020B0604020202020204" pitchFamily="34" charset="0"/>
              </a:rPr>
            </a:br>
            <a:r>
              <a:rPr lang="en-US" sz="1400" dirty="0">
                <a:solidFill>
                  <a:srgbClr val="002060"/>
                </a:solidFill>
                <a:latin typeface="Montserrat SemiBold" panose="00000700000000000000" pitchFamily="2" charset="0"/>
                <a:ea typeface="Times New Roman" panose="02020603050405020304" pitchFamily="18" charset="0"/>
                <a:cs typeface="Arial"/>
              </a:rPr>
              <a:t>Recommended Campaign Tactics</a:t>
            </a:r>
          </a:p>
        </p:txBody>
      </p:sp>
      <p:sp>
        <p:nvSpPr>
          <p:cNvPr id="9" name="TextBox 8">
            <a:extLst>
              <a:ext uri="{FF2B5EF4-FFF2-40B4-BE49-F238E27FC236}">
                <a16:creationId xmlns:a16="http://schemas.microsoft.com/office/drawing/2014/main" id="{9ADA0A4A-19E5-5A60-8405-6E6F8CD65580}"/>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2</a:t>
            </a:r>
          </a:p>
        </p:txBody>
      </p:sp>
      <p:grpSp>
        <p:nvGrpSpPr>
          <p:cNvPr id="29" name="Group 28">
            <a:extLst>
              <a:ext uri="{FF2B5EF4-FFF2-40B4-BE49-F238E27FC236}">
                <a16:creationId xmlns:a16="http://schemas.microsoft.com/office/drawing/2014/main" id="{323EFC57-10FA-3850-5D27-A4DBBE283B15}"/>
              </a:ext>
            </a:extLst>
          </p:cNvPr>
          <p:cNvGrpSpPr/>
          <p:nvPr/>
        </p:nvGrpSpPr>
        <p:grpSpPr>
          <a:xfrm>
            <a:off x="457151" y="3429000"/>
            <a:ext cx="11277698" cy="2223463"/>
            <a:chOff x="449809" y="3620480"/>
            <a:chExt cx="11277698" cy="2223463"/>
          </a:xfrm>
        </p:grpSpPr>
        <p:sp>
          <p:nvSpPr>
            <p:cNvPr id="3" name="Rectangle: Rounded Corners 2">
              <a:extLst>
                <a:ext uri="{FF2B5EF4-FFF2-40B4-BE49-F238E27FC236}">
                  <a16:creationId xmlns:a16="http://schemas.microsoft.com/office/drawing/2014/main" id="{A36A96F0-834A-CD0B-9AAE-C15F692CAD3A}"/>
                </a:ext>
              </a:extLst>
            </p:cNvPr>
            <p:cNvSpPr/>
            <p:nvPr/>
          </p:nvSpPr>
          <p:spPr>
            <a:xfrm>
              <a:off x="464489" y="3629547"/>
              <a:ext cx="2568742" cy="2214396"/>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Money with solid fill">
              <a:extLst>
                <a:ext uri="{FF2B5EF4-FFF2-40B4-BE49-F238E27FC236}">
                  <a16:creationId xmlns:a16="http://schemas.microsoft.com/office/drawing/2014/main" id="{6ED4A996-73A1-70B9-1029-1CD5E17F5D6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388056" y="3620480"/>
              <a:ext cx="548640" cy="548640"/>
            </a:xfrm>
            <a:prstGeom prst="rect">
              <a:avLst/>
            </a:prstGeom>
          </p:spPr>
        </p:pic>
        <p:sp>
          <p:nvSpPr>
            <p:cNvPr id="10" name="TextBox 9">
              <a:extLst>
                <a:ext uri="{FF2B5EF4-FFF2-40B4-BE49-F238E27FC236}">
                  <a16:creationId xmlns:a16="http://schemas.microsoft.com/office/drawing/2014/main" id="{4D9FB8DE-E3B0-338D-1BD8-C8A4C0A2E4E3}"/>
                </a:ext>
              </a:extLst>
            </p:cNvPr>
            <p:cNvSpPr txBox="1"/>
            <p:nvPr/>
          </p:nvSpPr>
          <p:spPr>
            <a:xfrm>
              <a:off x="464489" y="4191645"/>
              <a:ext cx="2568734" cy="246221"/>
            </a:xfrm>
            <a:prstGeom prst="rect">
              <a:avLst/>
            </a:prstGeom>
            <a:noFill/>
          </p:spPr>
          <p:txBody>
            <a:bodyPr wrap="square" rtlCol="0">
              <a:spAutoFit/>
            </a:bodyPr>
            <a:lstStyle/>
            <a:p>
              <a:pPr algn="ctr">
                <a:spcAft>
                  <a:spcPts val="1200"/>
                </a:spcAft>
              </a:pPr>
              <a:r>
                <a:rPr lang="en-US" sz="1000" dirty="0">
                  <a:solidFill>
                    <a:srgbClr val="2F6673"/>
                  </a:solidFill>
                  <a:latin typeface="Montserrat SemiBold" panose="00000700000000000000" pitchFamily="2" charset="0"/>
                </a:rPr>
                <a:t>Cash Incentive Offer</a:t>
              </a:r>
              <a:endParaRPr lang="en-US" sz="1000" dirty="0">
                <a:solidFill>
                  <a:srgbClr val="2F6673"/>
                </a:solidFill>
                <a:latin typeface="Montserrat" panose="00000500000000000000" pitchFamily="2" charset="0"/>
              </a:endParaRPr>
            </a:p>
          </p:txBody>
        </p:sp>
        <p:sp>
          <p:nvSpPr>
            <p:cNvPr id="11" name="TextBox 10">
              <a:extLst>
                <a:ext uri="{FF2B5EF4-FFF2-40B4-BE49-F238E27FC236}">
                  <a16:creationId xmlns:a16="http://schemas.microsoft.com/office/drawing/2014/main" id="{27359728-87E7-743B-8A99-E0891B9EA31E}"/>
                </a:ext>
              </a:extLst>
            </p:cNvPr>
            <p:cNvSpPr txBox="1"/>
            <p:nvPr/>
          </p:nvSpPr>
          <p:spPr>
            <a:xfrm>
              <a:off x="449809" y="4382449"/>
              <a:ext cx="2568734" cy="1153201"/>
            </a:xfrm>
            <a:prstGeom prst="rect">
              <a:avLst/>
            </a:prstGeom>
            <a:noFill/>
          </p:spPr>
          <p:txBody>
            <a:bodyPr wrap="square" rtlCol="0">
              <a:spAutoFit/>
            </a:bodyPr>
            <a:lstStyle/>
            <a:p>
              <a:pPr algn="ctr">
                <a:lnSpc>
                  <a:spcPts val="1400"/>
                </a:lnSpc>
                <a:spcAft>
                  <a:spcPts val="1200"/>
                </a:spcAft>
              </a:pPr>
              <a:r>
                <a:rPr lang="en-US" sz="800" dirty="0">
                  <a:latin typeface="Montserrat SemiBold" panose="00000700000000000000" pitchFamily="2" charset="0"/>
                </a:rPr>
                <a:t>Provide a compelling financial incentive through either a flat 1% cash-back offer or a tiered structure of up to $300, with reward levels ($100, $200, $300) aligned to the amount financed to encourage higher loan balances. </a:t>
              </a:r>
              <a:endParaRPr lang="en-US" sz="800" dirty="0">
                <a:latin typeface="Montserrat" panose="00000500000000000000" pitchFamily="2" charset="0"/>
              </a:endParaRPr>
            </a:p>
          </p:txBody>
        </p:sp>
        <p:sp>
          <p:nvSpPr>
            <p:cNvPr id="4" name="Rectangle: Rounded Corners 3">
              <a:extLst>
                <a:ext uri="{FF2B5EF4-FFF2-40B4-BE49-F238E27FC236}">
                  <a16:creationId xmlns:a16="http://schemas.microsoft.com/office/drawing/2014/main" id="{DAA444FD-C98E-9629-1F86-5A2F8E235657}"/>
                </a:ext>
              </a:extLst>
            </p:cNvPr>
            <p:cNvSpPr/>
            <p:nvPr/>
          </p:nvSpPr>
          <p:spPr>
            <a:xfrm>
              <a:off x="3361620" y="3629547"/>
              <a:ext cx="2568742" cy="2214396"/>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User network with solid fill">
              <a:extLst>
                <a:ext uri="{FF2B5EF4-FFF2-40B4-BE49-F238E27FC236}">
                  <a16:creationId xmlns:a16="http://schemas.microsoft.com/office/drawing/2014/main" id="{933B80DD-C8CC-5C06-836A-18EA7AFA974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312005" y="3620480"/>
              <a:ext cx="548640" cy="548640"/>
            </a:xfrm>
            <a:prstGeom prst="rect">
              <a:avLst/>
            </a:prstGeom>
          </p:spPr>
        </p:pic>
        <p:sp>
          <p:nvSpPr>
            <p:cNvPr id="13" name="TextBox 12">
              <a:extLst>
                <a:ext uri="{FF2B5EF4-FFF2-40B4-BE49-F238E27FC236}">
                  <a16:creationId xmlns:a16="http://schemas.microsoft.com/office/drawing/2014/main" id="{CE1B7401-A182-9F1B-9EA1-A6274EE7A7A6}"/>
                </a:ext>
              </a:extLst>
            </p:cNvPr>
            <p:cNvSpPr txBox="1"/>
            <p:nvPr/>
          </p:nvSpPr>
          <p:spPr>
            <a:xfrm>
              <a:off x="3370280" y="4191645"/>
              <a:ext cx="2568734" cy="246221"/>
            </a:xfrm>
            <a:prstGeom prst="rect">
              <a:avLst/>
            </a:prstGeom>
            <a:noFill/>
          </p:spPr>
          <p:txBody>
            <a:bodyPr wrap="square" rtlCol="0">
              <a:spAutoFit/>
            </a:bodyPr>
            <a:lstStyle/>
            <a:p>
              <a:pPr algn="ctr">
                <a:spcAft>
                  <a:spcPts val="1200"/>
                </a:spcAft>
              </a:pPr>
              <a:r>
                <a:rPr lang="en-US" sz="1000" dirty="0">
                  <a:solidFill>
                    <a:srgbClr val="002060"/>
                  </a:solidFill>
                  <a:latin typeface="Montserrat SemiBold" panose="00000700000000000000" pitchFamily="2" charset="0"/>
                </a:rPr>
                <a:t>Multi-Channel Outreach</a:t>
              </a:r>
              <a:endParaRPr lang="en-US" sz="1000" dirty="0">
                <a:solidFill>
                  <a:srgbClr val="002060"/>
                </a:solidFill>
                <a:latin typeface="Montserrat" panose="00000500000000000000" pitchFamily="2" charset="0"/>
              </a:endParaRPr>
            </a:p>
          </p:txBody>
        </p:sp>
        <p:sp>
          <p:nvSpPr>
            <p:cNvPr id="5" name="Rectangle: Rounded Corners 4">
              <a:extLst>
                <a:ext uri="{FF2B5EF4-FFF2-40B4-BE49-F238E27FC236}">
                  <a16:creationId xmlns:a16="http://schemas.microsoft.com/office/drawing/2014/main" id="{75CE96CD-A582-8CB5-2922-51FCC0DD182C}"/>
                </a:ext>
              </a:extLst>
            </p:cNvPr>
            <p:cNvSpPr/>
            <p:nvPr/>
          </p:nvSpPr>
          <p:spPr>
            <a:xfrm>
              <a:off x="6255864" y="3629547"/>
              <a:ext cx="2568742" cy="2214396"/>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0475B2F-6CC7-9556-A94B-65AF0A69BEF4}"/>
                </a:ext>
              </a:extLst>
            </p:cNvPr>
            <p:cNvSpPr txBox="1"/>
            <p:nvPr/>
          </p:nvSpPr>
          <p:spPr>
            <a:xfrm>
              <a:off x="6273168" y="4191645"/>
              <a:ext cx="2568734" cy="246221"/>
            </a:xfrm>
            <a:prstGeom prst="rect">
              <a:avLst/>
            </a:prstGeom>
            <a:noFill/>
          </p:spPr>
          <p:txBody>
            <a:bodyPr wrap="square" rtlCol="0">
              <a:spAutoFit/>
            </a:bodyPr>
            <a:lstStyle/>
            <a:p>
              <a:pPr algn="ctr">
                <a:spcAft>
                  <a:spcPts val="1200"/>
                </a:spcAft>
              </a:pPr>
              <a:r>
                <a:rPr lang="en-US" sz="1000" dirty="0">
                  <a:solidFill>
                    <a:srgbClr val="76BD22"/>
                  </a:solidFill>
                  <a:latin typeface="Montserrat SemiBold" panose="00000700000000000000" pitchFamily="2" charset="0"/>
                </a:rPr>
                <a:t>Illustrative Payment Examples</a:t>
              </a:r>
              <a:endParaRPr lang="en-US" sz="1000" dirty="0">
                <a:solidFill>
                  <a:srgbClr val="76BD22"/>
                </a:solidFill>
                <a:latin typeface="Montserrat" panose="00000500000000000000" pitchFamily="2" charset="0"/>
              </a:endParaRPr>
            </a:p>
          </p:txBody>
        </p:sp>
        <p:pic>
          <p:nvPicPr>
            <p:cNvPr id="17" name="Graphic 16" descr="Tax with solid fill">
              <a:extLst>
                <a:ext uri="{FF2B5EF4-FFF2-40B4-BE49-F238E27FC236}">
                  <a16:creationId xmlns:a16="http://schemas.microsoft.com/office/drawing/2014/main" id="{E488B598-F834-3C10-EC6E-68F98E2330E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177289" y="3638013"/>
              <a:ext cx="589773" cy="589773"/>
            </a:xfrm>
            <a:prstGeom prst="rect">
              <a:avLst/>
            </a:prstGeom>
          </p:spPr>
        </p:pic>
        <p:sp>
          <p:nvSpPr>
            <p:cNvPr id="7" name="Rectangle: Rounded Corners 6">
              <a:extLst>
                <a:ext uri="{FF2B5EF4-FFF2-40B4-BE49-F238E27FC236}">
                  <a16:creationId xmlns:a16="http://schemas.microsoft.com/office/drawing/2014/main" id="{0C8028DF-06E2-C4D5-E963-E16E58CB0644}"/>
                </a:ext>
              </a:extLst>
            </p:cNvPr>
            <p:cNvSpPr/>
            <p:nvPr/>
          </p:nvSpPr>
          <p:spPr>
            <a:xfrm>
              <a:off x="9158765" y="3629547"/>
              <a:ext cx="2568742" cy="2214396"/>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E87A49A-101F-E6FF-920D-ECC6BB829485}"/>
                </a:ext>
              </a:extLst>
            </p:cNvPr>
            <p:cNvSpPr txBox="1"/>
            <p:nvPr/>
          </p:nvSpPr>
          <p:spPr>
            <a:xfrm>
              <a:off x="9149855" y="4191645"/>
              <a:ext cx="2568734" cy="246221"/>
            </a:xfrm>
            <a:prstGeom prst="rect">
              <a:avLst/>
            </a:prstGeom>
            <a:noFill/>
          </p:spPr>
          <p:txBody>
            <a:bodyPr wrap="square" rtlCol="0">
              <a:spAutoFit/>
            </a:bodyPr>
            <a:lstStyle/>
            <a:p>
              <a:pPr algn="ctr">
                <a:spcAft>
                  <a:spcPts val="1200"/>
                </a:spcAft>
              </a:pPr>
              <a:r>
                <a:rPr lang="en-US" sz="1000" dirty="0">
                  <a:solidFill>
                    <a:srgbClr val="3555BD"/>
                  </a:solidFill>
                  <a:latin typeface="Montserrat SemiBold" panose="00000700000000000000" pitchFamily="2" charset="0"/>
                </a:rPr>
                <a:t>Deferred Payment Options</a:t>
              </a:r>
              <a:endParaRPr lang="en-US" sz="1000" dirty="0">
                <a:solidFill>
                  <a:srgbClr val="3555BD"/>
                </a:solidFill>
                <a:latin typeface="Montserrat" panose="00000500000000000000" pitchFamily="2" charset="0"/>
              </a:endParaRPr>
            </a:p>
          </p:txBody>
        </p:sp>
        <p:pic>
          <p:nvPicPr>
            <p:cNvPr id="20" name="Graphic 19" descr="Daily calendar with solid fill">
              <a:extLst>
                <a:ext uri="{FF2B5EF4-FFF2-40B4-BE49-F238E27FC236}">
                  <a16:creationId xmlns:a16="http://schemas.microsoft.com/office/drawing/2014/main" id="{4FADB5DF-B00C-9411-052C-55B7E94CDE5D}"/>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159902" y="3620480"/>
              <a:ext cx="548640" cy="548640"/>
            </a:xfrm>
            <a:prstGeom prst="rect">
              <a:avLst/>
            </a:prstGeom>
          </p:spPr>
        </p:pic>
        <p:sp>
          <p:nvSpPr>
            <p:cNvPr id="25" name="TextBox 24">
              <a:extLst>
                <a:ext uri="{FF2B5EF4-FFF2-40B4-BE49-F238E27FC236}">
                  <a16:creationId xmlns:a16="http://schemas.microsoft.com/office/drawing/2014/main" id="{FDFCA467-C711-F8AF-DA97-8342015FB35E}"/>
                </a:ext>
              </a:extLst>
            </p:cNvPr>
            <p:cNvSpPr txBox="1"/>
            <p:nvPr/>
          </p:nvSpPr>
          <p:spPr>
            <a:xfrm>
              <a:off x="3352702" y="4382449"/>
              <a:ext cx="2568734" cy="1329595"/>
            </a:xfrm>
            <a:prstGeom prst="rect">
              <a:avLst/>
            </a:prstGeom>
            <a:noFill/>
          </p:spPr>
          <p:txBody>
            <a:bodyPr wrap="square" rtlCol="0">
              <a:spAutoFit/>
            </a:bodyPr>
            <a:lstStyle/>
            <a:p>
              <a:pPr algn="ctr">
                <a:lnSpc>
                  <a:spcPts val="1400"/>
                </a:lnSpc>
                <a:spcAft>
                  <a:spcPts val="1200"/>
                </a:spcAft>
              </a:pPr>
              <a:r>
                <a:rPr lang="en-US" sz="800" dirty="0">
                  <a:latin typeface="Montserrat SemiBold" panose="00000700000000000000" pitchFamily="2" charset="0"/>
                </a:rPr>
                <a:t>Execute an integrated direct mail and email strategy, with email deployed approximately 7 days following the initial mail drop to reinforce messaging, increase visibility, and drive response. A targeted call file is also available for a more personalized outreach to high potential members.</a:t>
              </a:r>
              <a:endParaRPr lang="en-US" sz="800" dirty="0">
                <a:latin typeface="Montserrat" panose="00000500000000000000" pitchFamily="2" charset="0"/>
              </a:endParaRPr>
            </a:p>
          </p:txBody>
        </p:sp>
        <p:sp>
          <p:nvSpPr>
            <p:cNvPr id="26" name="TextBox 25">
              <a:extLst>
                <a:ext uri="{FF2B5EF4-FFF2-40B4-BE49-F238E27FC236}">
                  <a16:creationId xmlns:a16="http://schemas.microsoft.com/office/drawing/2014/main" id="{330396F0-7427-39DF-0D18-51F906A1A1AA}"/>
                </a:ext>
              </a:extLst>
            </p:cNvPr>
            <p:cNvSpPr txBox="1"/>
            <p:nvPr/>
          </p:nvSpPr>
          <p:spPr>
            <a:xfrm>
              <a:off x="6264782" y="4382449"/>
              <a:ext cx="2568734" cy="1150058"/>
            </a:xfrm>
            <a:prstGeom prst="rect">
              <a:avLst/>
            </a:prstGeom>
            <a:noFill/>
          </p:spPr>
          <p:txBody>
            <a:bodyPr wrap="square" rtlCol="0">
              <a:spAutoFit/>
            </a:bodyPr>
            <a:lstStyle/>
            <a:p>
              <a:pPr algn="ctr">
                <a:lnSpc>
                  <a:spcPts val="1400"/>
                </a:lnSpc>
                <a:spcAft>
                  <a:spcPts val="1200"/>
                </a:spcAft>
              </a:pPr>
              <a:r>
                <a:rPr lang="en-US" sz="800" dirty="0">
                  <a:latin typeface="Montserrat SemiBold" panose="00000700000000000000" pitchFamily="2" charset="0"/>
                </a:rPr>
                <a:t>Present estimated monthly payment scenarios using sample loan amounts, terms, and rates to demonstrate affordability and highlight the value of the credit union’s competitive rates and flexible repayment options.</a:t>
              </a:r>
              <a:endParaRPr lang="en-US" sz="800" dirty="0">
                <a:latin typeface="Montserrat" panose="00000500000000000000" pitchFamily="2" charset="0"/>
              </a:endParaRPr>
            </a:p>
          </p:txBody>
        </p:sp>
        <p:sp>
          <p:nvSpPr>
            <p:cNvPr id="27" name="TextBox 26">
              <a:extLst>
                <a:ext uri="{FF2B5EF4-FFF2-40B4-BE49-F238E27FC236}">
                  <a16:creationId xmlns:a16="http://schemas.microsoft.com/office/drawing/2014/main" id="{CB71B6FE-627D-095D-CBF7-F22B2C467C45}"/>
                </a:ext>
              </a:extLst>
            </p:cNvPr>
            <p:cNvSpPr txBox="1"/>
            <p:nvPr/>
          </p:nvSpPr>
          <p:spPr>
            <a:xfrm>
              <a:off x="9149855" y="4382449"/>
              <a:ext cx="2568734" cy="970522"/>
            </a:xfrm>
            <a:prstGeom prst="rect">
              <a:avLst/>
            </a:prstGeom>
            <a:noFill/>
          </p:spPr>
          <p:txBody>
            <a:bodyPr wrap="square" rtlCol="0">
              <a:spAutoFit/>
            </a:bodyPr>
            <a:lstStyle/>
            <a:p>
              <a:pPr algn="ctr">
                <a:lnSpc>
                  <a:spcPts val="1400"/>
                </a:lnSpc>
                <a:spcAft>
                  <a:spcPts val="1200"/>
                </a:spcAft>
              </a:pPr>
              <a:r>
                <a:rPr lang="en-US" sz="800" dirty="0">
                  <a:latin typeface="Montserrat SemiBold" panose="00000700000000000000" pitchFamily="2" charset="0"/>
                </a:rPr>
                <a:t>Offer a 60–90 day no-payment feature as either an alternative or complementary incentive to the cash-back offer, reducing immediate financial burden and increasing campaign appeal.</a:t>
              </a:r>
              <a:endParaRPr lang="en-US" sz="800" dirty="0">
                <a:latin typeface="Montserrat" panose="00000500000000000000" pitchFamily="2" charset="0"/>
              </a:endParaRPr>
            </a:p>
          </p:txBody>
        </p:sp>
      </p:grpSp>
    </p:spTree>
    <p:extLst>
      <p:ext uri="{BB962C8B-B14F-4D97-AF65-F5344CB8AC3E}">
        <p14:creationId xmlns:p14="http://schemas.microsoft.com/office/powerpoint/2010/main" val="4068915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7D645-5AB5-089C-30B9-12FD4999336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57E90D0-4C7A-EE75-AB6A-0B22AD89532C}"/>
              </a:ext>
            </a:extLst>
          </p:cNvPr>
          <p:cNvSpPr txBox="1"/>
          <p:nvPr/>
        </p:nvSpPr>
        <p:spPr>
          <a:xfrm>
            <a:off x="416611" y="1209558"/>
            <a:ext cx="4137340"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Campaign Targets</a:t>
            </a:r>
          </a:p>
        </p:txBody>
      </p:sp>
      <p:sp>
        <p:nvSpPr>
          <p:cNvPr id="46" name="TextBox 45">
            <a:extLst>
              <a:ext uri="{FF2B5EF4-FFF2-40B4-BE49-F238E27FC236}">
                <a16:creationId xmlns:a16="http://schemas.microsoft.com/office/drawing/2014/main" id="{E7626014-F976-50B4-CA11-617E7CCA84A8}"/>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3</a:t>
            </a:r>
          </a:p>
        </p:txBody>
      </p:sp>
      <p:sp>
        <p:nvSpPr>
          <p:cNvPr id="3" name="TextBox 2">
            <a:extLst>
              <a:ext uri="{FF2B5EF4-FFF2-40B4-BE49-F238E27FC236}">
                <a16:creationId xmlns:a16="http://schemas.microsoft.com/office/drawing/2014/main" id="{A33BEAF1-1B8A-446D-2C27-9D67457E4CDA}"/>
              </a:ext>
            </a:extLst>
          </p:cNvPr>
          <p:cNvSpPr txBox="1"/>
          <p:nvPr/>
        </p:nvSpPr>
        <p:spPr>
          <a:xfrm>
            <a:off x="400907" y="1845881"/>
            <a:ext cx="3959939" cy="246221"/>
          </a:xfrm>
          <a:prstGeom prst="rect">
            <a:avLst/>
          </a:prstGeom>
          <a:noFill/>
        </p:spPr>
        <p:txBody>
          <a:bodyPr wrap="square" rtlCol="0">
            <a:spAutoFit/>
          </a:bodyPr>
          <a:lstStyle/>
          <a:p>
            <a:r>
              <a:rPr lang="en-US" sz="1000" dirty="0">
                <a:latin typeface="Montserrat" panose="00000500000000000000" pitchFamily="2" charset="0"/>
              </a:rPr>
              <a:t>{{</a:t>
            </a:r>
            <a:r>
              <a:rPr lang="en-US" sz="1000" dirty="0" err="1">
                <a:latin typeface="Montserrat" panose="00000500000000000000" pitchFamily="2" charset="0"/>
              </a:rPr>
              <a:t>target_segment_summary</a:t>
            </a:r>
            <a:r>
              <a:rPr lang="en-US" sz="1000" dirty="0">
                <a:latin typeface="Montserrat" panose="00000500000000000000" pitchFamily="2" charset="0"/>
              </a:rPr>
              <a:t>}}</a:t>
            </a:r>
          </a:p>
        </p:txBody>
      </p:sp>
      <p:sp>
        <p:nvSpPr>
          <p:cNvPr id="5" name="TextBox 4">
            <a:extLst>
              <a:ext uri="{FF2B5EF4-FFF2-40B4-BE49-F238E27FC236}">
                <a16:creationId xmlns:a16="http://schemas.microsoft.com/office/drawing/2014/main" id="{8B897E5B-8473-A8CF-648F-55BE1146BEC4}"/>
              </a:ext>
            </a:extLst>
          </p:cNvPr>
          <p:cNvSpPr txBox="1"/>
          <p:nvPr/>
        </p:nvSpPr>
        <p:spPr>
          <a:xfrm>
            <a:off x="4856264" y="1209558"/>
            <a:ext cx="7000857"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Estimated Conversion Metrics</a:t>
            </a:r>
          </a:p>
        </p:txBody>
      </p:sp>
      <p:grpSp>
        <p:nvGrpSpPr>
          <p:cNvPr id="82" name="Group 81">
            <a:extLst>
              <a:ext uri="{FF2B5EF4-FFF2-40B4-BE49-F238E27FC236}">
                <a16:creationId xmlns:a16="http://schemas.microsoft.com/office/drawing/2014/main" id="{7CA1CD75-E063-C8DF-3602-6A3F7EDA0274}"/>
              </a:ext>
            </a:extLst>
          </p:cNvPr>
          <p:cNvGrpSpPr/>
          <p:nvPr/>
        </p:nvGrpSpPr>
        <p:grpSpPr>
          <a:xfrm>
            <a:off x="4986976" y="1687822"/>
            <a:ext cx="1999263" cy="1581609"/>
            <a:chOff x="639431" y="3461328"/>
            <a:chExt cx="1999263" cy="1581609"/>
          </a:xfrm>
        </p:grpSpPr>
        <p:sp>
          <p:nvSpPr>
            <p:cNvPr id="9" name="Rectangle: Rounded Corners 8">
              <a:extLst>
                <a:ext uri="{FF2B5EF4-FFF2-40B4-BE49-F238E27FC236}">
                  <a16:creationId xmlns:a16="http://schemas.microsoft.com/office/drawing/2014/main" id="{296D250F-A9B9-75A1-8BB2-EC01102639E3}"/>
                </a:ext>
              </a:extLst>
            </p:cNvPr>
            <p:cNvSpPr/>
            <p:nvPr/>
          </p:nvSpPr>
          <p:spPr>
            <a:xfrm>
              <a:off x="652304"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descr="Group of people with solid fill">
              <a:extLst>
                <a:ext uri="{FF2B5EF4-FFF2-40B4-BE49-F238E27FC236}">
                  <a16:creationId xmlns:a16="http://schemas.microsoft.com/office/drawing/2014/main" id="{FBC9B931-DDC2-DBBC-0A90-5FE41ADEBE8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316471" y="3571770"/>
              <a:ext cx="624395" cy="624395"/>
            </a:xfrm>
            <a:prstGeom prst="rect">
              <a:avLst/>
            </a:prstGeom>
          </p:spPr>
        </p:pic>
        <p:sp>
          <p:nvSpPr>
            <p:cNvPr id="18" name="TextBox 17">
              <a:extLst>
                <a:ext uri="{FF2B5EF4-FFF2-40B4-BE49-F238E27FC236}">
                  <a16:creationId xmlns:a16="http://schemas.microsoft.com/office/drawing/2014/main" id="{F5CA5712-32B2-E05E-DA53-F4F9DBB42371}"/>
                </a:ext>
              </a:extLst>
            </p:cNvPr>
            <p:cNvSpPr txBox="1"/>
            <p:nvPr/>
          </p:nvSpPr>
          <p:spPr>
            <a:xfrm>
              <a:off x="639431" y="4562570"/>
              <a:ext cx="1993097" cy="369332"/>
            </a:xfrm>
            <a:prstGeom prst="rect">
              <a:avLst/>
            </a:prstGeom>
            <a:noFill/>
          </p:spPr>
          <p:txBody>
            <a:bodyPr wrap="square" rtlCol="0">
              <a:spAutoFit/>
            </a:bodyPr>
            <a:lstStyle/>
            <a:p>
              <a:pPr algn="ctr"/>
              <a:r>
                <a:rPr lang="en-US" sz="900" dirty="0">
                  <a:solidFill>
                    <a:srgbClr val="2F6673"/>
                  </a:solidFill>
                  <a:latin typeface="Montserrat SemiBold" panose="00000700000000000000" pitchFamily="2" charset="0"/>
                </a:rPr>
                <a:t>Total </a:t>
              </a:r>
            </a:p>
            <a:p>
              <a:pPr algn="ctr"/>
              <a:r>
                <a:rPr lang="en-US" sz="900" dirty="0">
                  <a:solidFill>
                    <a:srgbClr val="2F6673"/>
                  </a:solidFill>
                  <a:latin typeface="Montserrat SemiBold" panose="00000700000000000000" pitchFamily="2" charset="0"/>
                </a:rPr>
                <a:t>Targeted Members</a:t>
              </a:r>
              <a:endParaRPr lang="en-US" sz="900" dirty="0">
                <a:solidFill>
                  <a:srgbClr val="2F6673"/>
                </a:solidFill>
                <a:latin typeface="Montserrat" panose="00000500000000000000" pitchFamily="2" charset="0"/>
              </a:endParaRPr>
            </a:p>
          </p:txBody>
        </p:sp>
        <p:sp>
          <p:nvSpPr>
            <p:cNvPr id="57" name="TextBox 56">
              <a:extLst>
                <a:ext uri="{FF2B5EF4-FFF2-40B4-BE49-F238E27FC236}">
                  <a16:creationId xmlns:a16="http://schemas.microsoft.com/office/drawing/2014/main" id="{CD33FDC4-8451-6698-0885-3852724D76FC}"/>
                </a:ext>
              </a:extLst>
            </p:cNvPr>
            <p:cNvSpPr txBox="1"/>
            <p:nvPr/>
          </p:nvSpPr>
          <p:spPr>
            <a:xfrm>
              <a:off x="645597" y="4230695"/>
              <a:ext cx="1993097" cy="307777"/>
            </a:xfrm>
            <a:prstGeom prst="rect">
              <a:avLst/>
            </a:prstGeom>
            <a:noFill/>
          </p:spPr>
          <p:txBody>
            <a:bodyPr wrap="square" rtlCol="0">
              <a:spAutoFit/>
            </a:bodyPr>
            <a:lstStyle/>
            <a:p>
              <a:pPr algn="ctr">
                <a:spcAft>
                  <a:spcPts val="1200"/>
                </a:spcAft>
              </a:pPr>
              <a:r>
                <a:rPr lang="en-US" sz="1400" dirty="0">
                  <a:solidFill>
                    <a:srgbClr val="2F6673"/>
                  </a:solidFill>
                  <a:latin typeface="Montserrat SemiBold" panose="00000700000000000000" pitchFamily="2" charset="0"/>
                </a:rPr>
                <a:t>{{</a:t>
              </a:r>
              <a:r>
                <a:rPr lang="en-US" sz="1400" dirty="0" err="1">
                  <a:solidFill>
                    <a:srgbClr val="2F6673"/>
                  </a:solidFill>
                  <a:latin typeface="Montserrat SemiBold" panose="00000700000000000000" pitchFamily="2" charset="0"/>
                </a:rPr>
                <a:t>total_targets</a:t>
              </a:r>
              <a:r>
                <a:rPr lang="en-US" sz="1400" dirty="0">
                  <a:solidFill>
                    <a:srgbClr val="2F6673"/>
                  </a:solidFill>
                  <a:latin typeface="Montserrat SemiBold" panose="00000700000000000000" pitchFamily="2" charset="0"/>
                </a:rPr>
                <a:t>}}</a:t>
              </a:r>
              <a:endParaRPr lang="en-US" sz="1400" dirty="0">
                <a:solidFill>
                  <a:srgbClr val="2F6673"/>
                </a:solidFill>
                <a:latin typeface="Montserrat" panose="00000500000000000000" pitchFamily="2" charset="0"/>
              </a:endParaRPr>
            </a:p>
          </p:txBody>
        </p:sp>
      </p:grpSp>
      <p:grpSp>
        <p:nvGrpSpPr>
          <p:cNvPr id="83" name="Group 82">
            <a:extLst>
              <a:ext uri="{FF2B5EF4-FFF2-40B4-BE49-F238E27FC236}">
                <a16:creationId xmlns:a16="http://schemas.microsoft.com/office/drawing/2014/main" id="{A5AFA401-18F4-D8F6-7764-60AC4867945A}"/>
              </a:ext>
            </a:extLst>
          </p:cNvPr>
          <p:cNvGrpSpPr/>
          <p:nvPr/>
        </p:nvGrpSpPr>
        <p:grpSpPr>
          <a:xfrm>
            <a:off x="7179341" y="1687822"/>
            <a:ext cx="2084460" cy="1581609"/>
            <a:chOff x="2902516" y="3461328"/>
            <a:chExt cx="2084460" cy="1581609"/>
          </a:xfrm>
        </p:grpSpPr>
        <p:sp>
          <p:nvSpPr>
            <p:cNvPr id="58" name="Rectangle: Rounded Corners 57">
              <a:extLst>
                <a:ext uri="{FF2B5EF4-FFF2-40B4-BE49-F238E27FC236}">
                  <a16:creationId xmlns:a16="http://schemas.microsoft.com/office/drawing/2014/main" id="{D118C532-292F-2929-C80C-265F899CBB06}"/>
                </a:ext>
              </a:extLst>
            </p:cNvPr>
            <p:cNvSpPr/>
            <p:nvPr/>
          </p:nvSpPr>
          <p:spPr>
            <a:xfrm>
              <a:off x="2924575"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9" name="Graphic 58" descr="Bullseye with solid fill">
              <a:extLst>
                <a:ext uri="{FF2B5EF4-FFF2-40B4-BE49-F238E27FC236}">
                  <a16:creationId xmlns:a16="http://schemas.microsoft.com/office/drawing/2014/main" id="{38785DE9-D7C0-E837-7D1F-7B544CE4AA4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539388" y="3596130"/>
              <a:ext cx="652702" cy="652702"/>
            </a:xfrm>
            <a:prstGeom prst="rect">
              <a:avLst/>
            </a:prstGeom>
          </p:spPr>
        </p:pic>
        <p:sp>
          <p:nvSpPr>
            <p:cNvPr id="60" name="TextBox 59">
              <a:extLst>
                <a:ext uri="{FF2B5EF4-FFF2-40B4-BE49-F238E27FC236}">
                  <a16:creationId xmlns:a16="http://schemas.microsoft.com/office/drawing/2014/main" id="{FE1D1887-84D1-22A4-2C92-30D4BB4384DB}"/>
                </a:ext>
              </a:extLst>
            </p:cNvPr>
            <p:cNvSpPr txBox="1"/>
            <p:nvPr/>
          </p:nvSpPr>
          <p:spPr>
            <a:xfrm>
              <a:off x="2915055" y="4568671"/>
              <a:ext cx="1982494" cy="369332"/>
            </a:xfrm>
            <a:prstGeom prst="rect">
              <a:avLst/>
            </a:prstGeom>
            <a:noFill/>
          </p:spPr>
          <p:txBody>
            <a:bodyPr wrap="square" rtlCol="0">
              <a:spAutoFit/>
            </a:bodyPr>
            <a:lstStyle/>
            <a:p>
              <a:pPr algn="ctr"/>
              <a:r>
                <a:rPr lang="en-US" sz="900" dirty="0">
                  <a:solidFill>
                    <a:srgbClr val="002060"/>
                  </a:solidFill>
                  <a:latin typeface="Montserrat SemiBold" panose="00000700000000000000" pitchFamily="2" charset="0"/>
                </a:rPr>
                <a:t>Estimated </a:t>
              </a:r>
            </a:p>
            <a:p>
              <a:pPr algn="ctr"/>
              <a:r>
                <a:rPr lang="en-US" sz="900" dirty="0">
                  <a:solidFill>
                    <a:srgbClr val="002060"/>
                  </a:solidFill>
                  <a:latin typeface="Montserrat SemiBold" panose="00000700000000000000" pitchFamily="2" charset="0"/>
                </a:rPr>
                <a:t>Conversion Rate</a:t>
              </a:r>
              <a:endParaRPr lang="en-US" sz="900" dirty="0">
                <a:solidFill>
                  <a:srgbClr val="002060"/>
                </a:solidFill>
                <a:latin typeface="Montserrat" panose="00000500000000000000" pitchFamily="2" charset="0"/>
              </a:endParaRPr>
            </a:p>
          </p:txBody>
        </p:sp>
        <p:sp>
          <p:nvSpPr>
            <p:cNvPr id="61" name="TextBox 60">
              <a:extLst>
                <a:ext uri="{FF2B5EF4-FFF2-40B4-BE49-F238E27FC236}">
                  <a16:creationId xmlns:a16="http://schemas.microsoft.com/office/drawing/2014/main" id="{EC166ED2-5DDC-82FE-F15E-6F937B0C29B1}"/>
                </a:ext>
              </a:extLst>
            </p:cNvPr>
            <p:cNvSpPr txBox="1"/>
            <p:nvPr/>
          </p:nvSpPr>
          <p:spPr>
            <a:xfrm>
              <a:off x="2902516" y="4236796"/>
              <a:ext cx="2084460" cy="523220"/>
            </a:xfrm>
            <a:prstGeom prst="rect">
              <a:avLst/>
            </a:prstGeom>
            <a:noFill/>
          </p:spPr>
          <p:txBody>
            <a:bodyPr wrap="square" rtlCol="0">
              <a:spAutoFit/>
            </a:bodyPr>
            <a:lstStyle/>
            <a:p>
              <a:pPr algn="ctr">
                <a:spcAft>
                  <a:spcPts val="1200"/>
                </a:spcAft>
              </a:pPr>
              <a:r>
                <a:rPr lang="en-US" sz="1400" dirty="0">
                  <a:solidFill>
                    <a:srgbClr val="002060"/>
                  </a:solidFill>
                  <a:latin typeface="Montserrat SemiBold" panose="00000700000000000000" pitchFamily="2" charset="0"/>
                </a:rPr>
                <a:t>{{</a:t>
              </a:r>
              <a:r>
                <a:rPr lang="en-US" sz="1400" dirty="0" err="1">
                  <a:solidFill>
                    <a:srgbClr val="002060"/>
                  </a:solidFill>
                  <a:latin typeface="Montserrat SemiBold" panose="00000700000000000000" pitchFamily="2" charset="0"/>
                </a:rPr>
                <a:t>target_conversion_rate</a:t>
              </a:r>
              <a:r>
                <a:rPr lang="en-US" sz="1400" dirty="0">
                  <a:solidFill>
                    <a:srgbClr val="002060"/>
                  </a:solidFill>
                  <a:latin typeface="Montserrat SemiBold" panose="00000700000000000000" pitchFamily="2" charset="0"/>
                </a:rPr>
                <a:t>}}</a:t>
              </a:r>
              <a:endParaRPr lang="en-US" sz="1400" dirty="0">
                <a:solidFill>
                  <a:srgbClr val="002060"/>
                </a:solidFill>
                <a:latin typeface="Montserrat" panose="00000500000000000000" pitchFamily="2" charset="0"/>
              </a:endParaRPr>
            </a:p>
          </p:txBody>
        </p:sp>
      </p:grpSp>
      <p:grpSp>
        <p:nvGrpSpPr>
          <p:cNvPr id="84" name="Group 83">
            <a:extLst>
              <a:ext uri="{FF2B5EF4-FFF2-40B4-BE49-F238E27FC236}">
                <a16:creationId xmlns:a16="http://schemas.microsoft.com/office/drawing/2014/main" id="{6B247755-D150-AD8C-BFC8-E6157CC44140}"/>
              </a:ext>
            </a:extLst>
          </p:cNvPr>
          <p:cNvGrpSpPr/>
          <p:nvPr/>
        </p:nvGrpSpPr>
        <p:grpSpPr>
          <a:xfrm>
            <a:off x="9456903" y="1687822"/>
            <a:ext cx="2002616" cy="1581609"/>
            <a:chOff x="5180620" y="3461328"/>
            <a:chExt cx="2002616" cy="1581609"/>
          </a:xfrm>
        </p:grpSpPr>
        <p:sp>
          <p:nvSpPr>
            <p:cNvPr id="62" name="Rectangle: Rounded Corners 61">
              <a:extLst>
                <a:ext uri="{FF2B5EF4-FFF2-40B4-BE49-F238E27FC236}">
                  <a16:creationId xmlns:a16="http://schemas.microsoft.com/office/drawing/2014/main" id="{D8ED8D3B-E1BA-2CEF-2888-79CBC9E7461A}"/>
                </a:ext>
              </a:extLst>
            </p:cNvPr>
            <p:cNvSpPr/>
            <p:nvPr/>
          </p:nvSpPr>
          <p:spPr>
            <a:xfrm>
              <a:off x="5196846"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 name="Graphic 62" descr="Target Audience with solid fill">
              <a:extLst>
                <a:ext uri="{FF2B5EF4-FFF2-40B4-BE49-F238E27FC236}">
                  <a16:creationId xmlns:a16="http://schemas.microsoft.com/office/drawing/2014/main" id="{1BA1E22A-8B17-3E34-1D2D-C62C8F233CE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828384" y="3566628"/>
              <a:ext cx="735785" cy="735785"/>
            </a:xfrm>
            <a:prstGeom prst="rect">
              <a:avLst/>
            </a:prstGeom>
          </p:spPr>
        </p:pic>
        <p:sp>
          <p:nvSpPr>
            <p:cNvPr id="64" name="TextBox 63">
              <a:extLst>
                <a:ext uri="{FF2B5EF4-FFF2-40B4-BE49-F238E27FC236}">
                  <a16:creationId xmlns:a16="http://schemas.microsoft.com/office/drawing/2014/main" id="{419A3DEA-C674-CBA6-4E9F-93B2ECAC3C32}"/>
                </a:ext>
              </a:extLst>
            </p:cNvPr>
            <p:cNvSpPr txBox="1"/>
            <p:nvPr/>
          </p:nvSpPr>
          <p:spPr>
            <a:xfrm>
              <a:off x="5180620" y="4557405"/>
              <a:ext cx="1999804" cy="369332"/>
            </a:xfrm>
            <a:prstGeom prst="rect">
              <a:avLst/>
            </a:prstGeom>
            <a:noFill/>
          </p:spPr>
          <p:txBody>
            <a:bodyPr wrap="square" rtlCol="0">
              <a:spAutoFit/>
            </a:bodyPr>
            <a:lstStyle/>
            <a:p>
              <a:pPr algn="ctr"/>
              <a:r>
                <a:rPr lang="en-US" sz="900" dirty="0">
                  <a:solidFill>
                    <a:srgbClr val="76BD22"/>
                  </a:solidFill>
                  <a:latin typeface="Montserrat SemiBold" panose="00000700000000000000" pitchFamily="2" charset="0"/>
                </a:rPr>
                <a:t>Estimated </a:t>
              </a:r>
            </a:p>
            <a:p>
              <a:pPr algn="ctr"/>
              <a:r>
                <a:rPr lang="en-US" sz="900" dirty="0">
                  <a:solidFill>
                    <a:srgbClr val="76BD22"/>
                  </a:solidFill>
                  <a:latin typeface="Montserrat SemiBold" panose="00000700000000000000" pitchFamily="2" charset="0"/>
                </a:rPr>
                <a:t>Loans Funded</a:t>
              </a:r>
              <a:endParaRPr lang="en-US" sz="900" dirty="0">
                <a:solidFill>
                  <a:srgbClr val="76BD22"/>
                </a:solidFill>
                <a:latin typeface="Montserrat" panose="00000500000000000000" pitchFamily="2" charset="0"/>
              </a:endParaRPr>
            </a:p>
          </p:txBody>
        </p:sp>
        <p:sp>
          <p:nvSpPr>
            <p:cNvPr id="65" name="TextBox 64">
              <a:extLst>
                <a:ext uri="{FF2B5EF4-FFF2-40B4-BE49-F238E27FC236}">
                  <a16:creationId xmlns:a16="http://schemas.microsoft.com/office/drawing/2014/main" id="{5DAA1628-58AA-3C60-7638-81E7E80B3379}"/>
                </a:ext>
              </a:extLst>
            </p:cNvPr>
            <p:cNvSpPr txBox="1"/>
            <p:nvPr/>
          </p:nvSpPr>
          <p:spPr>
            <a:xfrm>
              <a:off x="5223822" y="4246085"/>
              <a:ext cx="1955519" cy="307777"/>
            </a:xfrm>
            <a:prstGeom prst="rect">
              <a:avLst/>
            </a:prstGeom>
            <a:noFill/>
          </p:spPr>
          <p:txBody>
            <a:bodyPr wrap="square" rtlCol="0">
              <a:spAutoFit/>
            </a:bodyPr>
            <a:lstStyle/>
            <a:p>
              <a:pPr algn="ctr">
                <a:spcAft>
                  <a:spcPts val="1200"/>
                </a:spcAft>
              </a:pPr>
              <a:r>
                <a:rPr lang="en-US" sz="1400" dirty="0">
                  <a:solidFill>
                    <a:srgbClr val="76BD22"/>
                  </a:solidFill>
                  <a:latin typeface="Montserrat SemiBold" panose="00000700000000000000" pitchFamily="2" charset="0"/>
                </a:rPr>
                <a:t>{{conversions}}</a:t>
              </a:r>
              <a:endParaRPr lang="en-US" sz="1400" dirty="0">
                <a:solidFill>
                  <a:srgbClr val="76BD22"/>
                </a:solidFill>
                <a:latin typeface="Montserrat" panose="00000500000000000000" pitchFamily="2" charset="0"/>
              </a:endParaRPr>
            </a:p>
          </p:txBody>
        </p:sp>
      </p:grpSp>
      <p:grpSp>
        <p:nvGrpSpPr>
          <p:cNvPr id="85" name="Group 84">
            <a:extLst>
              <a:ext uri="{FF2B5EF4-FFF2-40B4-BE49-F238E27FC236}">
                <a16:creationId xmlns:a16="http://schemas.microsoft.com/office/drawing/2014/main" id="{363E825C-7217-BAFC-B2E2-E595B4437914}"/>
              </a:ext>
            </a:extLst>
          </p:cNvPr>
          <p:cNvGrpSpPr/>
          <p:nvPr/>
        </p:nvGrpSpPr>
        <p:grpSpPr>
          <a:xfrm>
            <a:off x="9483263" y="3480630"/>
            <a:ext cx="1989202" cy="1581609"/>
            <a:chOff x="7466305" y="3461328"/>
            <a:chExt cx="1989202" cy="1581609"/>
          </a:xfrm>
        </p:grpSpPr>
        <p:sp>
          <p:nvSpPr>
            <p:cNvPr id="66" name="Rectangle: Rounded Corners 65">
              <a:extLst>
                <a:ext uri="{FF2B5EF4-FFF2-40B4-BE49-F238E27FC236}">
                  <a16:creationId xmlns:a16="http://schemas.microsoft.com/office/drawing/2014/main" id="{E619D328-55BB-EADD-34C9-689539CEF9F8}"/>
                </a:ext>
              </a:extLst>
            </p:cNvPr>
            <p:cNvSpPr/>
            <p:nvPr/>
          </p:nvSpPr>
          <p:spPr>
            <a:xfrm>
              <a:off x="7469117"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7" name="Graphic 66" descr="Bank with solid fill">
              <a:extLst>
                <a:ext uri="{FF2B5EF4-FFF2-40B4-BE49-F238E27FC236}">
                  <a16:creationId xmlns:a16="http://schemas.microsoft.com/office/drawing/2014/main" id="{610A3084-2750-935F-B3C6-61C1C88363B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100656" y="3576191"/>
              <a:ext cx="644631" cy="644631"/>
            </a:xfrm>
            <a:prstGeom prst="rect">
              <a:avLst/>
            </a:prstGeom>
          </p:spPr>
        </p:pic>
        <p:sp>
          <p:nvSpPr>
            <p:cNvPr id="68" name="TextBox 67">
              <a:extLst>
                <a:ext uri="{FF2B5EF4-FFF2-40B4-BE49-F238E27FC236}">
                  <a16:creationId xmlns:a16="http://schemas.microsoft.com/office/drawing/2014/main" id="{8684946B-A641-7F75-C866-4DF461D430A8}"/>
                </a:ext>
              </a:extLst>
            </p:cNvPr>
            <p:cNvSpPr txBox="1"/>
            <p:nvPr/>
          </p:nvSpPr>
          <p:spPr>
            <a:xfrm>
              <a:off x="7466305" y="4579661"/>
              <a:ext cx="1979683" cy="369332"/>
            </a:xfrm>
            <a:prstGeom prst="rect">
              <a:avLst/>
            </a:prstGeom>
            <a:noFill/>
          </p:spPr>
          <p:txBody>
            <a:bodyPr wrap="square" rtlCol="0">
              <a:spAutoFit/>
            </a:bodyPr>
            <a:lstStyle/>
            <a:p>
              <a:pPr algn="ctr"/>
              <a:r>
                <a:rPr lang="en-US" sz="900" dirty="0">
                  <a:solidFill>
                    <a:srgbClr val="002060"/>
                  </a:solidFill>
                  <a:latin typeface="Montserrat SemiBold" panose="00000700000000000000" pitchFamily="2" charset="0"/>
                </a:rPr>
                <a:t>Estimated ROI</a:t>
              </a:r>
            </a:p>
            <a:p>
              <a:pPr algn="ctr"/>
              <a:r>
                <a:rPr lang="en-US" sz="900" dirty="0">
                  <a:solidFill>
                    <a:srgbClr val="002060"/>
                  </a:solidFill>
                  <a:latin typeface="Montserrat SemiBold" panose="00000700000000000000" pitchFamily="2" charset="0"/>
                </a:rPr>
                <a:t>($ returned per $1 invested)</a:t>
              </a:r>
              <a:endParaRPr lang="en-US" sz="900" dirty="0">
                <a:solidFill>
                  <a:srgbClr val="002060"/>
                </a:solidFill>
                <a:latin typeface="Montserrat" panose="00000500000000000000" pitchFamily="2" charset="0"/>
              </a:endParaRPr>
            </a:p>
          </p:txBody>
        </p:sp>
        <p:sp>
          <p:nvSpPr>
            <p:cNvPr id="69" name="TextBox 68">
              <a:extLst>
                <a:ext uri="{FF2B5EF4-FFF2-40B4-BE49-F238E27FC236}">
                  <a16:creationId xmlns:a16="http://schemas.microsoft.com/office/drawing/2014/main" id="{B24E7F7E-C16D-1975-D909-BA5B1CB8F9C7}"/>
                </a:ext>
              </a:extLst>
            </p:cNvPr>
            <p:cNvSpPr txBox="1"/>
            <p:nvPr/>
          </p:nvSpPr>
          <p:spPr>
            <a:xfrm>
              <a:off x="7471926" y="4266594"/>
              <a:ext cx="1979683" cy="307777"/>
            </a:xfrm>
            <a:prstGeom prst="rect">
              <a:avLst/>
            </a:prstGeom>
            <a:noFill/>
          </p:spPr>
          <p:txBody>
            <a:bodyPr wrap="square" rtlCol="0">
              <a:spAutoFit/>
            </a:bodyPr>
            <a:lstStyle/>
            <a:p>
              <a:pPr algn="ctr">
                <a:spcAft>
                  <a:spcPts val="1200"/>
                </a:spcAft>
              </a:pPr>
              <a:r>
                <a:rPr lang="en-US" sz="1400" dirty="0">
                  <a:solidFill>
                    <a:srgbClr val="002060"/>
                  </a:solidFill>
                  <a:latin typeface="Montserrat SemiBold" panose="00000700000000000000" pitchFamily="2" charset="0"/>
                </a:rPr>
                <a:t>{{</a:t>
              </a:r>
              <a:r>
                <a:rPr lang="en-US" sz="1400" dirty="0" err="1">
                  <a:solidFill>
                    <a:srgbClr val="002060"/>
                  </a:solidFill>
                  <a:latin typeface="Montserrat SemiBold" panose="00000700000000000000" pitchFamily="2" charset="0"/>
                </a:rPr>
                <a:t>target_ROI</a:t>
              </a:r>
              <a:r>
                <a:rPr lang="en-US" sz="1400" dirty="0">
                  <a:solidFill>
                    <a:srgbClr val="002060"/>
                  </a:solidFill>
                  <a:latin typeface="Montserrat SemiBold" panose="00000700000000000000" pitchFamily="2" charset="0"/>
                </a:rPr>
                <a:t>}}</a:t>
              </a:r>
              <a:endParaRPr lang="en-US" sz="1400" dirty="0">
                <a:solidFill>
                  <a:srgbClr val="002060"/>
                </a:solidFill>
                <a:latin typeface="Montserrat" panose="00000500000000000000" pitchFamily="2" charset="0"/>
              </a:endParaRPr>
            </a:p>
          </p:txBody>
        </p:sp>
      </p:grpSp>
      <p:grpSp>
        <p:nvGrpSpPr>
          <p:cNvPr id="86" name="Group 85">
            <a:extLst>
              <a:ext uri="{FF2B5EF4-FFF2-40B4-BE49-F238E27FC236}">
                <a16:creationId xmlns:a16="http://schemas.microsoft.com/office/drawing/2014/main" id="{C66AB8E8-D943-A911-9D6C-F5E97F5EF31A}"/>
              </a:ext>
            </a:extLst>
          </p:cNvPr>
          <p:cNvGrpSpPr/>
          <p:nvPr/>
        </p:nvGrpSpPr>
        <p:grpSpPr>
          <a:xfrm>
            <a:off x="7201400" y="3480631"/>
            <a:ext cx="1995908" cy="1581609"/>
            <a:chOff x="9731870" y="3477949"/>
            <a:chExt cx="1995908" cy="1581609"/>
          </a:xfrm>
        </p:grpSpPr>
        <p:sp>
          <p:nvSpPr>
            <p:cNvPr id="70" name="Rectangle: Rounded Corners 69">
              <a:extLst>
                <a:ext uri="{FF2B5EF4-FFF2-40B4-BE49-F238E27FC236}">
                  <a16:creationId xmlns:a16="http://schemas.microsoft.com/office/drawing/2014/main" id="{B29FC108-D59E-2A45-5F36-6CF2CBCA2425}"/>
                </a:ext>
              </a:extLst>
            </p:cNvPr>
            <p:cNvSpPr/>
            <p:nvPr/>
          </p:nvSpPr>
          <p:spPr>
            <a:xfrm>
              <a:off x="9741388" y="3477949"/>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 name="Graphic 70" descr="Bar graph with upward trend with solid fill">
              <a:extLst>
                <a:ext uri="{FF2B5EF4-FFF2-40B4-BE49-F238E27FC236}">
                  <a16:creationId xmlns:a16="http://schemas.microsoft.com/office/drawing/2014/main" id="{FA5CDF1E-E16C-29BF-18BB-E045011B83B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46683" y="3590997"/>
              <a:ext cx="652702" cy="652702"/>
            </a:xfrm>
            <a:prstGeom prst="rect">
              <a:avLst/>
            </a:prstGeom>
          </p:spPr>
        </p:pic>
        <p:sp>
          <p:nvSpPr>
            <p:cNvPr id="72" name="TextBox 71">
              <a:extLst>
                <a:ext uri="{FF2B5EF4-FFF2-40B4-BE49-F238E27FC236}">
                  <a16:creationId xmlns:a16="http://schemas.microsoft.com/office/drawing/2014/main" id="{6F2E38F0-05A4-4FAC-1564-F38471668412}"/>
                </a:ext>
              </a:extLst>
            </p:cNvPr>
            <p:cNvSpPr txBox="1"/>
            <p:nvPr/>
          </p:nvSpPr>
          <p:spPr>
            <a:xfrm>
              <a:off x="9731870" y="4574653"/>
              <a:ext cx="1982494" cy="369332"/>
            </a:xfrm>
            <a:prstGeom prst="rect">
              <a:avLst/>
            </a:prstGeom>
            <a:noFill/>
          </p:spPr>
          <p:txBody>
            <a:bodyPr wrap="square" rtlCol="0">
              <a:spAutoFit/>
            </a:bodyPr>
            <a:lstStyle/>
            <a:p>
              <a:pPr algn="ctr"/>
              <a:r>
                <a:rPr lang="en-US" sz="900" dirty="0">
                  <a:solidFill>
                    <a:srgbClr val="2F6673"/>
                  </a:solidFill>
                  <a:latin typeface="Montserrat SemiBold" panose="00000700000000000000" pitchFamily="2" charset="0"/>
                </a:rPr>
                <a:t>Estimated </a:t>
              </a:r>
            </a:p>
            <a:p>
              <a:pPr algn="ctr"/>
              <a:r>
                <a:rPr lang="en-US" sz="900" dirty="0">
                  <a:solidFill>
                    <a:srgbClr val="2F6673"/>
                  </a:solidFill>
                  <a:latin typeface="Montserrat SemiBold" panose="00000700000000000000" pitchFamily="2" charset="0"/>
                </a:rPr>
                <a:t>First-Year Interest</a:t>
              </a:r>
              <a:endParaRPr lang="en-US" sz="900" dirty="0">
                <a:solidFill>
                  <a:srgbClr val="2F6673"/>
                </a:solidFill>
                <a:latin typeface="Montserrat" panose="00000500000000000000" pitchFamily="2" charset="0"/>
              </a:endParaRPr>
            </a:p>
          </p:txBody>
        </p:sp>
        <p:sp>
          <p:nvSpPr>
            <p:cNvPr id="73" name="TextBox 72">
              <a:extLst>
                <a:ext uri="{FF2B5EF4-FFF2-40B4-BE49-F238E27FC236}">
                  <a16:creationId xmlns:a16="http://schemas.microsoft.com/office/drawing/2014/main" id="{C4C79600-F551-F332-6996-3AC77BA4E621}"/>
                </a:ext>
              </a:extLst>
            </p:cNvPr>
            <p:cNvSpPr txBox="1"/>
            <p:nvPr/>
          </p:nvSpPr>
          <p:spPr>
            <a:xfrm>
              <a:off x="9734681" y="4250405"/>
              <a:ext cx="1979683" cy="523220"/>
            </a:xfrm>
            <a:prstGeom prst="rect">
              <a:avLst/>
            </a:prstGeom>
            <a:noFill/>
          </p:spPr>
          <p:txBody>
            <a:bodyPr wrap="square" rtlCol="0">
              <a:spAutoFit/>
            </a:bodyPr>
            <a:lstStyle/>
            <a:p>
              <a:pPr algn="ctr">
                <a:spcAft>
                  <a:spcPts val="1200"/>
                </a:spcAft>
              </a:pPr>
              <a:r>
                <a:rPr lang="en-US" sz="1400" dirty="0">
                  <a:solidFill>
                    <a:srgbClr val="2F6673"/>
                  </a:solidFill>
                  <a:latin typeface="Montserrat SemiBold" panose="00000700000000000000" pitchFamily="2" charset="0"/>
                </a:rPr>
                <a:t>{{</a:t>
              </a:r>
              <a:r>
                <a:rPr lang="en-US" sz="1400" dirty="0" err="1">
                  <a:solidFill>
                    <a:srgbClr val="2F6673"/>
                  </a:solidFill>
                  <a:latin typeface="Montserrat SemiBold" panose="00000700000000000000" pitchFamily="2" charset="0"/>
                </a:rPr>
                <a:t>first_year_interest</a:t>
              </a:r>
              <a:r>
                <a:rPr lang="en-US" sz="1400" dirty="0">
                  <a:solidFill>
                    <a:srgbClr val="2F6673"/>
                  </a:solidFill>
                  <a:latin typeface="Montserrat SemiBold" panose="00000700000000000000" pitchFamily="2" charset="0"/>
                </a:rPr>
                <a:t>}}</a:t>
              </a:r>
              <a:endParaRPr lang="en-US" sz="1400" dirty="0">
                <a:solidFill>
                  <a:srgbClr val="2F6673"/>
                </a:solidFill>
                <a:latin typeface="Montserrat" panose="00000500000000000000" pitchFamily="2" charset="0"/>
              </a:endParaRPr>
            </a:p>
          </p:txBody>
        </p:sp>
      </p:grpSp>
      <p:graphicFrame>
        <p:nvGraphicFramePr>
          <p:cNvPr id="78" name="Diagram 77">
            <a:extLst>
              <a:ext uri="{FF2B5EF4-FFF2-40B4-BE49-F238E27FC236}">
                <a16:creationId xmlns:a16="http://schemas.microsoft.com/office/drawing/2014/main" id="{9AFF16DB-375C-5799-22AF-5DF35421C742}"/>
              </a:ext>
            </a:extLst>
          </p:cNvPr>
          <p:cNvGraphicFramePr/>
          <p:nvPr>
            <p:extLst>
              <p:ext uri="{D42A27DB-BD31-4B8C-83A1-F6EECF244321}">
                <p14:modId xmlns:p14="http://schemas.microsoft.com/office/powerpoint/2010/main" val="3481641941"/>
              </p:ext>
            </p:extLst>
          </p:nvPr>
        </p:nvGraphicFramePr>
        <p:xfrm>
          <a:off x="4908593" y="5354000"/>
          <a:ext cx="7283407" cy="50963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79" name="Graphic 78" descr="Gears with solid fill">
            <a:extLst>
              <a:ext uri="{FF2B5EF4-FFF2-40B4-BE49-F238E27FC236}">
                <a16:creationId xmlns:a16="http://schemas.microsoft.com/office/drawing/2014/main" id="{373A5920-FF27-74C0-9332-C9D5A77A8D3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6077952" y="5427560"/>
            <a:ext cx="350345" cy="350345"/>
          </a:xfrm>
          <a:prstGeom prst="rect">
            <a:avLst/>
          </a:prstGeom>
        </p:spPr>
      </p:pic>
      <p:cxnSp>
        <p:nvCxnSpPr>
          <p:cNvPr id="80" name="Straight Connector 79">
            <a:extLst>
              <a:ext uri="{FF2B5EF4-FFF2-40B4-BE49-F238E27FC236}">
                <a16:creationId xmlns:a16="http://schemas.microsoft.com/office/drawing/2014/main" id="{3E9C158A-C67F-375D-0B4B-8C6E9A93B757}"/>
              </a:ext>
            </a:extLst>
          </p:cNvPr>
          <p:cNvCxnSpPr>
            <a:cxnSpLocks/>
          </p:cNvCxnSpPr>
          <p:nvPr/>
        </p:nvCxnSpPr>
        <p:spPr>
          <a:xfrm>
            <a:off x="4553951" y="1680779"/>
            <a:ext cx="0" cy="3970422"/>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87" name="Group 86">
            <a:extLst>
              <a:ext uri="{FF2B5EF4-FFF2-40B4-BE49-F238E27FC236}">
                <a16:creationId xmlns:a16="http://schemas.microsoft.com/office/drawing/2014/main" id="{4006DA54-A087-09C6-7F3C-7DAE557A9154}"/>
              </a:ext>
            </a:extLst>
          </p:cNvPr>
          <p:cNvGrpSpPr/>
          <p:nvPr/>
        </p:nvGrpSpPr>
        <p:grpSpPr>
          <a:xfrm>
            <a:off x="4999849" y="3480631"/>
            <a:ext cx="1989202" cy="1581609"/>
            <a:chOff x="7466305" y="3461328"/>
            <a:chExt cx="1989202" cy="1581609"/>
          </a:xfrm>
        </p:grpSpPr>
        <p:sp>
          <p:nvSpPr>
            <p:cNvPr id="88" name="Rectangle: Rounded Corners 87">
              <a:extLst>
                <a:ext uri="{FF2B5EF4-FFF2-40B4-BE49-F238E27FC236}">
                  <a16:creationId xmlns:a16="http://schemas.microsoft.com/office/drawing/2014/main" id="{97BA7DBA-BC95-B188-2976-280F86F0A69F}"/>
                </a:ext>
              </a:extLst>
            </p:cNvPr>
            <p:cNvSpPr/>
            <p:nvPr/>
          </p:nvSpPr>
          <p:spPr>
            <a:xfrm>
              <a:off x="7469117"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9" name="Graphic 88" descr="Loan with solid fill">
              <a:extLst>
                <a:ext uri="{FF2B5EF4-FFF2-40B4-BE49-F238E27FC236}">
                  <a16:creationId xmlns:a16="http://schemas.microsoft.com/office/drawing/2014/main" id="{3345927C-6C38-A287-DEFA-5E659052AFFA}"/>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8130472" y="3563195"/>
              <a:ext cx="679103" cy="679103"/>
            </a:xfrm>
            <a:prstGeom prst="rect">
              <a:avLst/>
            </a:prstGeom>
          </p:spPr>
        </p:pic>
        <p:sp>
          <p:nvSpPr>
            <p:cNvPr id="90" name="TextBox 89">
              <a:extLst>
                <a:ext uri="{FF2B5EF4-FFF2-40B4-BE49-F238E27FC236}">
                  <a16:creationId xmlns:a16="http://schemas.microsoft.com/office/drawing/2014/main" id="{C535D654-D3BF-8043-4607-505D052CC6D2}"/>
                </a:ext>
              </a:extLst>
            </p:cNvPr>
            <p:cNvSpPr txBox="1"/>
            <p:nvPr/>
          </p:nvSpPr>
          <p:spPr>
            <a:xfrm>
              <a:off x="7466305" y="4579661"/>
              <a:ext cx="1979683" cy="369332"/>
            </a:xfrm>
            <a:prstGeom prst="rect">
              <a:avLst/>
            </a:prstGeom>
            <a:noFill/>
          </p:spPr>
          <p:txBody>
            <a:bodyPr wrap="square" rtlCol="0">
              <a:spAutoFit/>
            </a:bodyPr>
            <a:lstStyle/>
            <a:p>
              <a:pPr algn="ctr"/>
              <a:r>
                <a:rPr lang="en-US" sz="900" dirty="0">
                  <a:solidFill>
                    <a:srgbClr val="76BD22"/>
                  </a:solidFill>
                  <a:latin typeface="Montserrat SemiBold" panose="00000700000000000000" pitchFamily="2" charset="0"/>
                </a:rPr>
                <a:t>Estimated </a:t>
              </a:r>
            </a:p>
            <a:p>
              <a:pPr algn="ctr"/>
              <a:r>
                <a:rPr lang="en-US" sz="900" dirty="0">
                  <a:solidFill>
                    <a:srgbClr val="76BD22"/>
                  </a:solidFill>
                  <a:latin typeface="Montserrat SemiBold" panose="00000700000000000000" pitchFamily="2" charset="0"/>
                </a:rPr>
                <a:t>Amount Financed</a:t>
              </a:r>
              <a:endParaRPr lang="en-US" sz="900" dirty="0">
                <a:solidFill>
                  <a:srgbClr val="76BD22"/>
                </a:solidFill>
                <a:latin typeface="Montserrat" panose="00000500000000000000" pitchFamily="2" charset="0"/>
              </a:endParaRPr>
            </a:p>
          </p:txBody>
        </p:sp>
        <p:sp>
          <p:nvSpPr>
            <p:cNvPr id="91" name="TextBox 90">
              <a:extLst>
                <a:ext uri="{FF2B5EF4-FFF2-40B4-BE49-F238E27FC236}">
                  <a16:creationId xmlns:a16="http://schemas.microsoft.com/office/drawing/2014/main" id="{05232A58-BD89-C287-1F36-DA486CD51D55}"/>
                </a:ext>
              </a:extLst>
            </p:cNvPr>
            <p:cNvSpPr txBox="1"/>
            <p:nvPr/>
          </p:nvSpPr>
          <p:spPr>
            <a:xfrm>
              <a:off x="7471926" y="4266594"/>
              <a:ext cx="1979683" cy="523220"/>
            </a:xfrm>
            <a:prstGeom prst="rect">
              <a:avLst/>
            </a:prstGeom>
            <a:noFill/>
          </p:spPr>
          <p:txBody>
            <a:bodyPr wrap="square" rtlCol="0">
              <a:spAutoFit/>
            </a:bodyPr>
            <a:lstStyle/>
            <a:p>
              <a:pPr algn="ctr">
                <a:spcAft>
                  <a:spcPts val="1200"/>
                </a:spcAft>
              </a:pPr>
              <a:r>
                <a:rPr lang="en-US" sz="1400" dirty="0">
                  <a:solidFill>
                    <a:srgbClr val="76BD22"/>
                  </a:solidFill>
                  <a:latin typeface="Montserrat SemiBold" panose="00000700000000000000" pitchFamily="2" charset="0"/>
                </a:rPr>
                <a:t>{{</a:t>
              </a:r>
              <a:r>
                <a:rPr lang="en-US" sz="1400" dirty="0" err="1">
                  <a:solidFill>
                    <a:srgbClr val="76BD22"/>
                  </a:solidFill>
                  <a:latin typeface="Montserrat SemiBold" panose="00000700000000000000" pitchFamily="2" charset="0"/>
                </a:rPr>
                <a:t>amount_refinanced</a:t>
              </a:r>
              <a:r>
                <a:rPr lang="en-US" sz="1400" dirty="0">
                  <a:solidFill>
                    <a:srgbClr val="76BD22"/>
                  </a:solidFill>
                  <a:latin typeface="Montserrat SemiBold" panose="00000700000000000000" pitchFamily="2" charset="0"/>
                </a:rPr>
                <a:t>}}</a:t>
              </a:r>
              <a:endParaRPr lang="en-US" sz="1400" dirty="0">
                <a:solidFill>
                  <a:srgbClr val="76BD22"/>
                </a:solidFill>
                <a:latin typeface="Montserrat" panose="00000500000000000000" pitchFamily="2" charset="0"/>
              </a:endParaRPr>
            </a:p>
          </p:txBody>
        </p:sp>
      </p:grpSp>
      <p:sp>
        <p:nvSpPr>
          <p:cNvPr id="2" name="TextBox 1">
            <a:extLst>
              <a:ext uri="{FF2B5EF4-FFF2-40B4-BE49-F238E27FC236}">
                <a16:creationId xmlns:a16="http://schemas.microsoft.com/office/drawing/2014/main" id="{54989107-ACFE-8FA3-9218-3618F22A0D0B}"/>
              </a:ext>
            </a:extLst>
          </p:cNvPr>
          <p:cNvSpPr txBox="1"/>
          <p:nvPr/>
        </p:nvSpPr>
        <p:spPr>
          <a:xfrm>
            <a:off x="6491037" y="5359165"/>
            <a:ext cx="4451684" cy="523220"/>
          </a:xfrm>
          <a:prstGeom prst="rect">
            <a:avLst/>
          </a:prstGeom>
          <a:noFill/>
        </p:spPr>
        <p:txBody>
          <a:bodyPr wrap="square" rtlCol="0">
            <a:spAutoFit/>
          </a:bodyPr>
          <a:lstStyle/>
          <a:p>
            <a:r>
              <a:rPr lang="en-US" sz="700" i="1" dirty="0">
                <a:latin typeface="Montserrat SemiBold" panose="00000700000000000000" pitchFamily="2" charset="0"/>
              </a:rPr>
              <a:t>Campaign performance estimates are directional projections based on the credit union’s average {{</a:t>
            </a:r>
            <a:r>
              <a:rPr lang="en-US" sz="700" i="1" dirty="0" err="1">
                <a:latin typeface="Montserrat SemiBold" panose="00000700000000000000" pitchFamily="2" charset="0"/>
              </a:rPr>
              <a:t>loan_type</a:t>
            </a:r>
            <a:r>
              <a:rPr lang="en-US" sz="700" i="1" dirty="0">
                <a:latin typeface="Montserrat SemiBold" panose="00000700000000000000" pitchFamily="2" charset="0"/>
              </a:rPr>
              <a:t>}} interest rate of {{</a:t>
            </a:r>
            <a:r>
              <a:rPr lang="en-US" sz="700" i="1" dirty="0" err="1">
                <a:latin typeface="Montserrat SemiBold" panose="00000700000000000000" pitchFamily="2" charset="0"/>
              </a:rPr>
              <a:t>loan_interest_rate</a:t>
            </a:r>
            <a:r>
              <a:rPr lang="en-US" sz="700" i="1" dirty="0">
                <a:latin typeface="Montserrat SemiBold" panose="00000700000000000000" pitchFamily="2" charset="0"/>
              </a:rPr>
              <a:t>}}, average balance of {{</a:t>
            </a:r>
            <a:r>
              <a:rPr lang="en-US" sz="700" i="1" dirty="0" err="1">
                <a:latin typeface="Montserrat SemiBold" panose="00000700000000000000" pitchFamily="2" charset="0"/>
              </a:rPr>
              <a:t>avg_loan_balance</a:t>
            </a:r>
            <a:r>
              <a:rPr lang="en-US" sz="700" i="1" dirty="0">
                <a:latin typeface="Montserrat SemiBold" panose="00000700000000000000" pitchFamily="2" charset="0"/>
              </a:rPr>
              <a:t>}}, average term of {{</a:t>
            </a:r>
            <a:r>
              <a:rPr lang="en-US" sz="700" i="1" dirty="0" err="1">
                <a:latin typeface="Montserrat SemiBold" panose="00000700000000000000" pitchFamily="2" charset="0"/>
              </a:rPr>
              <a:t>loan_term_years</a:t>
            </a:r>
            <a:r>
              <a:rPr lang="en-US" sz="700" i="1" dirty="0">
                <a:latin typeface="Montserrat SemiBold" panose="00000700000000000000" pitchFamily="2" charset="0"/>
              </a:rPr>
              <a:t>}} years, and historical campaign response assumptions. Actual funded loan volume may vary.</a:t>
            </a:r>
            <a:endParaRPr lang="en-US" sz="700" dirty="0">
              <a:latin typeface="Montserrat SemiBold" panose="00000700000000000000" pitchFamily="2" charset="0"/>
            </a:endParaRPr>
          </a:p>
        </p:txBody>
      </p:sp>
    </p:spTree>
    <p:extLst>
      <p:ext uri="{BB962C8B-B14F-4D97-AF65-F5344CB8AC3E}">
        <p14:creationId xmlns:p14="http://schemas.microsoft.com/office/powerpoint/2010/main" val="3456677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A54D7-C05F-7E7E-8B84-2838B458FDA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5B4FA73-7500-CBE4-5856-CD0A6E43D50E}"/>
              </a:ext>
            </a:extLst>
          </p:cNvPr>
          <p:cNvSpPr txBox="1"/>
          <p:nvPr/>
        </p:nvSpPr>
        <p:spPr>
          <a:xfrm>
            <a:off x="416611" y="1187484"/>
            <a:ext cx="10968684"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Recommended Campaign Timeline</a:t>
            </a:r>
          </a:p>
        </p:txBody>
      </p:sp>
      <p:sp>
        <p:nvSpPr>
          <p:cNvPr id="46" name="TextBox 45">
            <a:extLst>
              <a:ext uri="{FF2B5EF4-FFF2-40B4-BE49-F238E27FC236}">
                <a16:creationId xmlns:a16="http://schemas.microsoft.com/office/drawing/2014/main" id="{D350C2CB-8E91-C069-781E-298DDCC883F9}"/>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4</a:t>
            </a:r>
          </a:p>
        </p:txBody>
      </p:sp>
      <p:graphicFrame>
        <p:nvGraphicFramePr>
          <p:cNvPr id="4" name="Diagram 3">
            <a:extLst>
              <a:ext uri="{FF2B5EF4-FFF2-40B4-BE49-F238E27FC236}">
                <a16:creationId xmlns:a16="http://schemas.microsoft.com/office/drawing/2014/main" id="{CA0B6C24-4B6F-5333-2A2E-8B8B7B664080}"/>
              </a:ext>
            </a:extLst>
          </p:cNvPr>
          <p:cNvGraphicFramePr/>
          <p:nvPr>
            <p:extLst>
              <p:ext uri="{D42A27DB-BD31-4B8C-83A1-F6EECF244321}">
                <p14:modId xmlns:p14="http://schemas.microsoft.com/office/powerpoint/2010/main" val="2127246928"/>
              </p:ext>
            </p:extLst>
          </p:nvPr>
        </p:nvGraphicFramePr>
        <p:xfrm>
          <a:off x="-132337" y="4271210"/>
          <a:ext cx="6228337" cy="10647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raphic 5" descr="Hourglass 60% with solid fill">
            <a:extLst>
              <a:ext uri="{FF2B5EF4-FFF2-40B4-BE49-F238E27FC236}">
                <a16:creationId xmlns:a16="http://schemas.microsoft.com/office/drawing/2014/main" id="{B2F66692-CF38-626F-C5FB-3AF2B5E9D278}"/>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66285" y="4488797"/>
            <a:ext cx="637674" cy="637674"/>
          </a:xfrm>
          <a:prstGeom prst="rect">
            <a:avLst/>
          </a:prstGeom>
        </p:spPr>
      </p:pic>
      <p:graphicFrame>
        <p:nvGraphicFramePr>
          <p:cNvPr id="8" name="Diagram 7">
            <a:extLst>
              <a:ext uri="{FF2B5EF4-FFF2-40B4-BE49-F238E27FC236}">
                <a16:creationId xmlns:a16="http://schemas.microsoft.com/office/drawing/2014/main" id="{F014042C-1A42-4EE5-7A78-DB1160AE784A}"/>
              </a:ext>
            </a:extLst>
          </p:cNvPr>
          <p:cNvGraphicFramePr/>
          <p:nvPr>
            <p:extLst>
              <p:ext uri="{D42A27DB-BD31-4B8C-83A1-F6EECF244321}">
                <p14:modId xmlns:p14="http://schemas.microsoft.com/office/powerpoint/2010/main" val="2230454475"/>
              </p:ext>
            </p:extLst>
          </p:nvPr>
        </p:nvGraphicFramePr>
        <p:xfrm>
          <a:off x="5560606" y="4271210"/>
          <a:ext cx="6483006" cy="106479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0" name="Graphic 9" descr="Presentation with pie chart with solid fill">
            <a:extLst>
              <a:ext uri="{FF2B5EF4-FFF2-40B4-BE49-F238E27FC236}">
                <a16:creationId xmlns:a16="http://schemas.microsoft.com/office/drawing/2014/main" id="{3600A707-96D6-E8BB-4FC2-F1C452DBDDCD}"/>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6628899" y="4481761"/>
            <a:ext cx="643690" cy="643690"/>
          </a:xfrm>
          <a:prstGeom prst="rect">
            <a:avLst/>
          </a:prstGeom>
        </p:spPr>
      </p:pic>
      <p:grpSp>
        <p:nvGrpSpPr>
          <p:cNvPr id="36" name="Group 35">
            <a:extLst>
              <a:ext uri="{FF2B5EF4-FFF2-40B4-BE49-F238E27FC236}">
                <a16:creationId xmlns:a16="http://schemas.microsoft.com/office/drawing/2014/main" id="{0128196E-41A4-BB14-50DF-6F4751842E6C}"/>
              </a:ext>
            </a:extLst>
          </p:cNvPr>
          <p:cNvGrpSpPr/>
          <p:nvPr/>
        </p:nvGrpSpPr>
        <p:grpSpPr>
          <a:xfrm>
            <a:off x="594447" y="1725093"/>
            <a:ext cx="11003105" cy="2244097"/>
            <a:chOff x="624603" y="1600200"/>
            <a:chExt cx="11003105" cy="2244097"/>
          </a:xfrm>
        </p:grpSpPr>
        <p:grpSp>
          <p:nvGrpSpPr>
            <p:cNvPr id="28" name="Group 27">
              <a:extLst>
                <a:ext uri="{FF2B5EF4-FFF2-40B4-BE49-F238E27FC236}">
                  <a16:creationId xmlns:a16="http://schemas.microsoft.com/office/drawing/2014/main" id="{B8DFCA4C-BA84-D7C0-DEBA-20E26E4EB7E1}"/>
                </a:ext>
              </a:extLst>
            </p:cNvPr>
            <p:cNvGrpSpPr/>
            <p:nvPr/>
          </p:nvGrpSpPr>
          <p:grpSpPr>
            <a:xfrm>
              <a:off x="806130" y="1922173"/>
              <a:ext cx="10299017" cy="1922124"/>
              <a:chOff x="776051" y="1741492"/>
              <a:chExt cx="10299017" cy="1922124"/>
            </a:xfrm>
          </p:grpSpPr>
          <p:graphicFrame>
            <p:nvGraphicFramePr>
              <p:cNvPr id="11" name="Diagram 10">
                <a:extLst>
                  <a:ext uri="{FF2B5EF4-FFF2-40B4-BE49-F238E27FC236}">
                    <a16:creationId xmlns:a16="http://schemas.microsoft.com/office/drawing/2014/main" id="{0B4243CC-11A1-DBC3-95EF-83B0BDA85DA7}"/>
                  </a:ext>
                </a:extLst>
              </p:cNvPr>
              <p:cNvGraphicFramePr/>
              <p:nvPr>
                <p:extLst>
                  <p:ext uri="{D42A27DB-BD31-4B8C-83A1-F6EECF244321}">
                    <p14:modId xmlns:p14="http://schemas.microsoft.com/office/powerpoint/2010/main" val="2647750393"/>
                  </p:ext>
                </p:extLst>
              </p:nvPr>
            </p:nvGraphicFramePr>
            <p:xfrm>
              <a:off x="776051" y="1741492"/>
              <a:ext cx="10299017" cy="1922124"/>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grpSp>
            <p:nvGrpSpPr>
              <p:cNvPr id="13" name="Group 12">
                <a:extLst>
                  <a:ext uri="{FF2B5EF4-FFF2-40B4-BE49-F238E27FC236}">
                    <a16:creationId xmlns:a16="http://schemas.microsoft.com/office/drawing/2014/main" id="{4E36D371-5412-FC50-40A0-A2E35CD72EFC}"/>
                  </a:ext>
                </a:extLst>
              </p:cNvPr>
              <p:cNvGrpSpPr/>
              <p:nvPr/>
            </p:nvGrpSpPr>
            <p:grpSpPr>
              <a:xfrm>
                <a:off x="1340716" y="2394962"/>
                <a:ext cx="575778" cy="557920"/>
                <a:chOff x="1397735" y="2463678"/>
                <a:chExt cx="575778" cy="557920"/>
              </a:xfrm>
            </p:grpSpPr>
            <p:sp>
              <p:nvSpPr>
                <p:cNvPr id="16" name="Oval 15">
                  <a:extLst>
                    <a:ext uri="{FF2B5EF4-FFF2-40B4-BE49-F238E27FC236}">
                      <a16:creationId xmlns:a16="http://schemas.microsoft.com/office/drawing/2014/main" id="{48FF417F-6A1A-937E-7BF8-BCE003AA640A}"/>
                    </a:ext>
                  </a:extLst>
                </p:cNvPr>
                <p:cNvSpPr/>
                <p:nvPr/>
              </p:nvSpPr>
              <p:spPr>
                <a:xfrm>
                  <a:off x="1397735" y="2463678"/>
                  <a:ext cx="575778" cy="557920"/>
                </a:xfrm>
                <a:prstGeom prst="ellipse">
                  <a:avLst/>
                </a:prstGeom>
                <a:solidFill>
                  <a:srgbClr val="3555BD"/>
                </a:solid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Group of people outline">
                  <a:extLst>
                    <a:ext uri="{FF2B5EF4-FFF2-40B4-BE49-F238E27FC236}">
                      <a16:creationId xmlns:a16="http://schemas.microsoft.com/office/drawing/2014/main" id="{2319D213-3BB7-5B9A-9774-531C93050BF5}"/>
                    </a:ext>
                  </a:extLst>
                </p:cNvPr>
                <p:cNvPicPr>
                  <a:picLocks noChangeAspect="1"/>
                </p:cNvPicPr>
                <p:nvPr/>
              </p:nvPicPr>
              <p:blipFill>
                <a:blip>
                  <a:extLst>
                    <a:ext uri="{96DAC541-7B7A-43D3-8B79-37D633B846F1}">
                      <asvg:svgBlip xmlns:asvg="http://schemas.microsoft.com/office/drawing/2016/SVG/main" r:embed="rId19"/>
                    </a:ext>
                  </a:extLst>
                </a:blip>
                <a:srcRect/>
                <a:stretch/>
              </p:blipFill>
              <p:spPr>
                <a:xfrm>
                  <a:off x="1469594" y="2468268"/>
                  <a:ext cx="469233" cy="469233"/>
                </a:xfrm>
                <a:prstGeom prst="rect">
                  <a:avLst/>
                </a:prstGeom>
              </p:spPr>
            </p:pic>
          </p:grpSp>
          <p:grpSp>
            <p:nvGrpSpPr>
              <p:cNvPr id="12" name="Group 11">
                <a:extLst>
                  <a:ext uri="{FF2B5EF4-FFF2-40B4-BE49-F238E27FC236}">
                    <a16:creationId xmlns:a16="http://schemas.microsoft.com/office/drawing/2014/main" id="{36E8FC3A-5CCD-2027-95F0-5A4E69599031}"/>
                  </a:ext>
                </a:extLst>
              </p:cNvPr>
              <p:cNvGrpSpPr/>
              <p:nvPr/>
            </p:nvGrpSpPr>
            <p:grpSpPr>
              <a:xfrm>
                <a:off x="3237964" y="2394962"/>
                <a:ext cx="575778" cy="557920"/>
                <a:chOff x="3237964" y="1989864"/>
                <a:chExt cx="575778" cy="557920"/>
              </a:xfrm>
            </p:grpSpPr>
            <p:sp>
              <p:nvSpPr>
                <p:cNvPr id="2" name="Oval 1">
                  <a:extLst>
                    <a:ext uri="{FF2B5EF4-FFF2-40B4-BE49-F238E27FC236}">
                      <a16:creationId xmlns:a16="http://schemas.microsoft.com/office/drawing/2014/main" id="{D8172BC5-076F-800F-5BE1-8406A517AC9A}"/>
                    </a:ext>
                  </a:extLst>
                </p:cNvPr>
                <p:cNvSpPr/>
                <p:nvPr/>
              </p:nvSpPr>
              <p:spPr>
                <a:xfrm>
                  <a:off x="3237964" y="1989864"/>
                  <a:ext cx="575778" cy="557920"/>
                </a:xfrm>
                <a:prstGeom prst="ellipse">
                  <a:avLst/>
                </a:prstGeom>
                <a:solidFill>
                  <a:srgbClr val="3555BD"/>
                </a:solid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Ui Ux outline">
                  <a:extLst>
                    <a:ext uri="{FF2B5EF4-FFF2-40B4-BE49-F238E27FC236}">
                      <a16:creationId xmlns:a16="http://schemas.microsoft.com/office/drawing/2014/main" id="{6DC7645D-0BC7-3E3A-C777-2C87414FB492}"/>
                    </a:ext>
                  </a:extLst>
                </p:cNvPr>
                <p:cNvPicPr>
                  <a:picLocks noChangeAspect="1"/>
                </p:cNvPicPr>
                <p:nvPr/>
              </p:nvPicPr>
              <p:blipFill>
                <a:blip>
                  <a:extLst>
                    <a:ext uri="{96DAC541-7B7A-43D3-8B79-37D633B846F1}">
                      <asvg:svgBlip xmlns:asvg="http://schemas.microsoft.com/office/drawing/2016/SVG/main" r:embed="rId20"/>
                    </a:ext>
                  </a:extLst>
                </a:blip>
                <a:srcRect/>
                <a:stretch/>
              </p:blipFill>
              <p:spPr>
                <a:xfrm>
                  <a:off x="3284057" y="2034207"/>
                  <a:ext cx="469233" cy="469233"/>
                </a:xfrm>
                <a:prstGeom prst="rect">
                  <a:avLst/>
                </a:prstGeom>
              </p:spPr>
            </p:pic>
          </p:grpSp>
          <p:grpSp>
            <p:nvGrpSpPr>
              <p:cNvPr id="14" name="Group 13">
                <a:extLst>
                  <a:ext uri="{FF2B5EF4-FFF2-40B4-BE49-F238E27FC236}">
                    <a16:creationId xmlns:a16="http://schemas.microsoft.com/office/drawing/2014/main" id="{2C78CF29-B48C-62C7-EA56-6FD9901D7E1F}"/>
                  </a:ext>
                </a:extLst>
              </p:cNvPr>
              <p:cNvGrpSpPr/>
              <p:nvPr/>
            </p:nvGrpSpPr>
            <p:grpSpPr>
              <a:xfrm>
                <a:off x="5169898" y="2394962"/>
                <a:ext cx="575778" cy="557920"/>
                <a:chOff x="5632114" y="2417276"/>
                <a:chExt cx="575778" cy="557920"/>
              </a:xfrm>
            </p:grpSpPr>
            <p:sp>
              <p:nvSpPr>
                <p:cNvPr id="3" name="Oval 2">
                  <a:extLst>
                    <a:ext uri="{FF2B5EF4-FFF2-40B4-BE49-F238E27FC236}">
                      <a16:creationId xmlns:a16="http://schemas.microsoft.com/office/drawing/2014/main" id="{1D856DDC-8455-D156-3354-EF41A9B505D1}"/>
                    </a:ext>
                  </a:extLst>
                </p:cNvPr>
                <p:cNvSpPr/>
                <p:nvPr/>
              </p:nvSpPr>
              <p:spPr>
                <a:xfrm>
                  <a:off x="5632114" y="2417276"/>
                  <a:ext cx="575778" cy="557920"/>
                </a:xfrm>
                <a:prstGeom prst="ellipse">
                  <a:avLst/>
                </a:prstGeom>
                <a:solidFill>
                  <a:srgbClr val="2F6673"/>
                </a:solidFill>
                <a:ln>
                  <a:solidFill>
                    <a:srgbClr val="2F6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Open envelope outline">
                  <a:extLst>
                    <a:ext uri="{FF2B5EF4-FFF2-40B4-BE49-F238E27FC236}">
                      <a16:creationId xmlns:a16="http://schemas.microsoft.com/office/drawing/2014/main" id="{A90D60FC-3307-A1D3-21A1-8A889797E381}"/>
                    </a:ext>
                  </a:extLst>
                </p:cNvPr>
                <p:cNvPicPr>
                  <a:picLocks noChangeAspect="1"/>
                </p:cNvPicPr>
                <p:nvPr/>
              </p:nvPicPr>
              <p:blipFill>
                <a:blip>
                  <a:extLst>
                    <a:ext uri="{96DAC541-7B7A-43D3-8B79-37D633B846F1}">
                      <asvg:svgBlip xmlns:asvg="http://schemas.microsoft.com/office/drawing/2016/SVG/main" r:embed="rId21"/>
                    </a:ext>
                  </a:extLst>
                </a:blip>
                <a:srcRect/>
                <a:stretch/>
              </p:blipFill>
              <p:spPr>
                <a:xfrm>
                  <a:off x="5690942" y="2441778"/>
                  <a:ext cx="469233" cy="469233"/>
                </a:xfrm>
                <a:prstGeom prst="rect">
                  <a:avLst/>
                </a:prstGeom>
              </p:spPr>
            </p:pic>
          </p:grpSp>
          <p:grpSp>
            <p:nvGrpSpPr>
              <p:cNvPr id="17" name="Group 16">
                <a:extLst>
                  <a:ext uri="{FF2B5EF4-FFF2-40B4-BE49-F238E27FC236}">
                    <a16:creationId xmlns:a16="http://schemas.microsoft.com/office/drawing/2014/main" id="{E8EE585A-6096-9091-CED5-37B430D0A7FD}"/>
                  </a:ext>
                </a:extLst>
              </p:cNvPr>
              <p:cNvGrpSpPr/>
              <p:nvPr/>
            </p:nvGrpSpPr>
            <p:grpSpPr>
              <a:xfrm>
                <a:off x="6950744" y="2394962"/>
                <a:ext cx="575778" cy="557920"/>
                <a:chOff x="7244818" y="2041826"/>
                <a:chExt cx="575778" cy="557920"/>
              </a:xfrm>
            </p:grpSpPr>
            <p:sp>
              <p:nvSpPr>
                <p:cNvPr id="5" name="Oval 4">
                  <a:extLst>
                    <a:ext uri="{FF2B5EF4-FFF2-40B4-BE49-F238E27FC236}">
                      <a16:creationId xmlns:a16="http://schemas.microsoft.com/office/drawing/2014/main" id="{86614795-E343-D612-A8F4-B1C4BCD0A1F1}"/>
                    </a:ext>
                  </a:extLst>
                </p:cNvPr>
                <p:cNvSpPr/>
                <p:nvPr/>
              </p:nvSpPr>
              <p:spPr>
                <a:xfrm>
                  <a:off x="7244818" y="2041826"/>
                  <a:ext cx="575778" cy="557920"/>
                </a:xfrm>
                <a:prstGeom prst="ellipse">
                  <a:avLst/>
                </a:prstGeom>
                <a:solidFill>
                  <a:srgbClr val="2F6673"/>
                </a:solidFill>
                <a:ln>
                  <a:solidFill>
                    <a:srgbClr val="2F6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c 24" descr="Internet outline">
                  <a:extLst>
                    <a:ext uri="{FF2B5EF4-FFF2-40B4-BE49-F238E27FC236}">
                      <a16:creationId xmlns:a16="http://schemas.microsoft.com/office/drawing/2014/main" id="{003C688C-6FF5-111F-C233-043DFF0B9CEE}"/>
                    </a:ext>
                  </a:extLst>
                </p:cNvPr>
                <p:cNvPicPr>
                  <a:picLocks noChangeAspect="1"/>
                </p:cNvPicPr>
                <p:nvPr/>
              </p:nvPicPr>
              <p:blipFill>
                <a:blip>
                  <a:extLst>
                    <a:ext uri="{96DAC541-7B7A-43D3-8B79-37D633B846F1}">
                      <asvg:svgBlip xmlns:asvg="http://schemas.microsoft.com/office/drawing/2016/SVG/main" r:embed="rId22"/>
                    </a:ext>
                  </a:extLst>
                </a:blip>
                <a:srcRect/>
                <a:stretch/>
              </p:blipFill>
              <p:spPr>
                <a:xfrm>
                  <a:off x="7298090" y="2060503"/>
                  <a:ext cx="469233" cy="469233"/>
                </a:xfrm>
                <a:prstGeom prst="rect">
                  <a:avLst/>
                </a:prstGeom>
              </p:spPr>
            </p:pic>
          </p:grpSp>
          <p:grpSp>
            <p:nvGrpSpPr>
              <p:cNvPr id="18" name="Group 17">
                <a:extLst>
                  <a:ext uri="{FF2B5EF4-FFF2-40B4-BE49-F238E27FC236}">
                    <a16:creationId xmlns:a16="http://schemas.microsoft.com/office/drawing/2014/main" id="{9E598D1D-6454-CB31-CD24-89CBE633377A}"/>
                  </a:ext>
                </a:extLst>
              </p:cNvPr>
              <p:cNvGrpSpPr/>
              <p:nvPr/>
            </p:nvGrpSpPr>
            <p:grpSpPr>
              <a:xfrm>
                <a:off x="8882678" y="2394611"/>
                <a:ext cx="575778" cy="558622"/>
                <a:chOff x="10664455" y="1675774"/>
                <a:chExt cx="575778" cy="558622"/>
              </a:xfrm>
            </p:grpSpPr>
            <p:sp>
              <p:nvSpPr>
                <p:cNvPr id="9" name="Oval 8">
                  <a:extLst>
                    <a:ext uri="{FF2B5EF4-FFF2-40B4-BE49-F238E27FC236}">
                      <a16:creationId xmlns:a16="http://schemas.microsoft.com/office/drawing/2014/main" id="{7A3179CB-3D7E-D542-E8B6-5ED35D33613E}"/>
                    </a:ext>
                  </a:extLst>
                </p:cNvPr>
                <p:cNvSpPr/>
                <p:nvPr/>
              </p:nvSpPr>
              <p:spPr>
                <a:xfrm>
                  <a:off x="10664455" y="1676476"/>
                  <a:ext cx="575778" cy="557920"/>
                </a:xfrm>
                <a:prstGeom prst="ellipse">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descr="Signal outline">
                  <a:extLst>
                    <a:ext uri="{FF2B5EF4-FFF2-40B4-BE49-F238E27FC236}">
                      <a16:creationId xmlns:a16="http://schemas.microsoft.com/office/drawing/2014/main" id="{08B691CF-CD85-6EC2-3A95-377F1C83C533}"/>
                    </a:ext>
                  </a:extLst>
                </p:cNvPr>
                <p:cNvPicPr>
                  <a:picLocks noChangeAspect="1"/>
                </p:cNvPicPr>
                <p:nvPr/>
              </p:nvPicPr>
              <p:blipFill>
                <a:blip>
                  <a:extLst>
                    <a:ext uri="{96DAC541-7B7A-43D3-8B79-37D633B846F1}">
                      <asvg:svgBlip xmlns:asvg="http://schemas.microsoft.com/office/drawing/2016/SVG/main" r:embed="rId23"/>
                    </a:ext>
                  </a:extLst>
                </a:blip>
                <a:srcRect/>
                <a:stretch/>
              </p:blipFill>
              <p:spPr>
                <a:xfrm>
                  <a:off x="10688417" y="1675774"/>
                  <a:ext cx="469233" cy="469233"/>
                </a:xfrm>
                <a:prstGeom prst="rect">
                  <a:avLst/>
                </a:prstGeom>
              </p:spPr>
            </p:pic>
          </p:grpSp>
        </p:grpSp>
        <p:sp>
          <p:nvSpPr>
            <p:cNvPr id="27" name="Rectangle 26">
              <a:extLst>
                <a:ext uri="{FF2B5EF4-FFF2-40B4-BE49-F238E27FC236}">
                  <a16:creationId xmlns:a16="http://schemas.microsoft.com/office/drawing/2014/main" id="{BA801E05-6E99-C57B-8482-78305E69F1F9}"/>
                </a:ext>
              </a:extLst>
            </p:cNvPr>
            <p:cNvSpPr/>
            <p:nvPr/>
          </p:nvSpPr>
          <p:spPr>
            <a:xfrm>
              <a:off x="624603" y="1600200"/>
              <a:ext cx="4000500" cy="2177716"/>
            </a:xfrm>
            <a:prstGeom prst="rect">
              <a:avLst/>
            </a:prstGeom>
            <a:noFill/>
            <a:ln>
              <a:solidFill>
                <a:srgbClr val="BAC6EC"/>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F30CA14-52D9-9C88-AC9E-EA2876D6019A}"/>
                </a:ext>
              </a:extLst>
            </p:cNvPr>
            <p:cNvSpPr txBox="1"/>
            <p:nvPr/>
          </p:nvSpPr>
          <p:spPr>
            <a:xfrm>
              <a:off x="624603" y="1612101"/>
              <a:ext cx="3974610" cy="246221"/>
            </a:xfrm>
            <a:prstGeom prst="rect">
              <a:avLst/>
            </a:prstGeom>
            <a:noFill/>
          </p:spPr>
          <p:txBody>
            <a:bodyPr wrap="square" rtlCol="0">
              <a:spAutoFit/>
            </a:bodyPr>
            <a:lstStyle/>
            <a:p>
              <a:pPr>
                <a:spcAft>
                  <a:spcPts val="1200"/>
                </a:spcAft>
              </a:pPr>
              <a:r>
                <a:rPr lang="en-US" sz="1000" dirty="0">
                  <a:solidFill>
                    <a:srgbClr val="3555BD"/>
                  </a:solidFill>
                  <a:latin typeface="Montserrat SemiBold" panose="00000700000000000000" pitchFamily="2" charset="0"/>
                </a:rPr>
                <a:t>Typical Implementation: 2-6 weeks</a:t>
              </a:r>
            </a:p>
          </p:txBody>
        </p:sp>
        <p:sp>
          <p:nvSpPr>
            <p:cNvPr id="30" name="TextBox 29">
              <a:extLst>
                <a:ext uri="{FF2B5EF4-FFF2-40B4-BE49-F238E27FC236}">
                  <a16:creationId xmlns:a16="http://schemas.microsoft.com/office/drawing/2014/main" id="{52E8A35E-582B-294B-FD16-B4FE0FB930AB}"/>
                </a:ext>
              </a:extLst>
            </p:cNvPr>
            <p:cNvSpPr txBox="1"/>
            <p:nvPr/>
          </p:nvSpPr>
          <p:spPr>
            <a:xfrm>
              <a:off x="5405567" y="2687945"/>
              <a:ext cx="1948722" cy="400110"/>
            </a:xfrm>
            <a:prstGeom prst="rect">
              <a:avLst/>
            </a:prstGeom>
            <a:noFill/>
          </p:spPr>
          <p:txBody>
            <a:bodyPr wrap="square" rtlCol="0">
              <a:spAutoFit/>
            </a:bodyPr>
            <a:lstStyle/>
            <a:p>
              <a:pPr algn="ctr"/>
              <a:r>
                <a:rPr lang="en-US" sz="1000" dirty="0">
                  <a:solidFill>
                    <a:srgbClr val="2F6673"/>
                  </a:solidFill>
                  <a:latin typeface="Montserrat SemiBold" panose="00000700000000000000" pitchFamily="2" charset="0"/>
                </a:rPr>
                <a:t>7 days after </a:t>
              </a:r>
            </a:p>
            <a:p>
              <a:pPr algn="ctr"/>
              <a:r>
                <a:rPr lang="en-US" sz="1000" dirty="0">
                  <a:solidFill>
                    <a:srgbClr val="2F6673"/>
                  </a:solidFill>
                  <a:latin typeface="Montserrat SemiBold" panose="00000700000000000000" pitchFamily="2" charset="0"/>
                </a:rPr>
                <a:t>Direct Mail</a:t>
              </a:r>
            </a:p>
          </p:txBody>
        </p:sp>
        <p:sp>
          <p:nvSpPr>
            <p:cNvPr id="32" name="Rectangle 31">
              <a:extLst>
                <a:ext uri="{FF2B5EF4-FFF2-40B4-BE49-F238E27FC236}">
                  <a16:creationId xmlns:a16="http://schemas.microsoft.com/office/drawing/2014/main" id="{2041AC1A-EA10-6922-29C7-2AA6EA6EF285}"/>
                </a:ext>
              </a:extLst>
            </p:cNvPr>
            <p:cNvSpPr/>
            <p:nvPr/>
          </p:nvSpPr>
          <p:spPr>
            <a:xfrm>
              <a:off x="4884820" y="1613616"/>
              <a:ext cx="3246655" cy="2177716"/>
            </a:xfrm>
            <a:prstGeom prst="rect">
              <a:avLst/>
            </a:prstGeom>
            <a:noFill/>
            <a:ln>
              <a:solidFill>
                <a:srgbClr val="80BCCA">
                  <a:alpha val="61176"/>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7C0D1BE-A497-51C5-D5DA-9DA5EFF88B46}"/>
                </a:ext>
              </a:extLst>
            </p:cNvPr>
            <p:cNvSpPr txBox="1"/>
            <p:nvPr/>
          </p:nvSpPr>
          <p:spPr>
            <a:xfrm>
              <a:off x="4864230" y="1619801"/>
              <a:ext cx="3246655" cy="400110"/>
            </a:xfrm>
            <a:prstGeom prst="rect">
              <a:avLst/>
            </a:prstGeom>
            <a:noFill/>
          </p:spPr>
          <p:txBody>
            <a:bodyPr wrap="square" rtlCol="0">
              <a:spAutoFit/>
            </a:bodyPr>
            <a:lstStyle/>
            <a:p>
              <a:pPr>
                <a:spcAft>
                  <a:spcPts val="1200"/>
                </a:spcAft>
              </a:pPr>
              <a:r>
                <a:rPr lang="en-US" sz="1000" dirty="0">
                  <a:solidFill>
                    <a:srgbClr val="2F6673"/>
                  </a:solidFill>
                  <a:latin typeface="Montserrat SemiBold" panose="00000700000000000000" pitchFamily="2" charset="0"/>
                </a:rPr>
                <a:t>Typical Campaign Duration: {{</a:t>
              </a:r>
              <a:r>
                <a:rPr lang="en-US" sz="1000" dirty="0" err="1">
                  <a:solidFill>
                    <a:srgbClr val="2F6673"/>
                  </a:solidFill>
                  <a:latin typeface="Montserrat SemiBold" panose="00000700000000000000" pitchFamily="2" charset="0"/>
                </a:rPr>
                <a:t>campaign_weeks</a:t>
              </a:r>
              <a:r>
                <a:rPr lang="en-US" sz="1000" dirty="0">
                  <a:solidFill>
                    <a:srgbClr val="2F6673"/>
                  </a:solidFill>
                  <a:latin typeface="Montserrat SemiBold" panose="00000700000000000000" pitchFamily="2" charset="0"/>
                </a:rPr>
                <a:t>}} weeks</a:t>
              </a:r>
            </a:p>
          </p:txBody>
        </p:sp>
        <p:sp>
          <p:nvSpPr>
            <p:cNvPr id="34" name="Rectangle 33">
              <a:extLst>
                <a:ext uri="{FF2B5EF4-FFF2-40B4-BE49-F238E27FC236}">
                  <a16:creationId xmlns:a16="http://schemas.microsoft.com/office/drawing/2014/main" id="{FBADA075-A1CE-79C6-A044-18D7336EA5B0}"/>
                </a:ext>
              </a:extLst>
            </p:cNvPr>
            <p:cNvSpPr/>
            <p:nvPr/>
          </p:nvSpPr>
          <p:spPr>
            <a:xfrm>
              <a:off x="8381053" y="1613616"/>
              <a:ext cx="3246655" cy="2177716"/>
            </a:xfrm>
            <a:prstGeom prst="rect">
              <a:avLst/>
            </a:prstGeom>
            <a:noFill/>
            <a:ln>
              <a:solidFill>
                <a:srgbClr val="002E8A">
                  <a:alpha val="27843"/>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71567FD0-6FEF-B57F-C1D5-7031222AB532}"/>
                </a:ext>
              </a:extLst>
            </p:cNvPr>
            <p:cNvSpPr txBox="1"/>
            <p:nvPr/>
          </p:nvSpPr>
          <p:spPr>
            <a:xfrm>
              <a:off x="8360463" y="1619801"/>
              <a:ext cx="3246655" cy="400110"/>
            </a:xfrm>
            <a:prstGeom prst="rect">
              <a:avLst/>
            </a:prstGeom>
            <a:noFill/>
          </p:spPr>
          <p:txBody>
            <a:bodyPr wrap="square" rtlCol="0">
              <a:spAutoFit/>
            </a:bodyPr>
            <a:lstStyle/>
            <a:p>
              <a:pPr>
                <a:spcAft>
                  <a:spcPts val="1200"/>
                </a:spcAft>
              </a:pPr>
              <a:r>
                <a:rPr lang="en-US" sz="1000" dirty="0">
                  <a:solidFill>
                    <a:srgbClr val="002060"/>
                  </a:solidFill>
                  <a:latin typeface="Montserrat SemiBold" panose="00000700000000000000" pitchFamily="2" charset="0"/>
                </a:rPr>
                <a:t>Results Analysis Delivery: 1-2 weeks after campaign end date</a:t>
              </a:r>
            </a:p>
          </p:txBody>
        </p:sp>
      </p:grpSp>
      <p:sp>
        <p:nvSpPr>
          <p:cNvPr id="19" name="TextBox 18">
            <a:extLst>
              <a:ext uri="{FF2B5EF4-FFF2-40B4-BE49-F238E27FC236}">
                <a16:creationId xmlns:a16="http://schemas.microsoft.com/office/drawing/2014/main" id="{09BBC5BC-7B7B-A750-E498-5ACFF1A69A6C}"/>
              </a:ext>
            </a:extLst>
          </p:cNvPr>
          <p:cNvSpPr txBox="1"/>
          <p:nvPr/>
        </p:nvSpPr>
        <p:spPr>
          <a:xfrm>
            <a:off x="1746946" y="4521391"/>
            <a:ext cx="3543300" cy="646331"/>
          </a:xfrm>
          <a:prstGeom prst="rect">
            <a:avLst/>
          </a:prstGeom>
          <a:noFill/>
        </p:spPr>
        <p:txBody>
          <a:bodyPr wrap="square" rtlCol="0">
            <a:spAutoFit/>
          </a:bodyPr>
          <a:lstStyle/>
          <a:p>
            <a:r>
              <a:rPr lang="en-US" sz="900" dirty="0">
                <a:latin typeface="Montserrat SemiBold" panose="00000700000000000000" pitchFamily="2" charset="0"/>
              </a:rPr>
              <a:t>The recommended campaign duration is approximately {{</a:t>
            </a:r>
            <a:r>
              <a:rPr lang="en-US" sz="900" dirty="0" err="1">
                <a:latin typeface="Montserrat SemiBold" panose="00000700000000000000" pitchFamily="2" charset="0"/>
              </a:rPr>
              <a:t>campaign_weeks</a:t>
            </a:r>
            <a:r>
              <a:rPr lang="en-US" sz="900" dirty="0">
                <a:latin typeface="Montserrat SemiBold" panose="00000700000000000000" pitchFamily="2" charset="0"/>
              </a:rPr>
              <a:t>}} weeks from the initial mail date, allowing sufficient time for response and engagement.</a:t>
            </a:r>
          </a:p>
          <a:p>
            <a:endParaRPr lang="en-US" sz="900" dirty="0"/>
          </a:p>
        </p:txBody>
      </p:sp>
    </p:spTree>
    <p:extLst>
      <p:ext uri="{BB962C8B-B14F-4D97-AF65-F5344CB8AC3E}">
        <p14:creationId xmlns:p14="http://schemas.microsoft.com/office/powerpoint/2010/main" val="3372573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E95CD-0BC5-AC03-28C5-3ED908198226}"/>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D48DEE28-0C1F-D960-99D8-51036380CA60}"/>
              </a:ext>
            </a:extLst>
          </p:cNvPr>
          <p:cNvGrpSpPr/>
          <p:nvPr/>
        </p:nvGrpSpPr>
        <p:grpSpPr>
          <a:xfrm>
            <a:off x="9415426" y="1861552"/>
            <a:ext cx="1987808" cy="2800685"/>
            <a:chOff x="6470392" y="1606214"/>
            <a:chExt cx="3146261" cy="3170320"/>
          </a:xfrm>
        </p:grpSpPr>
        <p:sp>
          <p:nvSpPr>
            <p:cNvPr id="27" name="Rectangle: Rounded Corners 26">
              <a:extLst>
                <a:ext uri="{FF2B5EF4-FFF2-40B4-BE49-F238E27FC236}">
                  <a16:creationId xmlns:a16="http://schemas.microsoft.com/office/drawing/2014/main" id="{87D8CF28-4953-4D6E-C9A8-822C5A9F9CD0}"/>
                </a:ext>
              </a:extLst>
            </p:cNvPr>
            <p:cNvSpPr/>
            <p:nvPr/>
          </p:nvSpPr>
          <p:spPr>
            <a:xfrm>
              <a:off x="6470394" y="1606215"/>
              <a:ext cx="3146259" cy="3170319"/>
            </a:xfrm>
            <a:prstGeom prst="roundRect">
              <a:avLst>
                <a:gd name="adj" fmla="val 5708"/>
              </a:avLst>
            </a:prstGeom>
            <a:no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Top Corners Rounded 27">
              <a:extLst>
                <a:ext uri="{FF2B5EF4-FFF2-40B4-BE49-F238E27FC236}">
                  <a16:creationId xmlns:a16="http://schemas.microsoft.com/office/drawing/2014/main" id="{EF09A4A7-2D70-A422-6701-BF916B0AF6CF}"/>
                </a:ext>
              </a:extLst>
            </p:cNvPr>
            <p:cNvSpPr/>
            <p:nvPr/>
          </p:nvSpPr>
          <p:spPr>
            <a:xfrm>
              <a:off x="6470392" y="1606214"/>
              <a:ext cx="3146259" cy="272943"/>
            </a:xfrm>
            <a:prstGeom prst="round2SameRect">
              <a:avLst/>
            </a:prstGeom>
            <a:solidFill>
              <a:srgbClr val="3555BD"/>
            </a:solid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a:extLst>
              <a:ext uri="{FF2B5EF4-FFF2-40B4-BE49-F238E27FC236}">
                <a16:creationId xmlns:a16="http://schemas.microsoft.com/office/drawing/2014/main" id="{85241B94-FB82-AC46-4E60-6BAF71D42EF9}"/>
              </a:ext>
            </a:extLst>
          </p:cNvPr>
          <p:cNvSpPr txBox="1"/>
          <p:nvPr/>
        </p:nvSpPr>
        <p:spPr>
          <a:xfrm>
            <a:off x="9415423" y="1879648"/>
            <a:ext cx="1987808" cy="215444"/>
          </a:xfrm>
          <a:prstGeom prst="rect">
            <a:avLst/>
          </a:prstGeom>
          <a:noFill/>
        </p:spPr>
        <p:txBody>
          <a:bodyPr wrap="square" numCol="1" rtlCol="0">
            <a:spAutoFit/>
          </a:bodyPr>
          <a:lstStyle/>
          <a:p>
            <a:pPr algn="ctr">
              <a:spcAft>
                <a:spcPts val="1200"/>
              </a:spcAft>
            </a:pPr>
            <a:r>
              <a:rPr lang="en-US" sz="800" dirty="0">
                <a:solidFill>
                  <a:schemeClr val="bg1"/>
                </a:solidFill>
                <a:latin typeface="Montserrat SemiBold" panose="00000700000000000000" pitchFamily="2" charset="0"/>
              </a:rPr>
              <a:t>BEST VALUE</a:t>
            </a:r>
          </a:p>
        </p:txBody>
      </p:sp>
      <p:grpSp>
        <p:nvGrpSpPr>
          <p:cNvPr id="13" name="Group 12">
            <a:extLst>
              <a:ext uri="{FF2B5EF4-FFF2-40B4-BE49-F238E27FC236}">
                <a16:creationId xmlns:a16="http://schemas.microsoft.com/office/drawing/2014/main" id="{CEAAEEC2-5E4D-1E8A-6958-A29CA7B4D66D}"/>
              </a:ext>
            </a:extLst>
          </p:cNvPr>
          <p:cNvGrpSpPr/>
          <p:nvPr/>
        </p:nvGrpSpPr>
        <p:grpSpPr>
          <a:xfrm>
            <a:off x="4363453" y="1861552"/>
            <a:ext cx="1987808" cy="2800685"/>
            <a:chOff x="6470392" y="1606214"/>
            <a:chExt cx="3146261" cy="3170320"/>
          </a:xfrm>
        </p:grpSpPr>
        <p:sp>
          <p:nvSpPr>
            <p:cNvPr id="14" name="Rectangle: Rounded Corners 13">
              <a:extLst>
                <a:ext uri="{FF2B5EF4-FFF2-40B4-BE49-F238E27FC236}">
                  <a16:creationId xmlns:a16="http://schemas.microsoft.com/office/drawing/2014/main" id="{D131C068-AEA5-F6AD-026F-03F56DC4D763}"/>
                </a:ext>
              </a:extLst>
            </p:cNvPr>
            <p:cNvSpPr/>
            <p:nvPr/>
          </p:nvSpPr>
          <p:spPr>
            <a:xfrm>
              <a:off x="6470394" y="1606215"/>
              <a:ext cx="3146259" cy="3170319"/>
            </a:xfrm>
            <a:prstGeom prst="roundRect">
              <a:avLst>
                <a:gd name="adj" fmla="val 5708"/>
              </a:avLst>
            </a:prstGeom>
            <a:noFill/>
            <a:ln>
              <a:solidFill>
                <a:srgbClr val="2F6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Top Corners Rounded 14">
              <a:extLst>
                <a:ext uri="{FF2B5EF4-FFF2-40B4-BE49-F238E27FC236}">
                  <a16:creationId xmlns:a16="http://schemas.microsoft.com/office/drawing/2014/main" id="{249FAA3E-498A-E546-B6AA-D5865081170F}"/>
                </a:ext>
              </a:extLst>
            </p:cNvPr>
            <p:cNvSpPr/>
            <p:nvPr/>
          </p:nvSpPr>
          <p:spPr>
            <a:xfrm>
              <a:off x="6470392" y="1606214"/>
              <a:ext cx="3146259" cy="276494"/>
            </a:xfrm>
            <a:prstGeom prst="round2SameRect">
              <a:avLst/>
            </a:prstGeom>
            <a:solidFill>
              <a:srgbClr val="2F667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a:extLst>
              <a:ext uri="{FF2B5EF4-FFF2-40B4-BE49-F238E27FC236}">
                <a16:creationId xmlns:a16="http://schemas.microsoft.com/office/drawing/2014/main" id="{368457DA-E6C7-5DC8-6308-472D8A856067}"/>
              </a:ext>
            </a:extLst>
          </p:cNvPr>
          <p:cNvSpPr txBox="1"/>
          <p:nvPr/>
        </p:nvSpPr>
        <p:spPr>
          <a:xfrm>
            <a:off x="4363451" y="1890365"/>
            <a:ext cx="1987808" cy="215444"/>
          </a:xfrm>
          <a:prstGeom prst="rect">
            <a:avLst/>
          </a:prstGeom>
          <a:noFill/>
        </p:spPr>
        <p:txBody>
          <a:bodyPr wrap="square" numCol="1" rtlCol="0">
            <a:spAutoFit/>
          </a:bodyPr>
          <a:lstStyle/>
          <a:p>
            <a:pPr algn="ctr">
              <a:spcAft>
                <a:spcPts val="1200"/>
              </a:spcAft>
            </a:pPr>
            <a:r>
              <a:rPr lang="en-US" sz="800" dirty="0">
                <a:solidFill>
                  <a:schemeClr val="bg1"/>
                </a:solidFill>
                <a:latin typeface="Montserrat SemiBold" panose="00000700000000000000" pitchFamily="2" charset="0"/>
              </a:rPr>
              <a:t>STARTER OPTION</a:t>
            </a:r>
          </a:p>
        </p:txBody>
      </p:sp>
      <p:grpSp>
        <p:nvGrpSpPr>
          <p:cNvPr id="19" name="Group 18">
            <a:extLst>
              <a:ext uri="{FF2B5EF4-FFF2-40B4-BE49-F238E27FC236}">
                <a16:creationId xmlns:a16="http://schemas.microsoft.com/office/drawing/2014/main" id="{23DE3E82-82D7-9A68-D462-3364932E33C4}"/>
              </a:ext>
            </a:extLst>
          </p:cNvPr>
          <p:cNvGrpSpPr/>
          <p:nvPr/>
        </p:nvGrpSpPr>
        <p:grpSpPr>
          <a:xfrm>
            <a:off x="6889441" y="1864689"/>
            <a:ext cx="1987808" cy="2800685"/>
            <a:chOff x="6470392" y="1606214"/>
            <a:chExt cx="3146261" cy="3170320"/>
          </a:xfrm>
        </p:grpSpPr>
        <p:sp>
          <p:nvSpPr>
            <p:cNvPr id="20" name="Rectangle: Rounded Corners 19">
              <a:extLst>
                <a:ext uri="{FF2B5EF4-FFF2-40B4-BE49-F238E27FC236}">
                  <a16:creationId xmlns:a16="http://schemas.microsoft.com/office/drawing/2014/main" id="{7D985B59-CDDA-8D43-2C98-3571960D6C62}"/>
                </a:ext>
              </a:extLst>
            </p:cNvPr>
            <p:cNvSpPr/>
            <p:nvPr/>
          </p:nvSpPr>
          <p:spPr>
            <a:xfrm>
              <a:off x="6470394" y="1606215"/>
              <a:ext cx="3146259" cy="3170319"/>
            </a:xfrm>
            <a:prstGeom prst="roundRect">
              <a:avLst>
                <a:gd name="adj" fmla="val 5708"/>
              </a:avLst>
            </a:prstGeom>
            <a:noFill/>
            <a:ln>
              <a:solidFill>
                <a:srgbClr val="76BD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Top Corners Rounded 20">
              <a:extLst>
                <a:ext uri="{FF2B5EF4-FFF2-40B4-BE49-F238E27FC236}">
                  <a16:creationId xmlns:a16="http://schemas.microsoft.com/office/drawing/2014/main" id="{7EFCCF72-3B55-3BA5-779C-65F3901AFDC2}"/>
                </a:ext>
              </a:extLst>
            </p:cNvPr>
            <p:cNvSpPr/>
            <p:nvPr/>
          </p:nvSpPr>
          <p:spPr>
            <a:xfrm>
              <a:off x="6470392" y="1606214"/>
              <a:ext cx="3146259" cy="272943"/>
            </a:xfrm>
            <a:prstGeom prst="round2SameRect">
              <a:avLst/>
            </a:prstGeom>
            <a:solidFill>
              <a:srgbClr val="76BD22"/>
            </a:solidFill>
            <a:ln>
              <a:solidFill>
                <a:srgbClr val="76BD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3A3E6D60-0077-368C-2089-FD2C636CB123}"/>
              </a:ext>
            </a:extLst>
          </p:cNvPr>
          <p:cNvSpPr txBox="1"/>
          <p:nvPr/>
        </p:nvSpPr>
        <p:spPr>
          <a:xfrm>
            <a:off x="6889438" y="1882785"/>
            <a:ext cx="1987808" cy="215444"/>
          </a:xfrm>
          <a:prstGeom prst="rect">
            <a:avLst/>
          </a:prstGeom>
          <a:noFill/>
        </p:spPr>
        <p:txBody>
          <a:bodyPr wrap="square" numCol="1" rtlCol="0">
            <a:spAutoFit/>
          </a:bodyPr>
          <a:lstStyle/>
          <a:p>
            <a:pPr algn="ctr">
              <a:spcAft>
                <a:spcPts val="1200"/>
              </a:spcAft>
            </a:pPr>
            <a:r>
              <a:rPr lang="en-US" sz="800" dirty="0">
                <a:solidFill>
                  <a:schemeClr val="bg1"/>
                </a:solidFill>
                <a:latin typeface="Montserrat SemiBold" panose="00000700000000000000" pitchFamily="2" charset="0"/>
              </a:rPr>
              <a:t>MOST POPULAR</a:t>
            </a:r>
          </a:p>
        </p:txBody>
      </p:sp>
      <p:sp>
        <p:nvSpPr>
          <p:cNvPr id="7" name="TextBox 6">
            <a:extLst>
              <a:ext uri="{FF2B5EF4-FFF2-40B4-BE49-F238E27FC236}">
                <a16:creationId xmlns:a16="http://schemas.microsoft.com/office/drawing/2014/main" id="{2A95E8D9-9758-A716-978B-4CB6A9E3D73E}"/>
              </a:ext>
            </a:extLst>
          </p:cNvPr>
          <p:cNvSpPr txBox="1"/>
          <p:nvPr/>
        </p:nvSpPr>
        <p:spPr>
          <a:xfrm>
            <a:off x="416611" y="1257787"/>
            <a:ext cx="4768999"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Campaign Components</a:t>
            </a:r>
          </a:p>
        </p:txBody>
      </p:sp>
      <p:sp>
        <p:nvSpPr>
          <p:cNvPr id="46" name="TextBox 45">
            <a:extLst>
              <a:ext uri="{FF2B5EF4-FFF2-40B4-BE49-F238E27FC236}">
                <a16:creationId xmlns:a16="http://schemas.microsoft.com/office/drawing/2014/main" id="{2DAC2BE2-5C14-36E7-EDEB-A75B13EAA61A}"/>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5</a:t>
            </a:r>
          </a:p>
        </p:txBody>
      </p:sp>
      <p:sp>
        <p:nvSpPr>
          <p:cNvPr id="9" name="TextBox 8">
            <a:extLst>
              <a:ext uri="{FF2B5EF4-FFF2-40B4-BE49-F238E27FC236}">
                <a16:creationId xmlns:a16="http://schemas.microsoft.com/office/drawing/2014/main" id="{6C2E6B76-7533-4FAD-A663-48E12015CDE8}"/>
              </a:ext>
            </a:extLst>
          </p:cNvPr>
          <p:cNvSpPr txBox="1"/>
          <p:nvPr/>
        </p:nvSpPr>
        <p:spPr>
          <a:xfrm>
            <a:off x="416611" y="1810826"/>
            <a:ext cx="3289112" cy="230832"/>
          </a:xfrm>
          <a:prstGeom prst="rect">
            <a:avLst/>
          </a:prstGeom>
          <a:noFill/>
        </p:spPr>
        <p:txBody>
          <a:bodyPr wrap="square" rtlCol="0">
            <a:spAutoFit/>
          </a:bodyPr>
          <a:lstStyle/>
          <a:p>
            <a:r>
              <a:rPr lang="en-US" sz="900" dirty="0">
                <a:latin typeface="Montserrat SemiBold" panose="00000700000000000000" pitchFamily="2" charset="0"/>
              </a:rPr>
              <a:t>{{</a:t>
            </a:r>
            <a:r>
              <a:rPr lang="en-US" sz="900" dirty="0" err="1">
                <a:latin typeface="Montserrat SemiBold" panose="00000700000000000000" pitchFamily="2" charset="0"/>
              </a:rPr>
              <a:t>campaign_components</a:t>
            </a:r>
            <a:r>
              <a:rPr lang="en-US" sz="900" dirty="0">
                <a:latin typeface="Montserrat SemiBold" panose="00000700000000000000" pitchFamily="2" charset="0"/>
              </a:rPr>
              <a:t>}}</a:t>
            </a:r>
          </a:p>
        </p:txBody>
      </p:sp>
      <p:cxnSp>
        <p:nvCxnSpPr>
          <p:cNvPr id="12" name="Straight Connector 11">
            <a:extLst>
              <a:ext uri="{FF2B5EF4-FFF2-40B4-BE49-F238E27FC236}">
                <a16:creationId xmlns:a16="http://schemas.microsoft.com/office/drawing/2014/main" id="{7957573B-765A-F3B8-3653-C32D6B8EDE6E}"/>
              </a:ext>
            </a:extLst>
          </p:cNvPr>
          <p:cNvCxnSpPr>
            <a:cxnSpLocks/>
          </p:cNvCxnSpPr>
          <p:nvPr/>
        </p:nvCxnSpPr>
        <p:spPr>
          <a:xfrm>
            <a:off x="3904246" y="1682194"/>
            <a:ext cx="0" cy="3970422"/>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ABCF25A-DC26-753C-070A-B78AA1A2E6F9}"/>
              </a:ext>
            </a:extLst>
          </p:cNvPr>
          <p:cNvSpPr txBox="1"/>
          <p:nvPr/>
        </p:nvSpPr>
        <p:spPr>
          <a:xfrm>
            <a:off x="4363453" y="2973977"/>
            <a:ext cx="1987809" cy="661720"/>
          </a:xfrm>
          <a:prstGeom prst="rect">
            <a:avLst/>
          </a:prstGeom>
          <a:noFill/>
        </p:spPr>
        <p:txBody>
          <a:bodyPr wrap="square" numCol="1" rtlCol="0">
            <a:spAutoFit/>
          </a:bodyPr>
          <a:lstStyle/>
          <a:p>
            <a:pPr algn="ctr">
              <a:spcAft>
                <a:spcPts val="300"/>
              </a:spcAft>
            </a:pPr>
            <a:r>
              <a:rPr lang="en-US" sz="1000" dirty="0">
                <a:latin typeface="Montserrat SemiBold" panose="00000700000000000000" pitchFamily="2" charset="0"/>
              </a:rPr>
              <a:t>Estimate based on</a:t>
            </a:r>
          </a:p>
          <a:p>
            <a:pPr algn="ctr">
              <a:spcAft>
                <a:spcPts val="300"/>
              </a:spcAft>
            </a:pPr>
            <a:r>
              <a:rPr lang="en-US" sz="1200" dirty="0">
                <a:solidFill>
                  <a:srgbClr val="3C8394"/>
                </a:solidFill>
                <a:latin typeface="Montserrat SemiBold" panose="00000700000000000000" pitchFamily="2" charset="0"/>
              </a:rPr>
              <a:t>{{</a:t>
            </a:r>
            <a:r>
              <a:rPr lang="en-US" sz="1200" dirty="0" err="1">
                <a:solidFill>
                  <a:srgbClr val="3C8394"/>
                </a:solidFill>
                <a:latin typeface="Montserrat SemiBold" panose="00000700000000000000" pitchFamily="2" charset="0"/>
              </a:rPr>
              <a:t>total_targets</a:t>
            </a:r>
            <a:r>
              <a:rPr lang="en-US" sz="1200" dirty="0">
                <a:solidFill>
                  <a:srgbClr val="3C8394"/>
                </a:solidFill>
                <a:latin typeface="Montserrat SemiBold" panose="00000700000000000000" pitchFamily="2" charset="0"/>
              </a:rPr>
              <a:t>}}</a:t>
            </a:r>
          </a:p>
          <a:p>
            <a:pPr algn="ctr">
              <a:spcAft>
                <a:spcPts val="300"/>
              </a:spcAft>
            </a:pPr>
            <a:r>
              <a:rPr lang="en-US" sz="1000" dirty="0">
                <a:latin typeface="Montserrat SemiBold" panose="00000700000000000000" pitchFamily="2" charset="0"/>
              </a:rPr>
              <a:t>Postcards &amp; Emails </a:t>
            </a:r>
          </a:p>
        </p:txBody>
      </p:sp>
      <p:sp>
        <p:nvSpPr>
          <p:cNvPr id="18" name="TextBox 17">
            <a:extLst>
              <a:ext uri="{FF2B5EF4-FFF2-40B4-BE49-F238E27FC236}">
                <a16:creationId xmlns:a16="http://schemas.microsoft.com/office/drawing/2014/main" id="{B8478712-C930-2DFA-AC2D-090FDE3207E9}"/>
              </a:ext>
            </a:extLst>
          </p:cNvPr>
          <p:cNvSpPr txBox="1"/>
          <p:nvPr/>
        </p:nvSpPr>
        <p:spPr>
          <a:xfrm>
            <a:off x="4108250" y="1257786"/>
            <a:ext cx="4768999"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Estimated Campaign Costs</a:t>
            </a:r>
          </a:p>
        </p:txBody>
      </p:sp>
      <p:sp>
        <p:nvSpPr>
          <p:cNvPr id="23" name="TextBox 22">
            <a:extLst>
              <a:ext uri="{FF2B5EF4-FFF2-40B4-BE49-F238E27FC236}">
                <a16:creationId xmlns:a16="http://schemas.microsoft.com/office/drawing/2014/main" id="{D0CCD37E-4B4B-726E-D493-4A064D3DA15E}"/>
              </a:ext>
            </a:extLst>
          </p:cNvPr>
          <p:cNvSpPr txBox="1"/>
          <p:nvPr/>
        </p:nvSpPr>
        <p:spPr>
          <a:xfrm>
            <a:off x="6889439" y="2186165"/>
            <a:ext cx="1987808" cy="261610"/>
          </a:xfrm>
          <a:prstGeom prst="rect">
            <a:avLst/>
          </a:prstGeom>
          <a:noFill/>
        </p:spPr>
        <p:txBody>
          <a:bodyPr wrap="square" numCol="1" rtlCol="0">
            <a:spAutoFit/>
          </a:bodyPr>
          <a:lstStyle/>
          <a:p>
            <a:pPr algn="ctr">
              <a:spcAft>
                <a:spcPts val="1200"/>
              </a:spcAft>
            </a:pPr>
            <a:r>
              <a:rPr lang="en-US" sz="1100" dirty="0">
                <a:solidFill>
                  <a:srgbClr val="76BD22"/>
                </a:solidFill>
                <a:latin typeface="Montserrat SemiBold" panose="00000700000000000000" pitchFamily="2" charset="0"/>
              </a:rPr>
              <a:t>2 CAMPAIGNS</a:t>
            </a:r>
          </a:p>
        </p:txBody>
      </p:sp>
      <p:sp>
        <p:nvSpPr>
          <p:cNvPr id="25" name="TextBox 24">
            <a:extLst>
              <a:ext uri="{FF2B5EF4-FFF2-40B4-BE49-F238E27FC236}">
                <a16:creationId xmlns:a16="http://schemas.microsoft.com/office/drawing/2014/main" id="{E68577F0-6604-95EC-AA21-A7942B82BA82}"/>
              </a:ext>
            </a:extLst>
          </p:cNvPr>
          <p:cNvSpPr txBox="1"/>
          <p:nvPr/>
        </p:nvSpPr>
        <p:spPr>
          <a:xfrm>
            <a:off x="4363451" y="2186165"/>
            <a:ext cx="1987808" cy="261610"/>
          </a:xfrm>
          <a:prstGeom prst="rect">
            <a:avLst/>
          </a:prstGeom>
          <a:noFill/>
        </p:spPr>
        <p:txBody>
          <a:bodyPr wrap="square" numCol="1" rtlCol="0">
            <a:spAutoFit/>
          </a:bodyPr>
          <a:lstStyle/>
          <a:p>
            <a:pPr algn="ctr">
              <a:spcAft>
                <a:spcPts val="1200"/>
              </a:spcAft>
            </a:pPr>
            <a:r>
              <a:rPr lang="en-US" sz="1100" dirty="0">
                <a:solidFill>
                  <a:srgbClr val="3C8394"/>
                </a:solidFill>
                <a:latin typeface="Montserrat SemiBold" panose="00000700000000000000" pitchFamily="2" charset="0"/>
              </a:rPr>
              <a:t>1 CAMPAIGN</a:t>
            </a:r>
          </a:p>
        </p:txBody>
      </p:sp>
      <p:sp>
        <p:nvSpPr>
          <p:cNvPr id="30" name="TextBox 29">
            <a:extLst>
              <a:ext uri="{FF2B5EF4-FFF2-40B4-BE49-F238E27FC236}">
                <a16:creationId xmlns:a16="http://schemas.microsoft.com/office/drawing/2014/main" id="{755DA9FD-B010-73BF-236A-8B3133B95661}"/>
              </a:ext>
            </a:extLst>
          </p:cNvPr>
          <p:cNvSpPr txBox="1"/>
          <p:nvPr/>
        </p:nvSpPr>
        <p:spPr>
          <a:xfrm>
            <a:off x="9415424" y="2183028"/>
            <a:ext cx="1987808" cy="261610"/>
          </a:xfrm>
          <a:prstGeom prst="rect">
            <a:avLst/>
          </a:prstGeom>
          <a:noFill/>
        </p:spPr>
        <p:txBody>
          <a:bodyPr wrap="square" numCol="1" rtlCol="0">
            <a:spAutoFit/>
          </a:bodyPr>
          <a:lstStyle/>
          <a:p>
            <a:pPr algn="ctr">
              <a:spcAft>
                <a:spcPts val="1200"/>
              </a:spcAft>
            </a:pPr>
            <a:r>
              <a:rPr lang="en-US" sz="1100" dirty="0">
                <a:solidFill>
                  <a:srgbClr val="3555BD"/>
                </a:solidFill>
                <a:latin typeface="Montserrat SemiBold" panose="00000700000000000000" pitchFamily="2" charset="0"/>
              </a:rPr>
              <a:t>4 CAMPAIGNS</a:t>
            </a:r>
          </a:p>
        </p:txBody>
      </p:sp>
      <p:pic>
        <p:nvPicPr>
          <p:cNvPr id="34" name="Graphic 33" descr="Envelope with solid fill">
            <a:extLst>
              <a:ext uri="{FF2B5EF4-FFF2-40B4-BE49-F238E27FC236}">
                <a16:creationId xmlns:a16="http://schemas.microsoft.com/office/drawing/2014/main" id="{300D89DE-F5D8-B86F-7043-255FE9C814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17493" y="2491943"/>
            <a:ext cx="373461" cy="373461"/>
          </a:xfrm>
          <a:prstGeom prst="rect">
            <a:avLst/>
          </a:prstGeom>
        </p:spPr>
      </p:pic>
      <p:pic>
        <p:nvPicPr>
          <p:cNvPr id="35" name="Graphic 34" descr="Envelope with solid fill">
            <a:extLst>
              <a:ext uri="{FF2B5EF4-FFF2-40B4-BE49-F238E27FC236}">
                <a16:creationId xmlns:a16="http://schemas.microsoft.com/office/drawing/2014/main" id="{4EC2D660-4357-1F82-11BB-A34615DDE0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14894" y="2491943"/>
            <a:ext cx="373461" cy="373461"/>
          </a:xfrm>
          <a:prstGeom prst="rect">
            <a:avLst/>
          </a:prstGeom>
        </p:spPr>
      </p:pic>
      <p:pic>
        <p:nvPicPr>
          <p:cNvPr id="36" name="Graphic 35" descr="Envelope with solid fill">
            <a:extLst>
              <a:ext uri="{FF2B5EF4-FFF2-40B4-BE49-F238E27FC236}">
                <a16:creationId xmlns:a16="http://schemas.microsoft.com/office/drawing/2014/main" id="{E2B157F0-65E8-2FF1-2E70-B71ED83541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70711" y="2491943"/>
            <a:ext cx="373461" cy="373461"/>
          </a:xfrm>
          <a:prstGeom prst="rect">
            <a:avLst/>
          </a:prstGeom>
        </p:spPr>
      </p:pic>
      <p:pic>
        <p:nvPicPr>
          <p:cNvPr id="37" name="Graphic 36" descr="Envelope with solid fill">
            <a:extLst>
              <a:ext uri="{FF2B5EF4-FFF2-40B4-BE49-F238E27FC236}">
                <a16:creationId xmlns:a16="http://schemas.microsoft.com/office/drawing/2014/main" id="{F380B325-3B5F-A462-085B-2B76979461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28441" y="2491943"/>
            <a:ext cx="373461" cy="373461"/>
          </a:xfrm>
          <a:prstGeom prst="rect">
            <a:avLst/>
          </a:prstGeom>
        </p:spPr>
      </p:pic>
      <p:pic>
        <p:nvPicPr>
          <p:cNvPr id="38" name="Graphic 37" descr="Envelope with solid fill">
            <a:extLst>
              <a:ext uri="{FF2B5EF4-FFF2-40B4-BE49-F238E27FC236}">
                <a16:creationId xmlns:a16="http://schemas.microsoft.com/office/drawing/2014/main" id="{C97C3B5E-F44A-39C0-55C9-73611D6B5D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94477" y="2491943"/>
            <a:ext cx="373461" cy="373461"/>
          </a:xfrm>
          <a:prstGeom prst="rect">
            <a:avLst/>
          </a:prstGeom>
        </p:spPr>
      </p:pic>
      <p:pic>
        <p:nvPicPr>
          <p:cNvPr id="39" name="Graphic 38" descr="Envelope with solid fill">
            <a:extLst>
              <a:ext uri="{FF2B5EF4-FFF2-40B4-BE49-F238E27FC236}">
                <a16:creationId xmlns:a16="http://schemas.microsoft.com/office/drawing/2014/main" id="{BC9F2ED7-6776-03FA-C180-46E1EA3E22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60513" y="2491943"/>
            <a:ext cx="373461" cy="373461"/>
          </a:xfrm>
          <a:prstGeom prst="rect">
            <a:avLst/>
          </a:prstGeom>
        </p:spPr>
      </p:pic>
      <p:pic>
        <p:nvPicPr>
          <p:cNvPr id="40" name="Graphic 39" descr="Envelope with solid fill">
            <a:extLst>
              <a:ext uri="{FF2B5EF4-FFF2-40B4-BE49-F238E27FC236}">
                <a16:creationId xmlns:a16="http://schemas.microsoft.com/office/drawing/2014/main" id="{1B2C665D-CDE1-AC5D-98CD-10EF4409DF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26550" y="2491943"/>
            <a:ext cx="373461" cy="373461"/>
          </a:xfrm>
          <a:prstGeom prst="rect">
            <a:avLst/>
          </a:prstGeom>
        </p:spPr>
      </p:pic>
      <p:sp>
        <p:nvSpPr>
          <p:cNvPr id="41" name="TextBox 40">
            <a:extLst>
              <a:ext uri="{FF2B5EF4-FFF2-40B4-BE49-F238E27FC236}">
                <a16:creationId xmlns:a16="http://schemas.microsoft.com/office/drawing/2014/main" id="{865B69E1-C4E2-0E5A-ABE7-8F8833355A79}"/>
              </a:ext>
            </a:extLst>
          </p:cNvPr>
          <p:cNvSpPr txBox="1"/>
          <p:nvPr/>
        </p:nvSpPr>
        <p:spPr>
          <a:xfrm>
            <a:off x="4363450" y="3774206"/>
            <a:ext cx="1987809" cy="523220"/>
          </a:xfrm>
          <a:prstGeom prst="rect">
            <a:avLst/>
          </a:prstGeom>
          <a:noFill/>
        </p:spPr>
        <p:txBody>
          <a:bodyPr wrap="square" numCol="1" rtlCol="0">
            <a:spAutoFit/>
          </a:bodyPr>
          <a:lstStyle/>
          <a:p>
            <a:pPr algn="ctr">
              <a:spcAft>
                <a:spcPts val="300"/>
              </a:spcAft>
            </a:pPr>
            <a:r>
              <a:rPr lang="en-US" sz="1400" dirty="0">
                <a:solidFill>
                  <a:srgbClr val="3C8394"/>
                </a:solidFill>
                <a:latin typeface="Montserrat SemiBold" panose="00000700000000000000" pitchFamily="2" charset="0"/>
              </a:rPr>
              <a:t>{{campaign_1_cost}}*</a:t>
            </a:r>
          </a:p>
        </p:txBody>
      </p:sp>
      <p:sp>
        <p:nvSpPr>
          <p:cNvPr id="42" name="TextBox 41">
            <a:extLst>
              <a:ext uri="{FF2B5EF4-FFF2-40B4-BE49-F238E27FC236}">
                <a16:creationId xmlns:a16="http://schemas.microsoft.com/office/drawing/2014/main" id="{39FC2D09-0848-6A56-9951-728ED13915B2}"/>
              </a:ext>
            </a:extLst>
          </p:cNvPr>
          <p:cNvSpPr txBox="1"/>
          <p:nvPr/>
        </p:nvSpPr>
        <p:spPr>
          <a:xfrm>
            <a:off x="6865271" y="2972090"/>
            <a:ext cx="1987809" cy="661720"/>
          </a:xfrm>
          <a:prstGeom prst="rect">
            <a:avLst/>
          </a:prstGeom>
          <a:noFill/>
        </p:spPr>
        <p:txBody>
          <a:bodyPr wrap="square" numCol="1" rtlCol="0">
            <a:spAutoFit/>
          </a:bodyPr>
          <a:lstStyle/>
          <a:p>
            <a:pPr algn="ctr">
              <a:spcAft>
                <a:spcPts val="300"/>
              </a:spcAft>
            </a:pPr>
            <a:r>
              <a:rPr lang="en-US" sz="1000" dirty="0">
                <a:latin typeface="Montserrat SemiBold" panose="00000700000000000000" pitchFamily="2" charset="0"/>
              </a:rPr>
              <a:t>Estimate based on</a:t>
            </a:r>
          </a:p>
          <a:p>
            <a:pPr algn="ctr">
              <a:spcAft>
                <a:spcPts val="300"/>
              </a:spcAft>
            </a:pPr>
            <a:r>
              <a:rPr lang="en-US" sz="1200" dirty="0">
                <a:solidFill>
                  <a:srgbClr val="76BD22"/>
                </a:solidFill>
                <a:latin typeface="Montserrat SemiBold" panose="00000700000000000000" pitchFamily="2" charset="0"/>
              </a:rPr>
              <a:t>{{total_targets_2}}</a:t>
            </a:r>
          </a:p>
          <a:p>
            <a:pPr algn="ctr">
              <a:spcAft>
                <a:spcPts val="300"/>
              </a:spcAft>
            </a:pPr>
            <a:r>
              <a:rPr lang="en-US" sz="1000" dirty="0">
                <a:latin typeface="Montserrat SemiBold" panose="00000700000000000000" pitchFamily="2" charset="0"/>
              </a:rPr>
              <a:t>Postcards &amp; Emails </a:t>
            </a:r>
          </a:p>
        </p:txBody>
      </p:sp>
      <p:sp>
        <p:nvSpPr>
          <p:cNvPr id="43" name="TextBox 42">
            <a:extLst>
              <a:ext uri="{FF2B5EF4-FFF2-40B4-BE49-F238E27FC236}">
                <a16:creationId xmlns:a16="http://schemas.microsoft.com/office/drawing/2014/main" id="{C379DBB2-A63C-F462-E4BD-3357D2071E92}"/>
              </a:ext>
            </a:extLst>
          </p:cNvPr>
          <p:cNvSpPr txBox="1"/>
          <p:nvPr/>
        </p:nvSpPr>
        <p:spPr>
          <a:xfrm>
            <a:off x="6865268" y="3772319"/>
            <a:ext cx="1987809" cy="523220"/>
          </a:xfrm>
          <a:prstGeom prst="rect">
            <a:avLst/>
          </a:prstGeom>
          <a:noFill/>
        </p:spPr>
        <p:txBody>
          <a:bodyPr wrap="square" numCol="1" rtlCol="0">
            <a:spAutoFit/>
          </a:bodyPr>
          <a:lstStyle/>
          <a:p>
            <a:pPr algn="ctr">
              <a:spcAft>
                <a:spcPts val="300"/>
              </a:spcAft>
            </a:pPr>
            <a:r>
              <a:rPr lang="en-US" sz="1400" dirty="0">
                <a:solidFill>
                  <a:srgbClr val="76BD22"/>
                </a:solidFill>
                <a:latin typeface="Montserrat SemiBold" panose="00000700000000000000" pitchFamily="2" charset="0"/>
              </a:rPr>
              <a:t>{{campaign_2_cost}}*</a:t>
            </a:r>
          </a:p>
        </p:txBody>
      </p:sp>
      <p:sp>
        <p:nvSpPr>
          <p:cNvPr id="44" name="TextBox 43">
            <a:extLst>
              <a:ext uri="{FF2B5EF4-FFF2-40B4-BE49-F238E27FC236}">
                <a16:creationId xmlns:a16="http://schemas.microsoft.com/office/drawing/2014/main" id="{0CE41260-C4DB-6B6F-870E-540F589A6801}"/>
              </a:ext>
            </a:extLst>
          </p:cNvPr>
          <p:cNvSpPr txBox="1"/>
          <p:nvPr/>
        </p:nvSpPr>
        <p:spPr>
          <a:xfrm>
            <a:off x="6856918" y="4188795"/>
            <a:ext cx="1987809" cy="407804"/>
          </a:xfrm>
          <a:prstGeom prst="rect">
            <a:avLst/>
          </a:prstGeom>
          <a:noFill/>
        </p:spPr>
        <p:txBody>
          <a:bodyPr wrap="square" numCol="1" rtlCol="0">
            <a:spAutoFit/>
          </a:bodyPr>
          <a:lstStyle/>
          <a:p>
            <a:pPr algn="ctr">
              <a:spcAft>
                <a:spcPts val="300"/>
              </a:spcAft>
            </a:pPr>
            <a:r>
              <a:rPr lang="en-US" sz="900" dirty="0">
                <a:solidFill>
                  <a:srgbClr val="76BD22"/>
                </a:solidFill>
                <a:latin typeface="Montserrat SemiBold" panose="00000700000000000000" pitchFamily="2" charset="0"/>
              </a:rPr>
              <a:t>{{campaign_2_per_cost}}*</a:t>
            </a:r>
          </a:p>
          <a:p>
            <a:pPr algn="ctr">
              <a:spcAft>
                <a:spcPts val="300"/>
              </a:spcAft>
            </a:pPr>
            <a:r>
              <a:rPr lang="en-US" sz="900" dirty="0">
                <a:latin typeface="Montserrat SemiBold" panose="00000700000000000000" pitchFamily="2" charset="0"/>
              </a:rPr>
              <a:t>per campaign</a:t>
            </a:r>
          </a:p>
        </p:txBody>
      </p:sp>
      <p:sp>
        <p:nvSpPr>
          <p:cNvPr id="45" name="TextBox 44">
            <a:extLst>
              <a:ext uri="{FF2B5EF4-FFF2-40B4-BE49-F238E27FC236}">
                <a16:creationId xmlns:a16="http://schemas.microsoft.com/office/drawing/2014/main" id="{FAA42A23-EC51-6260-3615-7F2B4ACF23BE}"/>
              </a:ext>
            </a:extLst>
          </p:cNvPr>
          <p:cNvSpPr txBox="1"/>
          <p:nvPr/>
        </p:nvSpPr>
        <p:spPr>
          <a:xfrm>
            <a:off x="9415422" y="2972090"/>
            <a:ext cx="1987809" cy="661720"/>
          </a:xfrm>
          <a:prstGeom prst="rect">
            <a:avLst/>
          </a:prstGeom>
          <a:noFill/>
        </p:spPr>
        <p:txBody>
          <a:bodyPr wrap="square" numCol="1" rtlCol="0">
            <a:spAutoFit/>
          </a:bodyPr>
          <a:lstStyle/>
          <a:p>
            <a:pPr algn="ctr">
              <a:spcAft>
                <a:spcPts val="300"/>
              </a:spcAft>
            </a:pPr>
            <a:r>
              <a:rPr lang="en-US" sz="1000" dirty="0">
                <a:latin typeface="Montserrat SemiBold" panose="00000700000000000000" pitchFamily="2" charset="0"/>
              </a:rPr>
              <a:t>Estimate based on</a:t>
            </a:r>
          </a:p>
          <a:p>
            <a:pPr algn="ctr">
              <a:spcAft>
                <a:spcPts val="300"/>
              </a:spcAft>
            </a:pPr>
            <a:r>
              <a:rPr lang="en-US" sz="1200" dirty="0">
                <a:solidFill>
                  <a:srgbClr val="3555BD"/>
                </a:solidFill>
                <a:latin typeface="Montserrat SemiBold" panose="00000700000000000000" pitchFamily="2" charset="0"/>
              </a:rPr>
              <a:t>{{total_targets_4}}</a:t>
            </a:r>
          </a:p>
          <a:p>
            <a:pPr algn="ctr">
              <a:spcAft>
                <a:spcPts val="300"/>
              </a:spcAft>
            </a:pPr>
            <a:r>
              <a:rPr lang="en-US" sz="1000" dirty="0">
                <a:latin typeface="Montserrat SemiBold" panose="00000700000000000000" pitchFamily="2" charset="0"/>
              </a:rPr>
              <a:t>Postcards &amp; Emails </a:t>
            </a:r>
          </a:p>
        </p:txBody>
      </p:sp>
      <p:sp>
        <p:nvSpPr>
          <p:cNvPr id="47" name="TextBox 46">
            <a:extLst>
              <a:ext uri="{FF2B5EF4-FFF2-40B4-BE49-F238E27FC236}">
                <a16:creationId xmlns:a16="http://schemas.microsoft.com/office/drawing/2014/main" id="{8953AD12-7E60-6BB0-4781-C6CDF8DBDC6F}"/>
              </a:ext>
            </a:extLst>
          </p:cNvPr>
          <p:cNvSpPr txBox="1"/>
          <p:nvPr/>
        </p:nvSpPr>
        <p:spPr>
          <a:xfrm>
            <a:off x="9415419" y="3772319"/>
            <a:ext cx="1987809" cy="523220"/>
          </a:xfrm>
          <a:prstGeom prst="rect">
            <a:avLst/>
          </a:prstGeom>
          <a:noFill/>
        </p:spPr>
        <p:txBody>
          <a:bodyPr wrap="square" numCol="1" rtlCol="0">
            <a:spAutoFit/>
          </a:bodyPr>
          <a:lstStyle/>
          <a:p>
            <a:pPr algn="ctr">
              <a:spcAft>
                <a:spcPts val="300"/>
              </a:spcAft>
            </a:pPr>
            <a:r>
              <a:rPr lang="en-US" sz="1400" dirty="0">
                <a:solidFill>
                  <a:srgbClr val="3555BD"/>
                </a:solidFill>
                <a:latin typeface="Montserrat SemiBold" panose="00000700000000000000" pitchFamily="2" charset="0"/>
              </a:rPr>
              <a:t>{{campaign_4_cost}}*</a:t>
            </a:r>
          </a:p>
        </p:txBody>
      </p:sp>
      <p:sp>
        <p:nvSpPr>
          <p:cNvPr id="48" name="TextBox 47">
            <a:extLst>
              <a:ext uri="{FF2B5EF4-FFF2-40B4-BE49-F238E27FC236}">
                <a16:creationId xmlns:a16="http://schemas.microsoft.com/office/drawing/2014/main" id="{4E78211C-D95A-95A7-4D3A-3207A67979A4}"/>
              </a:ext>
            </a:extLst>
          </p:cNvPr>
          <p:cNvSpPr txBox="1"/>
          <p:nvPr/>
        </p:nvSpPr>
        <p:spPr>
          <a:xfrm>
            <a:off x="9414591" y="4188795"/>
            <a:ext cx="1987809" cy="407804"/>
          </a:xfrm>
          <a:prstGeom prst="rect">
            <a:avLst/>
          </a:prstGeom>
          <a:noFill/>
        </p:spPr>
        <p:txBody>
          <a:bodyPr wrap="square" numCol="1" rtlCol="0">
            <a:spAutoFit/>
          </a:bodyPr>
          <a:lstStyle/>
          <a:p>
            <a:pPr algn="ctr">
              <a:spcAft>
                <a:spcPts val="300"/>
              </a:spcAft>
            </a:pPr>
            <a:r>
              <a:rPr lang="en-US" sz="900" dirty="0">
                <a:solidFill>
                  <a:srgbClr val="3555BD"/>
                </a:solidFill>
                <a:latin typeface="Montserrat SemiBold" panose="00000700000000000000" pitchFamily="2" charset="0"/>
              </a:rPr>
              <a:t>{{campaign_4_per_cost}}*</a:t>
            </a:r>
          </a:p>
          <a:p>
            <a:pPr algn="ctr">
              <a:spcAft>
                <a:spcPts val="300"/>
              </a:spcAft>
            </a:pPr>
            <a:r>
              <a:rPr lang="en-US" sz="900" dirty="0">
                <a:latin typeface="Montserrat SemiBold" panose="00000700000000000000" pitchFamily="2" charset="0"/>
              </a:rPr>
              <a:t>per campaign</a:t>
            </a:r>
          </a:p>
        </p:txBody>
      </p:sp>
      <p:graphicFrame>
        <p:nvGraphicFramePr>
          <p:cNvPr id="49" name="Diagram 48">
            <a:extLst>
              <a:ext uri="{FF2B5EF4-FFF2-40B4-BE49-F238E27FC236}">
                <a16:creationId xmlns:a16="http://schemas.microsoft.com/office/drawing/2014/main" id="{51B290B5-C0F0-0223-EDBA-8E5C1D09F461}"/>
              </a:ext>
            </a:extLst>
          </p:cNvPr>
          <p:cNvGraphicFramePr/>
          <p:nvPr>
            <p:extLst>
              <p:ext uri="{D42A27DB-BD31-4B8C-83A1-F6EECF244321}">
                <p14:modId xmlns:p14="http://schemas.microsoft.com/office/powerpoint/2010/main" val="2454063739"/>
              </p:ext>
            </p:extLst>
          </p:nvPr>
        </p:nvGraphicFramePr>
        <p:xfrm>
          <a:off x="3305252" y="5091019"/>
          <a:ext cx="8122156" cy="64953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50" name="Graphic 49" descr="Mailbox with solid fill">
            <a:extLst>
              <a:ext uri="{FF2B5EF4-FFF2-40B4-BE49-F238E27FC236}">
                <a16:creationId xmlns:a16="http://schemas.microsoft.com/office/drawing/2014/main" id="{258F3954-8AED-D839-7D8E-19F3FD3AB117}"/>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4557385" y="5142555"/>
            <a:ext cx="537495" cy="537495"/>
          </a:xfrm>
          <a:prstGeom prst="rect">
            <a:avLst/>
          </a:prstGeom>
        </p:spPr>
      </p:pic>
    </p:spTree>
    <p:extLst>
      <p:ext uri="{BB962C8B-B14F-4D97-AF65-F5344CB8AC3E}">
        <p14:creationId xmlns:p14="http://schemas.microsoft.com/office/powerpoint/2010/main" val="4088591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5E03307-8C9C-06CE-23B9-0AECD7B793A3}"/>
              </a:ext>
            </a:extLst>
          </p:cNvPr>
          <p:cNvSpPr txBox="1"/>
          <p:nvPr/>
        </p:nvSpPr>
        <p:spPr>
          <a:xfrm>
            <a:off x="872878" y="3661280"/>
            <a:ext cx="10968684"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Package Selection</a:t>
            </a:r>
            <a:endParaRPr lang="en-US" sz="900" dirty="0">
              <a:solidFill>
                <a:srgbClr val="002060"/>
              </a:solidFill>
              <a:latin typeface="Montserrat" panose="00000500000000000000" pitchFamily="2" charset="0"/>
            </a:endParaRPr>
          </a:p>
        </p:txBody>
      </p:sp>
      <p:sp>
        <p:nvSpPr>
          <p:cNvPr id="5" name="Content Placeholder 2">
            <a:extLst>
              <a:ext uri="{FF2B5EF4-FFF2-40B4-BE49-F238E27FC236}">
                <a16:creationId xmlns:a16="http://schemas.microsoft.com/office/drawing/2014/main" id="{03FBAD4F-FDCD-B242-0454-76834EC9CE48}"/>
              </a:ext>
            </a:extLst>
          </p:cNvPr>
          <p:cNvSpPr txBox="1">
            <a:spLocks/>
          </p:cNvSpPr>
          <p:nvPr/>
        </p:nvSpPr>
        <p:spPr>
          <a:xfrm>
            <a:off x="458724" y="1585904"/>
            <a:ext cx="11274552" cy="1944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500"/>
              </a:lnSpc>
              <a:spcBef>
                <a:spcPct val="20000"/>
              </a:spcBef>
              <a:spcAft>
                <a:spcPts val="600"/>
              </a:spcAft>
              <a:buNone/>
            </a:pPr>
            <a:r>
              <a:rPr lang="en-US" sz="800" dirty="0">
                <a:solidFill>
                  <a:prstClr val="black"/>
                </a:solidFill>
                <a:latin typeface="Montserrat SemiBold" panose="00000700000000000000" pitchFamily="2" charset="0"/>
                <a:cs typeface="Arial" panose="020B0604020202020204" pitchFamily="34" charset="0"/>
              </a:rPr>
              <a:t>We want to thank you for the opportunity to provide you with this proposal.  </a:t>
            </a:r>
          </a:p>
          <a:p>
            <a:pPr marL="0" indent="0">
              <a:lnSpc>
                <a:spcPts val="1500"/>
              </a:lnSpc>
              <a:spcBef>
                <a:spcPct val="20000"/>
              </a:spcBef>
              <a:spcAft>
                <a:spcPts val="600"/>
              </a:spcAft>
              <a:buNone/>
            </a:pPr>
            <a:r>
              <a:rPr lang="en-US" sz="800" dirty="0">
                <a:solidFill>
                  <a:prstClr val="black"/>
                </a:solidFill>
                <a:latin typeface="Montserrat SemiBold" panose="00000700000000000000" pitchFamily="2" charset="0"/>
                <a:cs typeface="Arial" panose="020B0604020202020204" pitchFamily="34" charset="0"/>
              </a:rPr>
              <a:t>Throughout the course of the campaign, we will work with you to measure and evaluate the effectiveness of the campaign stated objectives, using a variety of measurement tools and transaction data as outlined. Doing this during the campaign will afford an opportunity to determine effectiveness and/or adjustments to improve performance. Campaign or program results are not guaranteed or implied and Synergent’s fees are not tied to results in any way.</a:t>
            </a:r>
          </a:p>
          <a:p>
            <a:pPr marL="0" indent="0">
              <a:lnSpc>
                <a:spcPts val="1500"/>
              </a:lnSpc>
              <a:spcBef>
                <a:spcPct val="20000"/>
              </a:spcBef>
              <a:spcAft>
                <a:spcPts val="600"/>
              </a:spcAft>
              <a:buNone/>
            </a:pPr>
            <a:r>
              <a:rPr lang="en-US" sz="800" dirty="0">
                <a:latin typeface="Montserrat SemiBold" panose="00000700000000000000" pitchFamily="2" charset="0"/>
              </a:rPr>
              <a:t>Prices and terms are subject to change.  </a:t>
            </a:r>
            <a:r>
              <a:rPr lang="en-US" sz="800" dirty="0">
                <a:solidFill>
                  <a:prstClr val="black"/>
                </a:solidFill>
                <a:latin typeface="Montserrat SemiBold" panose="00000700000000000000" pitchFamily="2" charset="0"/>
                <a:cs typeface="Arial" panose="020B0604020202020204" pitchFamily="34" charset="0"/>
              </a:rPr>
              <a:t>Estimate is valid for 90 days and may vary based on additional customizations. Program, Data Mining, Programing, and Creative that are canceled after the date of this signature are subject to a cancelation fee of 50% of all one-time fees and all third-party fees Synergent has incurred.  This could include, but is not limited to data mining, creative, programming, training, and third-party fees. Any third-party vendor fees are due upon presentation of invoicing. </a:t>
            </a:r>
          </a:p>
          <a:p>
            <a:pPr marL="0" indent="0">
              <a:lnSpc>
                <a:spcPts val="1500"/>
              </a:lnSpc>
              <a:spcBef>
                <a:spcPct val="20000"/>
              </a:spcBef>
              <a:buNone/>
            </a:pPr>
            <a:r>
              <a:rPr lang="en-US" sz="800" dirty="0">
                <a:solidFill>
                  <a:prstClr val="black"/>
                </a:solidFill>
                <a:latin typeface="Montserrat SemiBold" panose="00000700000000000000" pitchFamily="2" charset="0"/>
                <a:cs typeface="Arial" panose="020B0604020202020204" pitchFamily="34" charset="0"/>
              </a:rPr>
              <a:t>This proposal, if accepted, shall be an addenda to {{</a:t>
            </a:r>
            <a:r>
              <a:rPr lang="en-US" sz="800" dirty="0" err="1">
                <a:solidFill>
                  <a:prstClr val="black"/>
                </a:solidFill>
                <a:latin typeface="Montserrat SemiBold" panose="00000700000000000000" pitchFamily="2" charset="0"/>
                <a:cs typeface="Arial" panose="020B0604020202020204" pitchFamily="34" charset="0"/>
              </a:rPr>
              <a:t>creditunion_name</a:t>
            </a:r>
            <a:r>
              <a:rPr lang="en-US" sz="800" dirty="0">
                <a:solidFill>
                  <a:prstClr val="black"/>
                </a:solidFill>
                <a:latin typeface="Montserrat SemiBold" panose="00000700000000000000" pitchFamily="2" charset="0"/>
                <a:cs typeface="Arial" panose="020B0604020202020204" pitchFamily="34" charset="0"/>
              </a:rPr>
              <a:t>}} Marketing Services – Master Service Agreement, and shall be governed by the terms and conditions contained therein.</a:t>
            </a:r>
          </a:p>
        </p:txBody>
      </p:sp>
      <p:sp>
        <p:nvSpPr>
          <p:cNvPr id="6" name="TextBox 5">
            <a:extLst>
              <a:ext uri="{FF2B5EF4-FFF2-40B4-BE49-F238E27FC236}">
                <a16:creationId xmlns:a16="http://schemas.microsoft.com/office/drawing/2014/main" id="{DAFEB9D1-1DBE-AA93-D046-695B3EACE72D}"/>
              </a:ext>
            </a:extLst>
          </p:cNvPr>
          <p:cNvSpPr txBox="1"/>
          <p:nvPr/>
        </p:nvSpPr>
        <p:spPr>
          <a:xfrm>
            <a:off x="458724" y="5272096"/>
            <a:ext cx="11382837" cy="662617"/>
          </a:xfrm>
          <a:prstGeom prst="rect">
            <a:avLst/>
          </a:prstGeom>
          <a:noFill/>
        </p:spPr>
        <p:txBody>
          <a:bodyPr wrap="square">
            <a:spAutoFit/>
          </a:bodyPr>
          <a:lstStyle/>
          <a:p>
            <a:pPr>
              <a:lnSpc>
                <a:spcPct val="200000"/>
              </a:lnSpc>
            </a:pPr>
            <a:r>
              <a:rPr lang="en-US" sz="1000" dirty="0">
                <a:latin typeface="Montserrat SemiBold" panose="00000700000000000000" pitchFamily="2" charset="0"/>
              </a:rPr>
              <a:t>Accepted by:  ___________________________________________________________           Signed :  ___________________________________________________________</a:t>
            </a:r>
          </a:p>
          <a:p>
            <a:pPr>
              <a:lnSpc>
                <a:spcPct val="200000"/>
              </a:lnSpc>
            </a:pPr>
            <a:r>
              <a:rPr lang="en-US" sz="1000" dirty="0">
                <a:latin typeface="Montserrat SemiBold" panose="00000700000000000000" pitchFamily="2" charset="0"/>
              </a:rPr>
              <a:t>                                                                                                                                            Sign Date:  ___________________________________________________________ </a:t>
            </a:r>
          </a:p>
        </p:txBody>
      </p:sp>
      <p:sp>
        <p:nvSpPr>
          <p:cNvPr id="3" name="TextBox 2">
            <a:extLst>
              <a:ext uri="{FF2B5EF4-FFF2-40B4-BE49-F238E27FC236}">
                <a16:creationId xmlns:a16="http://schemas.microsoft.com/office/drawing/2014/main" id="{A42A1D88-4A80-02E3-AF7E-0D57983F2FB9}"/>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10</a:t>
            </a:r>
          </a:p>
        </p:txBody>
      </p:sp>
      <p:sp>
        <p:nvSpPr>
          <p:cNvPr id="4" name="TextBox 3">
            <a:extLst>
              <a:ext uri="{FF2B5EF4-FFF2-40B4-BE49-F238E27FC236}">
                <a16:creationId xmlns:a16="http://schemas.microsoft.com/office/drawing/2014/main" id="{0D07FAA9-757D-D407-9F6D-013F60C289DB}"/>
              </a:ext>
            </a:extLst>
          </p:cNvPr>
          <p:cNvSpPr txBox="1"/>
          <p:nvPr/>
        </p:nvSpPr>
        <p:spPr>
          <a:xfrm>
            <a:off x="967949" y="1221221"/>
            <a:ext cx="10968684" cy="307777"/>
          </a:xfrm>
          <a:prstGeom prst="rect">
            <a:avLst/>
          </a:prstGeom>
          <a:noFill/>
        </p:spPr>
        <p:txBody>
          <a:bodyPr wrap="square" rtlCol="0">
            <a:spAutoFit/>
          </a:bodyPr>
          <a:lstStyle/>
          <a:p>
            <a:pPr>
              <a:spcAft>
                <a:spcPts val="1200"/>
              </a:spcAft>
            </a:pPr>
            <a:r>
              <a:rPr lang="en-US" sz="1400" dirty="0">
                <a:solidFill>
                  <a:srgbClr val="3C8394"/>
                </a:solidFill>
                <a:latin typeface="Montserrat SemiBold" panose="00000700000000000000" pitchFamily="2" charset="0"/>
              </a:rPr>
              <a:t>Conclusion </a:t>
            </a:r>
            <a:r>
              <a:rPr lang="en-US" sz="1400" dirty="0">
                <a:solidFill>
                  <a:srgbClr val="002060"/>
                </a:solidFill>
                <a:latin typeface="Montserrat SemiBold" panose="00000700000000000000" pitchFamily="2" charset="0"/>
              </a:rPr>
              <a:t>&amp; Terms</a:t>
            </a:r>
            <a:endParaRPr lang="en-US" sz="1400" dirty="0">
              <a:solidFill>
                <a:srgbClr val="3C8394"/>
              </a:solidFill>
              <a:latin typeface="Montserrat SemiBold" panose="00000700000000000000" pitchFamily="2" charset="0"/>
            </a:endParaRPr>
          </a:p>
        </p:txBody>
      </p:sp>
      <p:pic>
        <p:nvPicPr>
          <p:cNvPr id="12" name="Graphic 11" descr="Handshake with solid fill">
            <a:extLst>
              <a:ext uri="{FF2B5EF4-FFF2-40B4-BE49-F238E27FC236}">
                <a16:creationId xmlns:a16="http://schemas.microsoft.com/office/drawing/2014/main" id="{D4FDB8A7-2F43-6E77-ACCE-DEC045A971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2541" y="1164315"/>
            <a:ext cx="421591" cy="421591"/>
          </a:xfrm>
          <a:prstGeom prst="rect">
            <a:avLst/>
          </a:prstGeom>
        </p:spPr>
      </p:pic>
      <p:pic>
        <p:nvPicPr>
          <p:cNvPr id="14" name="Graphic 13" descr="Checkbox Checked with solid fill">
            <a:extLst>
              <a:ext uri="{FF2B5EF4-FFF2-40B4-BE49-F238E27FC236}">
                <a16:creationId xmlns:a16="http://schemas.microsoft.com/office/drawing/2014/main" id="{089398C5-829C-8328-54AC-C037CAACB79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02541" y="3604374"/>
            <a:ext cx="421591" cy="421591"/>
          </a:xfrm>
          <a:prstGeom prst="rect">
            <a:avLst/>
          </a:prstGeom>
        </p:spPr>
      </p:pic>
      <p:grpSp>
        <p:nvGrpSpPr>
          <p:cNvPr id="34" name="Group 33">
            <a:extLst>
              <a:ext uri="{FF2B5EF4-FFF2-40B4-BE49-F238E27FC236}">
                <a16:creationId xmlns:a16="http://schemas.microsoft.com/office/drawing/2014/main" id="{15D42079-2B1B-8E85-DF4B-57497C88114B}"/>
              </a:ext>
            </a:extLst>
          </p:cNvPr>
          <p:cNvGrpSpPr/>
          <p:nvPr/>
        </p:nvGrpSpPr>
        <p:grpSpPr>
          <a:xfrm>
            <a:off x="1635498" y="4051672"/>
            <a:ext cx="2250376" cy="1071897"/>
            <a:chOff x="1635498" y="4151124"/>
            <a:chExt cx="2250376" cy="1071897"/>
          </a:xfrm>
        </p:grpSpPr>
        <p:grpSp>
          <p:nvGrpSpPr>
            <p:cNvPr id="47" name="Group 46">
              <a:extLst>
                <a:ext uri="{FF2B5EF4-FFF2-40B4-BE49-F238E27FC236}">
                  <a16:creationId xmlns:a16="http://schemas.microsoft.com/office/drawing/2014/main" id="{4E7C2C77-8D24-83B2-43D0-AC2EB2DDB079}"/>
                </a:ext>
              </a:extLst>
            </p:cNvPr>
            <p:cNvGrpSpPr/>
            <p:nvPr/>
          </p:nvGrpSpPr>
          <p:grpSpPr>
            <a:xfrm>
              <a:off x="1635498" y="4151124"/>
              <a:ext cx="2250376" cy="1071897"/>
              <a:chOff x="935283" y="4056856"/>
              <a:chExt cx="2250376" cy="671873"/>
            </a:xfrm>
          </p:grpSpPr>
          <p:grpSp>
            <p:nvGrpSpPr>
              <p:cNvPr id="15" name="Group 14">
                <a:extLst>
                  <a:ext uri="{FF2B5EF4-FFF2-40B4-BE49-F238E27FC236}">
                    <a16:creationId xmlns:a16="http://schemas.microsoft.com/office/drawing/2014/main" id="{3CA08F08-7C34-9505-CE24-FE2489C03EE2}"/>
                  </a:ext>
                </a:extLst>
              </p:cNvPr>
              <p:cNvGrpSpPr/>
              <p:nvPr/>
            </p:nvGrpSpPr>
            <p:grpSpPr>
              <a:xfrm>
                <a:off x="935283" y="4060206"/>
                <a:ext cx="2250376" cy="662617"/>
                <a:chOff x="6465074" y="1606214"/>
                <a:chExt cx="3561848" cy="3170320"/>
              </a:xfrm>
            </p:grpSpPr>
            <p:sp>
              <p:nvSpPr>
                <p:cNvPr id="16" name="Rectangle: Rounded Corners 15">
                  <a:extLst>
                    <a:ext uri="{FF2B5EF4-FFF2-40B4-BE49-F238E27FC236}">
                      <a16:creationId xmlns:a16="http://schemas.microsoft.com/office/drawing/2014/main" id="{31468140-B3A2-EB9A-8CEC-E58EB3EB6DE8}"/>
                    </a:ext>
                  </a:extLst>
                </p:cNvPr>
                <p:cNvSpPr/>
                <p:nvPr/>
              </p:nvSpPr>
              <p:spPr>
                <a:xfrm>
                  <a:off x="6470394" y="1606214"/>
                  <a:ext cx="3556528" cy="3170320"/>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Top Corners Rounded 16">
                  <a:extLst>
                    <a:ext uri="{FF2B5EF4-FFF2-40B4-BE49-F238E27FC236}">
                      <a16:creationId xmlns:a16="http://schemas.microsoft.com/office/drawing/2014/main" id="{EA64D736-61C4-DCE1-67F7-D672FEA9CC4A}"/>
                    </a:ext>
                  </a:extLst>
                </p:cNvPr>
                <p:cNvSpPr/>
                <p:nvPr/>
              </p:nvSpPr>
              <p:spPr>
                <a:xfrm>
                  <a:off x="6465074" y="1606214"/>
                  <a:ext cx="3561845" cy="718914"/>
                </a:xfrm>
                <a:prstGeom prst="round2SameRect">
                  <a:avLst/>
                </a:prstGeom>
                <a:solidFill>
                  <a:srgbClr val="2F6673"/>
                </a:solidFill>
                <a:ln>
                  <a:solidFill>
                    <a:srgbClr val="2F6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a:extLst>
                  <a:ext uri="{FF2B5EF4-FFF2-40B4-BE49-F238E27FC236}">
                    <a16:creationId xmlns:a16="http://schemas.microsoft.com/office/drawing/2014/main" id="{4BD630CC-4BBA-DE94-B632-54927DB326F4}"/>
                  </a:ext>
                </a:extLst>
              </p:cNvPr>
              <p:cNvSpPr txBox="1"/>
              <p:nvPr/>
            </p:nvSpPr>
            <p:spPr>
              <a:xfrm>
                <a:off x="938640" y="4231969"/>
                <a:ext cx="2247015" cy="496760"/>
              </a:xfrm>
              <a:prstGeom prst="rect">
                <a:avLst/>
              </a:prstGeom>
              <a:noFill/>
            </p:spPr>
            <p:txBody>
              <a:bodyPr wrap="square" numCol="1" rtlCol="0">
                <a:spAutoFit/>
              </a:bodyPr>
              <a:lstStyle/>
              <a:p>
                <a:pPr algn="ctr">
                  <a:spcBef>
                    <a:spcPts val="1200"/>
                  </a:spcBef>
                  <a:spcAft>
                    <a:spcPts val="300"/>
                  </a:spcAft>
                </a:pPr>
                <a:r>
                  <a:rPr lang="en-US" sz="900" dirty="0">
                    <a:latin typeface="Montserrat SemiBold" panose="00000700000000000000" pitchFamily="2" charset="0"/>
                  </a:rPr>
                  <a:t>Total Postcards &amp; Emails: </a:t>
                </a:r>
              </a:p>
              <a:p>
                <a:pPr algn="ctr">
                  <a:spcAft>
                    <a:spcPts val="300"/>
                  </a:spcAft>
                </a:pPr>
                <a:r>
                  <a:rPr lang="en-US" sz="1000" dirty="0">
                    <a:solidFill>
                      <a:srgbClr val="3C8394"/>
                    </a:solidFill>
                    <a:latin typeface="Montserrat SemiBold" panose="00000700000000000000" pitchFamily="2" charset="0"/>
                  </a:rPr>
                  <a:t>{{</a:t>
                </a:r>
                <a:r>
                  <a:rPr lang="en-US" sz="1000" dirty="0" err="1">
                    <a:solidFill>
                      <a:srgbClr val="3C8394"/>
                    </a:solidFill>
                    <a:latin typeface="Montserrat SemiBold" panose="00000700000000000000" pitchFamily="2" charset="0"/>
                  </a:rPr>
                  <a:t>total_targets</a:t>
                </a:r>
                <a:r>
                  <a:rPr lang="en-US" sz="1000" dirty="0">
                    <a:solidFill>
                      <a:srgbClr val="3C8394"/>
                    </a:solidFill>
                    <a:latin typeface="Montserrat SemiBold" panose="00000700000000000000" pitchFamily="2" charset="0"/>
                  </a:rPr>
                  <a:t>}}</a:t>
                </a:r>
              </a:p>
              <a:p>
                <a:pPr algn="ctr">
                  <a:spcAft>
                    <a:spcPts val="300"/>
                  </a:spcAft>
                </a:pPr>
                <a:r>
                  <a:rPr lang="en-US" sz="900" dirty="0">
                    <a:latin typeface="Montserrat SemiBold" panose="00000700000000000000" pitchFamily="2" charset="0"/>
                  </a:rPr>
                  <a:t>Total Campaign Cost: </a:t>
                </a:r>
              </a:p>
              <a:p>
                <a:pPr algn="ctr">
                  <a:spcAft>
                    <a:spcPts val="300"/>
                  </a:spcAft>
                </a:pPr>
                <a:r>
                  <a:rPr lang="en-US" sz="1000" dirty="0">
                    <a:solidFill>
                      <a:srgbClr val="3C8394"/>
                    </a:solidFill>
                    <a:latin typeface="Montserrat SemiBold" panose="00000700000000000000" pitchFamily="2" charset="0"/>
                  </a:rPr>
                  <a:t>{{campaign_1_cost}}</a:t>
                </a:r>
              </a:p>
            </p:txBody>
          </p:sp>
          <p:sp>
            <p:nvSpPr>
              <p:cNvPr id="30" name="TextBox 29">
                <a:extLst>
                  <a:ext uri="{FF2B5EF4-FFF2-40B4-BE49-F238E27FC236}">
                    <a16:creationId xmlns:a16="http://schemas.microsoft.com/office/drawing/2014/main" id="{C4F7E845-E847-3F2E-C5D0-7D3C0A76F8E3}"/>
                  </a:ext>
                </a:extLst>
              </p:cNvPr>
              <p:cNvSpPr txBox="1"/>
              <p:nvPr/>
            </p:nvSpPr>
            <p:spPr>
              <a:xfrm>
                <a:off x="938640" y="4056856"/>
                <a:ext cx="2247015" cy="154333"/>
              </a:xfrm>
              <a:prstGeom prst="rect">
                <a:avLst/>
              </a:prstGeom>
              <a:noFill/>
            </p:spPr>
            <p:txBody>
              <a:bodyPr wrap="square" numCol="1" rtlCol="0">
                <a:spAutoFit/>
              </a:bodyPr>
              <a:lstStyle/>
              <a:p>
                <a:pPr>
                  <a:spcAft>
                    <a:spcPts val="1200"/>
                  </a:spcAft>
                </a:pPr>
                <a:r>
                  <a:rPr lang="en-US" sz="700" dirty="0">
                    <a:solidFill>
                      <a:schemeClr val="bg1"/>
                    </a:solidFill>
                    <a:latin typeface="Montserrat SemiBold" panose="00000700000000000000" pitchFamily="2" charset="0"/>
                  </a:rPr>
                  <a:t>       </a:t>
                </a:r>
                <a:r>
                  <a:rPr lang="en-US" sz="1000" dirty="0">
                    <a:solidFill>
                      <a:schemeClr val="bg1"/>
                    </a:solidFill>
                    <a:latin typeface="Montserrat SemiBold" panose="00000700000000000000" pitchFamily="2" charset="0"/>
                  </a:rPr>
                  <a:t>1 CAMPAIGN</a:t>
                </a:r>
              </a:p>
            </p:txBody>
          </p:sp>
        </p:grpSp>
        <p:pic>
          <p:nvPicPr>
            <p:cNvPr id="2" name="Graphic 1" descr="Envelope with solid fill">
              <a:extLst>
                <a:ext uri="{FF2B5EF4-FFF2-40B4-BE49-F238E27FC236}">
                  <a16:creationId xmlns:a16="http://schemas.microsoft.com/office/drawing/2014/main" id="{B10DF681-B260-C92B-7648-20F90B3057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41257" y="4190783"/>
              <a:ext cx="188431" cy="188431"/>
            </a:xfrm>
            <a:prstGeom prst="rect">
              <a:avLst/>
            </a:prstGeom>
          </p:spPr>
        </p:pic>
      </p:grpSp>
      <p:grpSp>
        <p:nvGrpSpPr>
          <p:cNvPr id="40" name="Group 39">
            <a:extLst>
              <a:ext uri="{FF2B5EF4-FFF2-40B4-BE49-F238E27FC236}">
                <a16:creationId xmlns:a16="http://schemas.microsoft.com/office/drawing/2014/main" id="{64383C6E-04AC-9782-0EBA-6203CF1EC502}"/>
              </a:ext>
            </a:extLst>
          </p:cNvPr>
          <p:cNvGrpSpPr/>
          <p:nvPr/>
        </p:nvGrpSpPr>
        <p:grpSpPr>
          <a:xfrm>
            <a:off x="4969131" y="4051672"/>
            <a:ext cx="2250376" cy="1071897"/>
            <a:chOff x="935283" y="4056856"/>
            <a:chExt cx="2250376" cy="671873"/>
          </a:xfrm>
        </p:grpSpPr>
        <p:grpSp>
          <p:nvGrpSpPr>
            <p:cNvPr id="52" name="Group 51">
              <a:extLst>
                <a:ext uri="{FF2B5EF4-FFF2-40B4-BE49-F238E27FC236}">
                  <a16:creationId xmlns:a16="http://schemas.microsoft.com/office/drawing/2014/main" id="{F7F9E48A-1BD2-B62B-1C16-9F7D675618E5}"/>
                </a:ext>
              </a:extLst>
            </p:cNvPr>
            <p:cNvGrpSpPr/>
            <p:nvPr/>
          </p:nvGrpSpPr>
          <p:grpSpPr>
            <a:xfrm>
              <a:off x="935283" y="4060206"/>
              <a:ext cx="2250376" cy="662617"/>
              <a:chOff x="6465074" y="1606214"/>
              <a:chExt cx="3561848" cy="3170320"/>
            </a:xfrm>
          </p:grpSpPr>
          <p:sp>
            <p:nvSpPr>
              <p:cNvPr id="55" name="Rectangle: Rounded Corners 54">
                <a:extLst>
                  <a:ext uri="{FF2B5EF4-FFF2-40B4-BE49-F238E27FC236}">
                    <a16:creationId xmlns:a16="http://schemas.microsoft.com/office/drawing/2014/main" id="{842676AE-5168-BB83-CF82-368D099ED1F4}"/>
                  </a:ext>
                </a:extLst>
              </p:cNvPr>
              <p:cNvSpPr/>
              <p:nvPr/>
            </p:nvSpPr>
            <p:spPr>
              <a:xfrm>
                <a:off x="6470394" y="1606214"/>
                <a:ext cx="3556528" cy="3170320"/>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Top Corners Rounded 55">
                <a:extLst>
                  <a:ext uri="{FF2B5EF4-FFF2-40B4-BE49-F238E27FC236}">
                    <a16:creationId xmlns:a16="http://schemas.microsoft.com/office/drawing/2014/main" id="{3636E8BF-48E1-6ACD-52E3-1B4CF6DAB082}"/>
                  </a:ext>
                </a:extLst>
              </p:cNvPr>
              <p:cNvSpPr/>
              <p:nvPr/>
            </p:nvSpPr>
            <p:spPr>
              <a:xfrm>
                <a:off x="6465074" y="1606214"/>
                <a:ext cx="3561845" cy="718914"/>
              </a:xfrm>
              <a:prstGeom prst="round2SameRect">
                <a:avLst/>
              </a:prstGeom>
              <a:solidFill>
                <a:srgbClr val="76BD22"/>
              </a:solidFill>
              <a:ln>
                <a:solidFill>
                  <a:srgbClr val="76BD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TextBox 52">
              <a:extLst>
                <a:ext uri="{FF2B5EF4-FFF2-40B4-BE49-F238E27FC236}">
                  <a16:creationId xmlns:a16="http://schemas.microsoft.com/office/drawing/2014/main" id="{AD4B0BF1-647D-5556-9A4A-4787096DB12B}"/>
                </a:ext>
              </a:extLst>
            </p:cNvPr>
            <p:cNvSpPr txBox="1"/>
            <p:nvPr/>
          </p:nvSpPr>
          <p:spPr>
            <a:xfrm>
              <a:off x="938640" y="4231969"/>
              <a:ext cx="2247015" cy="496760"/>
            </a:xfrm>
            <a:prstGeom prst="rect">
              <a:avLst/>
            </a:prstGeom>
            <a:noFill/>
          </p:spPr>
          <p:txBody>
            <a:bodyPr wrap="square" numCol="1" rtlCol="0">
              <a:spAutoFit/>
            </a:bodyPr>
            <a:lstStyle/>
            <a:p>
              <a:pPr algn="ctr">
                <a:spcBef>
                  <a:spcPts val="1200"/>
                </a:spcBef>
                <a:spcAft>
                  <a:spcPts val="300"/>
                </a:spcAft>
              </a:pPr>
              <a:r>
                <a:rPr lang="en-US" sz="900" dirty="0">
                  <a:latin typeface="Montserrat SemiBold" panose="00000700000000000000" pitchFamily="2" charset="0"/>
                </a:rPr>
                <a:t>Total Postcards &amp; Emails: </a:t>
              </a:r>
            </a:p>
            <a:p>
              <a:pPr algn="ctr">
                <a:spcAft>
                  <a:spcPts val="300"/>
                </a:spcAft>
              </a:pPr>
              <a:r>
                <a:rPr lang="en-US" sz="1000" dirty="0">
                  <a:solidFill>
                    <a:srgbClr val="76BD22"/>
                  </a:solidFill>
                  <a:latin typeface="Montserrat SemiBold" panose="00000700000000000000" pitchFamily="2" charset="0"/>
                </a:rPr>
                <a:t>{{total_targets_2}}</a:t>
              </a:r>
            </a:p>
            <a:p>
              <a:pPr algn="ctr">
                <a:spcAft>
                  <a:spcPts val="300"/>
                </a:spcAft>
              </a:pPr>
              <a:r>
                <a:rPr lang="en-US" sz="900" dirty="0">
                  <a:latin typeface="Montserrat SemiBold" panose="00000700000000000000" pitchFamily="2" charset="0"/>
                </a:rPr>
                <a:t>Total Campaign Cost: </a:t>
              </a:r>
            </a:p>
            <a:p>
              <a:pPr algn="ctr">
                <a:spcAft>
                  <a:spcPts val="300"/>
                </a:spcAft>
              </a:pPr>
              <a:r>
                <a:rPr lang="en-US" sz="1000" dirty="0">
                  <a:solidFill>
                    <a:srgbClr val="76BD22"/>
                  </a:solidFill>
                  <a:latin typeface="Montserrat SemiBold" panose="00000700000000000000" pitchFamily="2" charset="0"/>
                </a:rPr>
                <a:t>{{campaign_2_cost}}</a:t>
              </a:r>
            </a:p>
          </p:txBody>
        </p:sp>
        <p:sp>
          <p:nvSpPr>
            <p:cNvPr id="54" name="TextBox 53">
              <a:extLst>
                <a:ext uri="{FF2B5EF4-FFF2-40B4-BE49-F238E27FC236}">
                  <a16:creationId xmlns:a16="http://schemas.microsoft.com/office/drawing/2014/main" id="{B59BDA03-3F47-2D7D-4083-0B14EC1B5B26}"/>
                </a:ext>
              </a:extLst>
            </p:cNvPr>
            <p:cNvSpPr txBox="1"/>
            <p:nvPr/>
          </p:nvSpPr>
          <p:spPr>
            <a:xfrm>
              <a:off x="938640" y="4056856"/>
              <a:ext cx="2084033" cy="154333"/>
            </a:xfrm>
            <a:prstGeom prst="rect">
              <a:avLst/>
            </a:prstGeom>
            <a:noFill/>
          </p:spPr>
          <p:txBody>
            <a:bodyPr wrap="square" numCol="1" rtlCol="0">
              <a:spAutoFit/>
            </a:bodyPr>
            <a:lstStyle/>
            <a:p>
              <a:pPr>
                <a:spcAft>
                  <a:spcPts val="1200"/>
                </a:spcAft>
              </a:pPr>
              <a:r>
                <a:rPr lang="en-US" sz="700" dirty="0">
                  <a:solidFill>
                    <a:schemeClr val="bg1"/>
                  </a:solidFill>
                  <a:latin typeface="Montserrat SemiBold" panose="00000700000000000000" pitchFamily="2" charset="0"/>
                </a:rPr>
                <a:t>       </a:t>
              </a:r>
              <a:r>
                <a:rPr lang="en-US" sz="1000" dirty="0">
                  <a:solidFill>
                    <a:schemeClr val="bg1"/>
                  </a:solidFill>
                  <a:latin typeface="Montserrat SemiBold" panose="00000700000000000000" pitchFamily="2" charset="0"/>
                </a:rPr>
                <a:t>2 CAMPAIGNS</a:t>
              </a:r>
            </a:p>
          </p:txBody>
        </p:sp>
      </p:grpSp>
      <p:grpSp>
        <p:nvGrpSpPr>
          <p:cNvPr id="58" name="Group 57">
            <a:extLst>
              <a:ext uri="{FF2B5EF4-FFF2-40B4-BE49-F238E27FC236}">
                <a16:creationId xmlns:a16="http://schemas.microsoft.com/office/drawing/2014/main" id="{67D052E1-E016-62FE-F22A-C0D2872C3788}"/>
              </a:ext>
            </a:extLst>
          </p:cNvPr>
          <p:cNvGrpSpPr/>
          <p:nvPr/>
        </p:nvGrpSpPr>
        <p:grpSpPr>
          <a:xfrm>
            <a:off x="8302765" y="4051672"/>
            <a:ext cx="2250376" cy="1071897"/>
            <a:chOff x="935283" y="4056856"/>
            <a:chExt cx="2250376" cy="671873"/>
          </a:xfrm>
        </p:grpSpPr>
        <p:grpSp>
          <p:nvGrpSpPr>
            <p:cNvPr id="60" name="Group 59">
              <a:extLst>
                <a:ext uri="{FF2B5EF4-FFF2-40B4-BE49-F238E27FC236}">
                  <a16:creationId xmlns:a16="http://schemas.microsoft.com/office/drawing/2014/main" id="{21F9926C-8FF1-7B2F-62A3-6D55DC677C16}"/>
                </a:ext>
              </a:extLst>
            </p:cNvPr>
            <p:cNvGrpSpPr/>
            <p:nvPr/>
          </p:nvGrpSpPr>
          <p:grpSpPr>
            <a:xfrm>
              <a:off x="935283" y="4060206"/>
              <a:ext cx="2250376" cy="662617"/>
              <a:chOff x="6465074" y="1606214"/>
              <a:chExt cx="3561848" cy="3170320"/>
            </a:xfrm>
          </p:grpSpPr>
          <p:sp>
            <p:nvSpPr>
              <p:cNvPr id="63" name="Rectangle: Rounded Corners 62">
                <a:extLst>
                  <a:ext uri="{FF2B5EF4-FFF2-40B4-BE49-F238E27FC236}">
                    <a16:creationId xmlns:a16="http://schemas.microsoft.com/office/drawing/2014/main" id="{1ED171E9-19B3-E4DF-32E1-4752893C32F9}"/>
                  </a:ext>
                </a:extLst>
              </p:cNvPr>
              <p:cNvSpPr/>
              <p:nvPr/>
            </p:nvSpPr>
            <p:spPr>
              <a:xfrm>
                <a:off x="6470394" y="1606214"/>
                <a:ext cx="3556528" cy="3170320"/>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Top Corners Rounded 63">
                <a:extLst>
                  <a:ext uri="{FF2B5EF4-FFF2-40B4-BE49-F238E27FC236}">
                    <a16:creationId xmlns:a16="http://schemas.microsoft.com/office/drawing/2014/main" id="{48F07A09-7B09-258E-A7B5-61785B078A5E}"/>
                  </a:ext>
                </a:extLst>
              </p:cNvPr>
              <p:cNvSpPr/>
              <p:nvPr/>
            </p:nvSpPr>
            <p:spPr>
              <a:xfrm>
                <a:off x="6465074" y="1606214"/>
                <a:ext cx="3561845" cy="718914"/>
              </a:xfrm>
              <a:prstGeom prst="round2SameRect">
                <a:avLst/>
              </a:prstGeom>
              <a:solidFill>
                <a:srgbClr val="3555BD"/>
              </a:solid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555BD"/>
                  </a:solidFill>
                </a:endParaRPr>
              </a:p>
            </p:txBody>
          </p:sp>
        </p:grpSp>
        <p:sp>
          <p:nvSpPr>
            <p:cNvPr id="61" name="TextBox 60">
              <a:extLst>
                <a:ext uri="{FF2B5EF4-FFF2-40B4-BE49-F238E27FC236}">
                  <a16:creationId xmlns:a16="http://schemas.microsoft.com/office/drawing/2014/main" id="{23CA758A-8F11-7018-DB3B-A58D88FD81A9}"/>
                </a:ext>
              </a:extLst>
            </p:cNvPr>
            <p:cNvSpPr txBox="1"/>
            <p:nvPr/>
          </p:nvSpPr>
          <p:spPr>
            <a:xfrm>
              <a:off x="938640" y="4231969"/>
              <a:ext cx="2247015" cy="496760"/>
            </a:xfrm>
            <a:prstGeom prst="rect">
              <a:avLst/>
            </a:prstGeom>
            <a:noFill/>
          </p:spPr>
          <p:txBody>
            <a:bodyPr wrap="square" numCol="1" rtlCol="0">
              <a:spAutoFit/>
            </a:bodyPr>
            <a:lstStyle/>
            <a:p>
              <a:pPr algn="ctr">
                <a:spcBef>
                  <a:spcPts val="1200"/>
                </a:spcBef>
                <a:spcAft>
                  <a:spcPts val="300"/>
                </a:spcAft>
              </a:pPr>
              <a:r>
                <a:rPr lang="en-US" sz="900" dirty="0">
                  <a:latin typeface="Montserrat SemiBold" panose="00000700000000000000" pitchFamily="2" charset="0"/>
                </a:rPr>
                <a:t>Total Postcards &amp; Emails: </a:t>
              </a:r>
            </a:p>
            <a:p>
              <a:pPr algn="ctr">
                <a:spcAft>
                  <a:spcPts val="300"/>
                </a:spcAft>
              </a:pPr>
              <a:r>
                <a:rPr lang="en-US" sz="1000" dirty="0">
                  <a:solidFill>
                    <a:srgbClr val="3555BD"/>
                  </a:solidFill>
                  <a:latin typeface="Montserrat SemiBold" panose="00000700000000000000" pitchFamily="2" charset="0"/>
                </a:rPr>
                <a:t>{{total_targets_4}}</a:t>
              </a:r>
            </a:p>
            <a:p>
              <a:pPr algn="ctr">
                <a:spcAft>
                  <a:spcPts val="300"/>
                </a:spcAft>
              </a:pPr>
              <a:r>
                <a:rPr lang="en-US" sz="900" dirty="0">
                  <a:latin typeface="Montserrat SemiBold" panose="00000700000000000000" pitchFamily="2" charset="0"/>
                </a:rPr>
                <a:t>Total Campaign Cost: </a:t>
              </a:r>
            </a:p>
            <a:p>
              <a:pPr algn="ctr">
                <a:spcAft>
                  <a:spcPts val="300"/>
                </a:spcAft>
              </a:pPr>
              <a:r>
                <a:rPr lang="en-US" sz="1000" dirty="0">
                  <a:solidFill>
                    <a:srgbClr val="3555BD"/>
                  </a:solidFill>
                  <a:latin typeface="Montserrat SemiBold" panose="00000700000000000000" pitchFamily="2" charset="0"/>
                </a:rPr>
                <a:t>{{campaign_4_cost}}</a:t>
              </a:r>
            </a:p>
          </p:txBody>
        </p:sp>
        <p:sp>
          <p:nvSpPr>
            <p:cNvPr id="62" name="TextBox 61">
              <a:extLst>
                <a:ext uri="{FF2B5EF4-FFF2-40B4-BE49-F238E27FC236}">
                  <a16:creationId xmlns:a16="http://schemas.microsoft.com/office/drawing/2014/main" id="{34E8F8A9-C9D9-1C96-1032-888E027B3FC3}"/>
                </a:ext>
              </a:extLst>
            </p:cNvPr>
            <p:cNvSpPr txBox="1"/>
            <p:nvPr/>
          </p:nvSpPr>
          <p:spPr>
            <a:xfrm>
              <a:off x="938640" y="4056856"/>
              <a:ext cx="2084033" cy="154333"/>
            </a:xfrm>
            <a:prstGeom prst="rect">
              <a:avLst/>
            </a:prstGeom>
            <a:noFill/>
          </p:spPr>
          <p:txBody>
            <a:bodyPr wrap="square" numCol="1" rtlCol="0">
              <a:spAutoFit/>
            </a:bodyPr>
            <a:lstStyle/>
            <a:p>
              <a:pPr>
                <a:spcAft>
                  <a:spcPts val="1200"/>
                </a:spcAft>
              </a:pPr>
              <a:r>
                <a:rPr lang="en-US" sz="700" dirty="0">
                  <a:solidFill>
                    <a:schemeClr val="bg1"/>
                  </a:solidFill>
                  <a:latin typeface="Montserrat SemiBold" panose="00000700000000000000" pitchFamily="2" charset="0"/>
                </a:rPr>
                <a:t>       </a:t>
              </a:r>
              <a:r>
                <a:rPr lang="en-US" sz="1000" dirty="0">
                  <a:solidFill>
                    <a:schemeClr val="bg1"/>
                  </a:solidFill>
                  <a:latin typeface="Montserrat SemiBold" panose="00000700000000000000" pitchFamily="2" charset="0"/>
                </a:rPr>
                <a:t>4 CAMPAIGNS</a:t>
              </a:r>
            </a:p>
          </p:txBody>
        </p:sp>
      </p:grpSp>
      <p:pic>
        <p:nvPicPr>
          <p:cNvPr id="7" name="Graphic 6" descr="Envelope with solid fill">
            <a:extLst>
              <a:ext uri="{FF2B5EF4-FFF2-40B4-BE49-F238E27FC236}">
                <a16:creationId xmlns:a16="http://schemas.microsoft.com/office/drawing/2014/main" id="{52F8319B-179A-0781-F0EA-739598BE240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07059" y="4085315"/>
            <a:ext cx="188431" cy="188431"/>
          </a:xfrm>
          <a:prstGeom prst="rect">
            <a:avLst/>
          </a:prstGeom>
        </p:spPr>
      </p:pic>
      <p:pic>
        <p:nvPicPr>
          <p:cNvPr id="8" name="Graphic 7" descr="Envelope with solid fill">
            <a:extLst>
              <a:ext uri="{FF2B5EF4-FFF2-40B4-BE49-F238E27FC236}">
                <a16:creationId xmlns:a16="http://schemas.microsoft.com/office/drawing/2014/main" id="{DD77FF62-0258-05DF-0E15-611DE1D23F1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98848" y="4085315"/>
            <a:ext cx="188431" cy="188431"/>
          </a:xfrm>
          <a:prstGeom prst="rect">
            <a:avLst/>
          </a:prstGeom>
        </p:spPr>
      </p:pic>
      <p:grpSp>
        <p:nvGrpSpPr>
          <p:cNvPr id="65" name="Group 64">
            <a:extLst>
              <a:ext uri="{FF2B5EF4-FFF2-40B4-BE49-F238E27FC236}">
                <a16:creationId xmlns:a16="http://schemas.microsoft.com/office/drawing/2014/main" id="{C1491D7A-779D-6E53-E240-A466773FAF9D}"/>
              </a:ext>
            </a:extLst>
          </p:cNvPr>
          <p:cNvGrpSpPr/>
          <p:nvPr/>
        </p:nvGrpSpPr>
        <p:grpSpPr>
          <a:xfrm>
            <a:off x="9545931" y="4085314"/>
            <a:ext cx="751686" cy="188431"/>
            <a:chOff x="9739659" y="3665668"/>
            <a:chExt cx="751686" cy="188431"/>
          </a:xfrm>
        </p:grpSpPr>
        <p:pic>
          <p:nvPicPr>
            <p:cNvPr id="9" name="Graphic 8" descr="Envelope with solid fill">
              <a:extLst>
                <a:ext uri="{FF2B5EF4-FFF2-40B4-BE49-F238E27FC236}">
                  <a16:creationId xmlns:a16="http://schemas.microsoft.com/office/drawing/2014/main" id="{7EFCDAD1-80D1-6748-54A5-1E281C4F602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39659" y="3665668"/>
              <a:ext cx="188431" cy="188431"/>
            </a:xfrm>
            <a:prstGeom prst="rect">
              <a:avLst/>
            </a:prstGeom>
          </p:spPr>
        </p:pic>
        <p:pic>
          <p:nvPicPr>
            <p:cNvPr id="10" name="Graphic 9" descr="Envelope with solid fill">
              <a:extLst>
                <a:ext uri="{FF2B5EF4-FFF2-40B4-BE49-F238E27FC236}">
                  <a16:creationId xmlns:a16="http://schemas.microsoft.com/office/drawing/2014/main" id="{C842724E-14B9-AA66-22E0-552C99D3DD7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27071" y="3665668"/>
              <a:ext cx="188431" cy="188431"/>
            </a:xfrm>
            <a:prstGeom prst="rect">
              <a:avLst/>
            </a:prstGeom>
          </p:spPr>
        </p:pic>
        <p:pic>
          <p:nvPicPr>
            <p:cNvPr id="11" name="Graphic 10" descr="Envelope with solid fill">
              <a:extLst>
                <a:ext uri="{FF2B5EF4-FFF2-40B4-BE49-F238E27FC236}">
                  <a16:creationId xmlns:a16="http://schemas.microsoft.com/office/drawing/2014/main" id="{AC7B1BE8-02EF-B14C-8DE8-6C129695A38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15502" y="3665668"/>
              <a:ext cx="188431" cy="188431"/>
            </a:xfrm>
            <a:prstGeom prst="rect">
              <a:avLst/>
            </a:prstGeom>
          </p:spPr>
        </p:pic>
        <p:pic>
          <p:nvPicPr>
            <p:cNvPr id="31" name="Graphic 30" descr="Envelope with solid fill">
              <a:extLst>
                <a:ext uri="{FF2B5EF4-FFF2-40B4-BE49-F238E27FC236}">
                  <a16:creationId xmlns:a16="http://schemas.microsoft.com/office/drawing/2014/main" id="{966ECD29-7B64-2380-2848-586AC638D52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02914" y="3665668"/>
              <a:ext cx="188431" cy="188431"/>
            </a:xfrm>
            <a:prstGeom prst="rect">
              <a:avLst/>
            </a:prstGeom>
          </p:spPr>
        </p:pic>
      </p:grpSp>
    </p:spTree>
    <p:extLst>
      <p:ext uri="{BB962C8B-B14F-4D97-AF65-F5344CB8AC3E}">
        <p14:creationId xmlns:p14="http://schemas.microsoft.com/office/powerpoint/2010/main" val="1595409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4615</TotalTime>
  <Words>914</Words>
  <Application>Microsoft Office PowerPoint</Application>
  <PresentationFormat>Widescreen</PresentationFormat>
  <Paragraphs>105</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Arial</vt:lpstr>
      <vt:lpstr>Lora Medium</vt:lpstr>
      <vt:lpstr>Montserrat</vt:lpstr>
      <vt:lpstr>Montserrat Medium</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Vachon, Erica</dc:creator>
  <cp:lastModifiedBy>Jen Braziel</cp:lastModifiedBy>
  <cp:revision>70</cp:revision>
  <cp:lastPrinted>2025-02-12T14:26:21Z</cp:lastPrinted>
  <dcterms:created xsi:type="dcterms:W3CDTF">2025-02-12T12:02:51Z</dcterms:created>
  <dcterms:modified xsi:type="dcterms:W3CDTF">2026-05-26T16:25:30Z</dcterms:modified>
</cp:coreProperties>
</file>