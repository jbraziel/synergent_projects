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2"/>
  </p:notesMasterIdLst>
  <p:sldIdLst>
    <p:sldId id="257" r:id="rId2"/>
    <p:sldId id="274" r:id="rId3"/>
    <p:sldId id="286" r:id="rId4"/>
    <p:sldId id="287" r:id="rId5"/>
    <p:sldId id="275" r:id="rId6"/>
    <p:sldId id="283" r:id="rId7"/>
    <p:sldId id="288" r:id="rId8"/>
    <p:sldId id="289" r:id="rId9"/>
    <p:sldId id="285" r:id="rId10"/>
    <p:sldId id="258" r:id="rId11"/>
  </p:sldIdLst>
  <p:sldSz cx="12192000" cy="6858000"/>
  <p:notesSz cx="7315200" cy="96012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6BD22"/>
    <a:srgbClr val="3555BD"/>
    <a:srgbClr val="3C8394"/>
    <a:srgbClr val="BAC6EC"/>
    <a:srgbClr val="2F6673"/>
    <a:srgbClr val="1F434C"/>
    <a:srgbClr val="4AA0B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EF4FB6B-3E4E-4948-841E-E52E871F6FF7}" v="14" dt="2026-05-22T21:52:03.1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14" autoAdjust="0"/>
    <p:restoredTop sz="94660"/>
  </p:normalViewPr>
  <p:slideViewPr>
    <p:cSldViewPr snapToGrid="0">
      <p:cViewPr varScale="1">
        <p:scale>
          <a:sx n="159" d="100"/>
          <a:sy n="159" d="100"/>
        </p:scale>
        <p:origin x="2520" y="13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en Braziel" userId="5add26521aa46a26" providerId="LiveId" clId="{98CDCD58-43B4-467E-98F4-AC1A5120113B}"/>
    <pc:docChg chg="undo custSel modSld modMainMaster">
      <pc:chgData name="Jen Braziel" userId="5add26521aa46a26" providerId="LiveId" clId="{98CDCD58-43B4-467E-98F4-AC1A5120113B}" dt="2026-05-22T23:38:45.739" v="1029" actId="1076"/>
      <pc:docMkLst>
        <pc:docMk/>
      </pc:docMkLst>
      <pc:sldChg chg="addSp modSp mod">
        <pc:chgData name="Jen Braziel" userId="5add26521aa46a26" providerId="LiveId" clId="{98CDCD58-43B4-467E-98F4-AC1A5120113B}" dt="2026-05-22T23:38:45.739" v="1029" actId="1076"/>
        <pc:sldMkLst>
          <pc:docMk/>
          <pc:sldMk cId="1595409390" sldId="258"/>
        </pc:sldMkLst>
        <pc:spChg chg="mod">
          <ac:chgData name="Jen Braziel" userId="5add26521aa46a26" providerId="LiveId" clId="{98CDCD58-43B4-467E-98F4-AC1A5120113B}" dt="2026-05-22T22:48:25.123" v="995" actId="20577"/>
          <ac:spMkLst>
            <pc:docMk/>
            <pc:sldMk cId="1595409390" sldId="258"/>
            <ac:spMk id="5" creationId="{03FBAD4F-FDCD-B242-0454-76834EC9CE48}"/>
          </ac:spMkLst>
        </pc:spChg>
        <pc:spChg chg="mod">
          <ac:chgData name="Jen Braziel" userId="5add26521aa46a26" providerId="LiveId" clId="{98CDCD58-43B4-467E-98F4-AC1A5120113B}" dt="2026-05-19T22:22:58.379" v="342" actId="1076"/>
          <ac:spMkLst>
            <pc:docMk/>
            <pc:sldMk cId="1595409390" sldId="258"/>
            <ac:spMk id="6" creationId="{DAFEB9D1-1DBE-AA93-D046-695B3EACE72D}"/>
          </ac:spMkLst>
        </pc:spChg>
        <pc:spChg chg="mod">
          <ac:chgData name="Jen Braziel" userId="5add26521aa46a26" providerId="LiveId" clId="{98CDCD58-43B4-467E-98F4-AC1A5120113B}" dt="2026-05-19T22:24:05.804" v="350" actId="1076"/>
          <ac:spMkLst>
            <pc:docMk/>
            <pc:sldMk cId="1595409390" sldId="258"/>
            <ac:spMk id="13" creationId="{05E03307-8C9C-06CE-23B9-0AECD7B793A3}"/>
          </ac:spMkLst>
        </pc:spChg>
        <pc:spChg chg="mod">
          <ac:chgData name="Jen Braziel" userId="5add26521aa46a26" providerId="LiveId" clId="{98CDCD58-43B4-467E-98F4-AC1A5120113B}" dt="2026-05-22T21:52:03.171" v="649"/>
          <ac:spMkLst>
            <pc:docMk/>
            <pc:sldMk cId="1595409390" sldId="258"/>
            <ac:spMk id="28" creationId="{A600439F-501D-0A1F-763B-C80EE6BEE9A1}"/>
          </ac:spMkLst>
        </pc:spChg>
        <pc:spChg chg="mod">
          <ac:chgData name="Jen Braziel" userId="5add26521aa46a26" providerId="LiveId" clId="{98CDCD58-43B4-467E-98F4-AC1A5120113B}" dt="2026-05-22T21:52:03.171" v="649"/>
          <ac:spMkLst>
            <pc:docMk/>
            <pc:sldMk cId="1595409390" sldId="258"/>
            <ac:spMk id="29" creationId="{EAEE49CE-9038-22DC-80A0-6710BECE0270}"/>
          </ac:spMkLst>
        </pc:spChg>
        <pc:spChg chg="mod">
          <ac:chgData name="Jen Braziel" userId="5add26521aa46a26" providerId="LiveId" clId="{98CDCD58-43B4-467E-98F4-AC1A5120113B}" dt="2026-05-22T23:38:11.247" v="1021" actId="1076"/>
          <ac:spMkLst>
            <pc:docMk/>
            <pc:sldMk cId="1595409390" sldId="258"/>
            <ac:spMk id="30" creationId="{C4F7E845-E847-3F2E-C5D0-7D3C0A76F8E3}"/>
          </ac:spMkLst>
        </pc:spChg>
        <pc:spChg chg="mod">
          <ac:chgData name="Jen Braziel" userId="5add26521aa46a26" providerId="LiveId" clId="{98CDCD58-43B4-467E-98F4-AC1A5120113B}" dt="2026-05-22T23:25:37.216" v="1000" actId="113"/>
          <ac:spMkLst>
            <pc:docMk/>
            <pc:sldMk cId="1595409390" sldId="258"/>
            <ac:spMk id="32" creationId="{4BD630CC-4BBA-DE94-B632-54927DB326F4}"/>
          </ac:spMkLst>
        </pc:spChg>
        <pc:spChg chg="mod">
          <ac:chgData name="Jen Braziel" userId="5add26521aa46a26" providerId="LiveId" clId="{98CDCD58-43B4-467E-98F4-AC1A5120113B}" dt="2026-05-22T23:38:21.123" v="1023" actId="1076"/>
          <ac:spMkLst>
            <pc:docMk/>
            <pc:sldMk cId="1595409390" sldId="258"/>
            <ac:spMk id="33" creationId="{4DF9CDFF-AE6D-ABA0-8859-75F7E2B22447}"/>
          </ac:spMkLst>
        </pc:spChg>
        <pc:spChg chg="mod">
          <ac:chgData name="Jen Braziel" userId="5add26521aa46a26" providerId="LiveId" clId="{98CDCD58-43B4-467E-98F4-AC1A5120113B}" dt="2026-05-22T23:25:59.020" v="1004" actId="113"/>
          <ac:spMkLst>
            <pc:docMk/>
            <pc:sldMk cId="1595409390" sldId="258"/>
            <ac:spMk id="35" creationId="{54917A0C-2816-234B-D60A-4F46981D212D}"/>
          </ac:spMkLst>
        </pc:spChg>
        <pc:spChg chg="mod">
          <ac:chgData name="Jen Braziel" userId="5add26521aa46a26" providerId="LiveId" clId="{98CDCD58-43B4-467E-98F4-AC1A5120113B}" dt="2026-05-22T23:38:28.212" v="1025" actId="1076"/>
          <ac:spMkLst>
            <pc:docMk/>
            <pc:sldMk cId="1595409390" sldId="258"/>
            <ac:spMk id="36" creationId="{7D4DD40F-9E2D-1141-DF0A-FFD518D8FF4D}"/>
          </ac:spMkLst>
        </pc:spChg>
        <pc:spChg chg="mod">
          <ac:chgData name="Jen Braziel" userId="5add26521aa46a26" providerId="LiveId" clId="{98CDCD58-43B4-467E-98F4-AC1A5120113B}" dt="2026-05-22T23:26:20.747" v="1009" actId="14100"/>
          <ac:spMkLst>
            <pc:docMk/>
            <pc:sldMk cId="1595409390" sldId="258"/>
            <ac:spMk id="38" creationId="{597E5423-1DC6-FABA-1364-6AA51343FBCB}"/>
          </ac:spMkLst>
        </pc:spChg>
        <pc:spChg chg="mod">
          <ac:chgData name="Jen Braziel" userId="5add26521aa46a26" providerId="LiveId" clId="{98CDCD58-43B4-467E-98F4-AC1A5120113B}" dt="2026-05-22T23:38:37.024" v="1027" actId="1076"/>
          <ac:spMkLst>
            <pc:docMk/>
            <pc:sldMk cId="1595409390" sldId="258"/>
            <ac:spMk id="39" creationId="{5B61A8D6-F724-162F-1500-4723CB620238}"/>
          </ac:spMkLst>
        </pc:spChg>
        <pc:spChg chg="mod">
          <ac:chgData name="Jen Braziel" userId="5add26521aa46a26" providerId="LiveId" clId="{98CDCD58-43B4-467E-98F4-AC1A5120113B}" dt="2026-05-22T23:26:39.621" v="1013" actId="113"/>
          <ac:spMkLst>
            <pc:docMk/>
            <pc:sldMk cId="1595409390" sldId="258"/>
            <ac:spMk id="41" creationId="{1D9655C0-5660-9163-2FC3-7540C0FB8DE7}"/>
          </ac:spMkLst>
        </pc:spChg>
        <pc:spChg chg="mod">
          <ac:chgData name="Jen Braziel" userId="5add26521aa46a26" providerId="LiveId" clId="{98CDCD58-43B4-467E-98F4-AC1A5120113B}" dt="2026-05-22T23:38:45.739" v="1029" actId="1076"/>
          <ac:spMkLst>
            <pc:docMk/>
            <pc:sldMk cId="1595409390" sldId="258"/>
            <ac:spMk id="42" creationId="{509F3713-1F61-9EB1-3948-9EAA95E262A5}"/>
          </ac:spMkLst>
        </pc:spChg>
        <pc:spChg chg="mod">
          <ac:chgData name="Jen Braziel" userId="5add26521aa46a26" providerId="LiveId" clId="{98CDCD58-43B4-467E-98F4-AC1A5120113B}" dt="2026-05-22T21:52:03.171" v="649"/>
          <ac:spMkLst>
            <pc:docMk/>
            <pc:sldMk cId="1595409390" sldId="258"/>
            <ac:spMk id="43" creationId="{922541C4-7F65-3EC8-8BD3-F09893ACA576}"/>
          </ac:spMkLst>
        </pc:spChg>
        <pc:spChg chg="mod">
          <ac:chgData name="Jen Braziel" userId="5add26521aa46a26" providerId="LiveId" clId="{98CDCD58-43B4-467E-98F4-AC1A5120113B}" dt="2026-05-22T22:47:52.888" v="964" actId="20577"/>
          <ac:spMkLst>
            <pc:docMk/>
            <pc:sldMk cId="1595409390" sldId="258"/>
            <ac:spMk id="44" creationId="{BF8F3A8F-0A5B-7084-0A23-7B57E53B44F2}"/>
          </ac:spMkLst>
        </pc:spChg>
        <pc:spChg chg="add mod">
          <ac:chgData name="Jen Braziel" userId="5add26521aa46a26" providerId="LiveId" clId="{98CDCD58-43B4-467E-98F4-AC1A5120113B}" dt="2026-05-22T21:52:27.659" v="663" actId="20577"/>
          <ac:spMkLst>
            <pc:docMk/>
            <pc:sldMk cId="1595409390" sldId="258"/>
            <ac:spMk id="45" creationId="{E7BE849F-2E93-ABAD-8C3F-1BC13D62C9DE}"/>
          </ac:spMkLst>
        </pc:spChg>
        <pc:grpChg chg="mod">
          <ac:chgData name="Jen Braziel" userId="5add26521aa46a26" providerId="LiveId" clId="{98CDCD58-43B4-467E-98F4-AC1A5120113B}" dt="2026-05-19T22:23:49.003" v="345" actId="164"/>
          <ac:grpSpMkLst>
            <pc:docMk/>
            <pc:sldMk cId="1595409390" sldId="258"/>
            <ac:grpSpMk id="15" creationId="{3CA08F08-7C34-9505-CE24-FE2489C03EE2}"/>
          </ac:grpSpMkLst>
        </pc:grpChg>
        <pc:grpChg chg="mod">
          <ac:chgData name="Jen Braziel" userId="5add26521aa46a26" providerId="LiveId" clId="{98CDCD58-43B4-467E-98F4-AC1A5120113B}" dt="2026-05-19T22:24:01.416" v="348" actId="164"/>
          <ac:grpSpMkLst>
            <pc:docMk/>
            <pc:sldMk cId="1595409390" sldId="258"/>
            <ac:grpSpMk id="18" creationId="{F98279D6-D830-B659-C5D6-F5E58CD0529E}"/>
          </ac:grpSpMkLst>
        </pc:grpChg>
        <pc:grpChg chg="mod">
          <ac:chgData name="Jen Braziel" userId="5add26521aa46a26" providerId="LiveId" clId="{98CDCD58-43B4-467E-98F4-AC1A5120113B}" dt="2026-05-19T22:24:13.759" v="351" actId="164"/>
          <ac:grpSpMkLst>
            <pc:docMk/>
            <pc:sldMk cId="1595409390" sldId="258"/>
            <ac:grpSpMk id="21" creationId="{784E3D22-A981-1C0D-B715-2DABC6C1C7D8}"/>
          </ac:grpSpMkLst>
        </pc:grpChg>
        <pc:grpChg chg="mod">
          <ac:chgData name="Jen Braziel" userId="5add26521aa46a26" providerId="LiveId" clId="{98CDCD58-43B4-467E-98F4-AC1A5120113B}" dt="2026-05-19T22:24:21.404" v="352" actId="164"/>
          <ac:grpSpMkLst>
            <pc:docMk/>
            <pc:sldMk cId="1595409390" sldId="258"/>
            <ac:grpSpMk id="24" creationId="{83DB5A3A-42A9-01CF-73F3-87C5A86EF553}"/>
          </ac:grpSpMkLst>
        </pc:grpChg>
        <pc:grpChg chg="mod">
          <ac:chgData name="Jen Braziel" userId="5add26521aa46a26" providerId="LiveId" clId="{98CDCD58-43B4-467E-98F4-AC1A5120113B}" dt="2026-05-22T21:52:03.171" v="649"/>
          <ac:grpSpMkLst>
            <pc:docMk/>
            <pc:sldMk cId="1595409390" sldId="258"/>
            <ac:grpSpMk id="27" creationId="{BCA63D93-C765-F099-9174-064B6A8C9B1D}"/>
          </ac:grpSpMkLst>
        </pc:grpChg>
        <pc:grpChg chg="add mod">
          <ac:chgData name="Jen Braziel" userId="5add26521aa46a26" providerId="LiveId" clId="{98CDCD58-43B4-467E-98F4-AC1A5120113B}" dt="2026-05-22T21:52:15.295" v="651" actId="1076"/>
          <ac:grpSpMkLst>
            <pc:docMk/>
            <pc:sldMk cId="1595409390" sldId="258"/>
            <ac:grpSpMk id="46" creationId="{3372D17E-0FF1-BD3B-9C3F-6A2367BAFE7D}"/>
          </ac:grpSpMkLst>
        </pc:grpChg>
        <pc:grpChg chg="add mod">
          <ac:chgData name="Jen Braziel" userId="5add26521aa46a26" providerId="LiveId" clId="{98CDCD58-43B4-467E-98F4-AC1A5120113B}" dt="2026-05-19T22:24:38.737" v="353" actId="12789"/>
          <ac:grpSpMkLst>
            <pc:docMk/>
            <pc:sldMk cId="1595409390" sldId="258"/>
            <ac:grpSpMk id="47" creationId="{4E7C2C77-8D24-83B2-43D0-AC2EB2DDB079}"/>
          </ac:grpSpMkLst>
        </pc:grpChg>
        <pc:grpChg chg="add mod">
          <ac:chgData name="Jen Braziel" userId="5add26521aa46a26" providerId="LiveId" clId="{98CDCD58-43B4-467E-98F4-AC1A5120113B}" dt="2026-05-19T22:24:45.508" v="354" actId="408"/>
          <ac:grpSpMkLst>
            <pc:docMk/>
            <pc:sldMk cId="1595409390" sldId="258"/>
            <ac:grpSpMk id="48" creationId="{CF53190A-7B35-7A74-B64E-DF557E7A42A6}"/>
          </ac:grpSpMkLst>
        </pc:grpChg>
        <pc:grpChg chg="add mod">
          <ac:chgData name="Jen Braziel" userId="5add26521aa46a26" providerId="LiveId" clId="{98CDCD58-43B4-467E-98F4-AC1A5120113B}" dt="2026-05-19T22:24:45.508" v="354" actId="408"/>
          <ac:grpSpMkLst>
            <pc:docMk/>
            <pc:sldMk cId="1595409390" sldId="258"/>
            <ac:grpSpMk id="49" creationId="{B7249938-D7B0-C0B5-C213-27A894706956}"/>
          </ac:grpSpMkLst>
        </pc:grpChg>
        <pc:grpChg chg="add mod">
          <ac:chgData name="Jen Braziel" userId="5add26521aa46a26" providerId="LiveId" clId="{98CDCD58-43B4-467E-98F4-AC1A5120113B}" dt="2026-05-19T22:24:38.737" v="353" actId="12789"/>
          <ac:grpSpMkLst>
            <pc:docMk/>
            <pc:sldMk cId="1595409390" sldId="258"/>
            <ac:grpSpMk id="50" creationId="{90070F81-639C-27E2-55EB-F410DAAE8033}"/>
          </ac:grpSpMkLst>
        </pc:grpChg>
      </pc:sldChg>
      <pc:sldChg chg="modSp mod">
        <pc:chgData name="Jen Braziel" userId="5add26521aa46a26" providerId="LiveId" clId="{98CDCD58-43B4-467E-98F4-AC1A5120113B}" dt="2026-05-19T22:11:43.360" v="14" actId="20577"/>
        <pc:sldMkLst>
          <pc:docMk/>
          <pc:sldMk cId="2712086742" sldId="275"/>
        </pc:sldMkLst>
        <pc:graphicFrameChg chg="modGraphic">
          <ac:chgData name="Jen Braziel" userId="5add26521aa46a26" providerId="LiveId" clId="{98CDCD58-43B4-467E-98F4-AC1A5120113B}" dt="2026-05-19T22:11:43.360" v="14" actId="20577"/>
          <ac:graphicFrameMkLst>
            <pc:docMk/>
            <pc:sldMk cId="2712086742" sldId="275"/>
            <ac:graphicFrameMk id="33" creationId="{26C6A44D-CC3F-28F1-1116-A1BF400868C3}"/>
          </ac:graphicFrameMkLst>
        </pc:graphicFrameChg>
      </pc:sldChg>
      <pc:sldChg chg="addSp modSp mod">
        <pc:chgData name="Jen Braziel" userId="5add26521aa46a26" providerId="LiveId" clId="{98CDCD58-43B4-467E-98F4-AC1A5120113B}" dt="2026-05-22T22:46:19.295" v="875" actId="20577"/>
        <pc:sldMkLst>
          <pc:docMk/>
          <pc:sldMk cId="2395142012" sldId="285"/>
        </pc:sldMkLst>
        <pc:spChg chg="mod">
          <ac:chgData name="Jen Braziel" userId="5add26521aa46a26" providerId="LiveId" clId="{98CDCD58-43B4-467E-98F4-AC1A5120113B}" dt="2026-05-19T22:27:22.973" v="364" actId="207"/>
          <ac:spMkLst>
            <pc:docMk/>
            <pc:sldMk cId="2395142012" sldId="285"/>
            <ac:spMk id="42" creationId="{07169A02-30F9-0B96-F415-8D7FEE96F2BE}"/>
          </ac:spMkLst>
        </pc:spChg>
        <pc:spChg chg="mod">
          <ac:chgData name="Jen Braziel" userId="5add26521aa46a26" providerId="LiveId" clId="{98CDCD58-43B4-467E-98F4-AC1A5120113B}" dt="2026-05-19T22:27:27.063" v="365" actId="207"/>
          <ac:spMkLst>
            <pc:docMk/>
            <pc:sldMk cId="2395142012" sldId="285"/>
            <ac:spMk id="43" creationId="{D180AB6E-16BB-8A42-2629-9CE3C870B355}"/>
          </ac:spMkLst>
        </pc:spChg>
        <pc:spChg chg="mod">
          <ac:chgData name="Jen Braziel" userId="5add26521aa46a26" providerId="LiveId" clId="{98CDCD58-43B4-467E-98F4-AC1A5120113B}" dt="2026-05-19T22:27:32.853" v="366" actId="207"/>
          <ac:spMkLst>
            <pc:docMk/>
            <pc:sldMk cId="2395142012" sldId="285"/>
            <ac:spMk id="44" creationId="{0B4C74FB-3EF7-78AF-FBCE-34FDF0C11514}"/>
          </ac:spMkLst>
        </pc:spChg>
        <pc:spChg chg="add mod">
          <ac:chgData name="Jen Braziel" userId="5add26521aa46a26" providerId="LiveId" clId="{98CDCD58-43B4-467E-98F4-AC1A5120113B}" dt="2026-05-19T22:30:42.426" v="453" actId="1076"/>
          <ac:spMkLst>
            <pc:docMk/>
            <pc:sldMk cId="2395142012" sldId="285"/>
            <ac:spMk id="49" creationId="{67900E07-0156-458E-6109-0E0A369DE80E}"/>
          </ac:spMkLst>
        </pc:spChg>
        <pc:spChg chg="add mod">
          <ac:chgData name="Jen Braziel" userId="5add26521aa46a26" providerId="LiveId" clId="{98CDCD58-43B4-467E-98F4-AC1A5120113B}" dt="2026-05-19T22:30:42.426" v="453" actId="1076"/>
          <ac:spMkLst>
            <pc:docMk/>
            <pc:sldMk cId="2395142012" sldId="285"/>
            <ac:spMk id="50" creationId="{C98E754E-EF52-2BAA-24EB-A023F80EB939}"/>
          </ac:spMkLst>
        </pc:spChg>
        <pc:spChg chg="add mod">
          <ac:chgData name="Jen Braziel" userId="5add26521aa46a26" providerId="LiveId" clId="{98CDCD58-43B4-467E-98F4-AC1A5120113B}" dt="2026-05-19T22:30:42.426" v="453" actId="1076"/>
          <ac:spMkLst>
            <pc:docMk/>
            <pc:sldMk cId="2395142012" sldId="285"/>
            <ac:spMk id="51" creationId="{9DB1D51B-42DF-4B6D-21B2-C3044BC9DC94}"/>
          </ac:spMkLst>
        </pc:spChg>
        <pc:spChg chg="add mod">
          <ac:chgData name="Jen Braziel" userId="5add26521aa46a26" providerId="LiveId" clId="{98CDCD58-43B4-467E-98F4-AC1A5120113B}" dt="2026-05-19T22:30:42.426" v="453" actId="1076"/>
          <ac:spMkLst>
            <pc:docMk/>
            <pc:sldMk cId="2395142012" sldId="285"/>
            <ac:spMk id="52" creationId="{CF9B6B8D-8CBC-38C1-4CE3-B4AEA4690410}"/>
          </ac:spMkLst>
        </pc:spChg>
        <pc:spChg chg="add mod">
          <ac:chgData name="Jen Braziel" userId="5add26521aa46a26" providerId="LiveId" clId="{98CDCD58-43B4-467E-98F4-AC1A5120113B}" dt="2026-05-19T22:31:08.735" v="456" actId="1076"/>
          <ac:spMkLst>
            <pc:docMk/>
            <pc:sldMk cId="2395142012" sldId="285"/>
            <ac:spMk id="53" creationId="{49C1639C-D87D-6106-D1CA-CBC8F07E5051}"/>
          </ac:spMkLst>
        </pc:spChg>
        <pc:spChg chg="add mod">
          <ac:chgData name="Jen Braziel" userId="5add26521aa46a26" providerId="LiveId" clId="{98CDCD58-43B4-467E-98F4-AC1A5120113B}" dt="2026-05-19T22:31:08.735" v="456" actId="1076"/>
          <ac:spMkLst>
            <pc:docMk/>
            <pc:sldMk cId="2395142012" sldId="285"/>
            <ac:spMk id="54" creationId="{BDD8B8C7-71A2-9F4A-23BD-84C8837F8A68}"/>
          </ac:spMkLst>
        </pc:spChg>
        <pc:spChg chg="add mod">
          <ac:chgData name="Jen Braziel" userId="5add26521aa46a26" providerId="LiveId" clId="{98CDCD58-43B4-467E-98F4-AC1A5120113B}" dt="2026-05-19T22:31:08.735" v="456" actId="1076"/>
          <ac:spMkLst>
            <pc:docMk/>
            <pc:sldMk cId="2395142012" sldId="285"/>
            <ac:spMk id="55" creationId="{54830263-1473-7380-4514-84572B757193}"/>
          </ac:spMkLst>
        </pc:spChg>
        <pc:spChg chg="add mod">
          <ac:chgData name="Jen Braziel" userId="5add26521aa46a26" providerId="LiveId" clId="{98CDCD58-43B4-467E-98F4-AC1A5120113B}" dt="2026-05-19T22:31:08.735" v="456" actId="1076"/>
          <ac:spMkLst>
            <pc:docMk/>
            <pc:sldMk cId="2395142012" sldId="285"/>
            <ac:spMk id="56" creationId="{893853E1-0FD5-6436-615D-3593D62AA1DB}"/>
          </ac:spMkLst>
        </pc:spChg>
        <pc:graphicFrameChg chg="mod modGraphic">
          <ac:chgData name="Jen Braziel" userId="5add26521aa46a26" providerId="LiveId" clId="{98CDCD58-43B4-467E-98F4-AC1A5120113B}" dt="2026-05-22T22:46:19.295" v="875" actId="20577"/>
          <ac:graphicFrameMkLst>
            <pc:docMk/>
            <pc:sldMk cId="2395142012" sldId="285"/>
            <ac:graphicFrameMk id="14" creationId="{45FAB0C7-3FC4-35A8-E379-76AC350E6E74}"/>
          </ac:graphicFrameMkLst>
        </pc:graphicFrameChg>
      </pc:sldChg>
      <pc:sldChg chg="modSp mod">
        <pc:chgData name="Jen Braziel" userId="5add26521aa46a26" providerId="LiveId" clId="{98CDCD58-43B4-467E-98F4-AC1A5120113B}" dt="2026-05-19T22:14:34.883" v="143" actId="20577"/>
        <pc:sldMkLst>
          <pc:docMk/>
          <pc:sldMk cId="1793170652" sldId="288"/>
        </pc:sldMkLst>
        <pc:spChg chg="mod">
          <ac:chgData name="Jen Braziel" userId="5add26521aa46a26" providerId="LiveId" clId="{98CDCD58-43B4-467E-98F4-AC1A5120113B}" dt="2026-05-19T22:14:34.883" v="143" actId="20577"/>
          <ac:spMkLst>
            <pc:docMk/>
            <pc:sldMk cId="1793170652" sldId="288"/>
            <ac:spMk id="4" creationId="{EF09FE58-A200-D301-F761-5F2FF52D6E51}"/>
          </ac:spMkLst>
        </pc:spChg>
      </pc:sldChg>
      <pc:sldChg chg="modSp mod">
        <pc:chgData name="Jen Braziel" userId="5add26521aa46a26" providerId="LiveId" clId="{98CDCD58-43B4-467E-98F4-AC1A5120113B}" dt="2026-05-22T23:31:44.519" v="1019" actId="207"/>
        <pc:sldMkLst>
          <pc:docMk/>
          <pc:sldMk cId="597301699" sldId="289"/>
        </pc:sldMkLst>
        <pc:spChg chg="mod">
          <ac:chgData name="Jen Braziel" userId="5add26521aa46a26" providerId="LiveId" clId="{98CDCD58-43B4-467E-98F4-AC1A5120113B}" dt="2026-05-22T23:29:59.633" v="1014" actId="207"/>
          <ac:spMkLst>
            <pc:docMk/>
            <pc:sldMk cId="597301699" sldId="289"/>
            <ac:spMk id="6" creationId="{99C0DBD4-D91F-7C4F-8722-39ACC538EC35}"/>
          </ac:spMkLst>
        </pc:spChg>
        <pc:graphicFrameChg chg="modGraphic">
          <ac:chgData name="Jen Braziel" userId="5add26521aa46a26" providerId="LiveId" clId="{98CDCD58-43B4-467E-98F4-AC1A5120113B}" dt="2026-05-22T23:31:44.519" v="1019" actId="207"/>
          <ac:graphicFrameMkLst>
            <pc:docMk/>
            <pc:sldMk cId="597301699" sldId="289"/>
            <ac:graphicFrameMk id="5" creationId="{4510CB28-46A2-AA7F-D846-2986AC349C96}"/>
          </ac:graphicFrameMkLst>
        </pc:graphicFrameChg>
      </pc:sldChg>
      <pc:sldMasterChg chg="modSldLayout">
        <pc:chgData name="Jen Braziel" userId="5add26521aa46a26" providerId="LiveId" clId="{98CDCD58-43B4-467E-98F4-AC1A5120113B}" dt="2026-05-22T22:43:10.450" v="777" actId="20577"/>
        <pc:sldMasterMkLst>
          <pc:docMk/>
          <pc:sldMasterMk cId="3739960563" sldId="2147483648"/>
        </pc:sldMasterMkLst>
        <pc:sldLayoutChg chg="modSp mod">
          <pc:chgData name="Jen Braziel" userId="5add26521aa46a26" providerId="LiveId" clId="{98CDCD58-43B4-467E-98F4-AC1A5120113B}" dt="2026-05-22T22:42:40.981" v="723" actId="20577"/>
          <pc:sldLayoutMkLst>
            <pc:docMk/>
            <pc:sldMasterMk cId="3739960563" sldId="2147483648"/>
            <pc:sldLayoutMk cId="2946362104" sldId="2147483649"/>
          </pc:sldLayoutMkLst>
          <pc:spChg chg="mod">
            <ac:chgData name="Jen Braziel" userId="5add26521aa46a26" providerId="LiveId" clId="{98CDCD58-43B4-467E-98F4-AC1A5120113B}" dt="2026-05-22T22:42:40.981" v="723" actId="20577"/>
            <ac:spMkLst>
              <pc:docMk/>
              <pc:sldMasterMk cId="3739960563" sldId="2147483648"/>
              <pc:sldLayoutMk cId="2946362104" sldId="2147483649"/>
              <ac:spMk id="11" creationId="{B0E24637-2D37-60E0-A5AC-F1CC7AA99C4E}"/>
            </ac:spMkLst>
          </pc:spChg>
        </pc:sldLayoutChg>
        <pc:sldLayoutChg chg="modSp mod">
          <pc:chgData name="Jen Braziel" userId="5add26521aa46a26" providerId="LiveId" clId="{98CDCD58-43B4-467E-98F4-AC1A5120113B}" dt="2026-05-22T22:43:10.450" v="777" actId="20577"/>
          <pc:sldLayoutMkLst>
            <pc:docMk/>
            <pc:sldMasterMk cId="3739960563" sldId="2147483648"/>
            <pc:sldLayoutMk cId="1172239090" sldId="2147483650"/>
          </pc:sldLayoutMkLst>
          <pc:spChg chg="mod">
            <ac:chgData name="Jen Braziel" userId="5add26521aa46a26" providerId="LiveId" clId="{98CDCD58-43B4-467E-98F4-AC1A5120113B}" dt="2026-05-22T22:43:10.450" v="777" actId="20577"/>
            <ac:spMkLst>
              <pc:docMk/>
              <pc:sldMasterMk cId="3739960563" sldId="2147483648"/>
              <pc:sldLayoutMk cId="1172239090" sldId="2147483650"/>
              <ac:spMk id="9" creationId="{0C6895C5-297E-09F7-5A8A-11D9EF59E146}"/>
            </ac:spMkLst>
          </pc:spChg>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24/7 access to platform with multiple user logins and role-based permissions</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Unlimited monthly sends of email campaigns</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12"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Tiered subscription pricing based on total subscriber count</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1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Robust reporting &amp; analytics (open rates, click rates, geo metrics, email client usage, downloadable reports)</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24"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Easy-to-use email builder with drag-and-drop interface and mobile responsive design</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30"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Upload custom HTML templates as needed</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36"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200 placeholders for custom fields integration from core data (one-time programming &amp; API connection)</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4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Visual automated journey builder to trigger custom email automations</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48"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Advanced segmentation capabilities based on custom fields, campaign and journey activity</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54"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Synergent front-line support</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60"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Full domain authentication assistance for CAN-SPAM compliance </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66"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SMS capabilities with opt-in compliance</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72"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Custom Email templates are optional and priced at $1,545 per template</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Mobile Responsive Design</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HTML uploads are also supported</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20"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900" dirty="0">
              <a:solidFill>
                <a:schemeClr val="tx1"/>
              </a:solidFill>
              <a:latin typeface="Montserrat SemiBold" panose="00000700000000000000" pitchFamily="2" charset="0"/>
            </a:rPr>
            <a:t>Email builder allows for easy drag-and-drop configuration</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26"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800" dirty="0">
              <a:solidFill>
                <a:schemeClr val="tx1"/>
              </a:solidFill>
              <a:latin typeface="Montserrat SemiBold" panose="00000700000000000000" pitchFamily="2" charset="0"/>
            </a:rPr>
            <a:t>Anything other than SSN or full account number is available to use as a custom field including calculated fields as long as it’s available in your core.</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custLinFactNeighborX="-130" custLinFactNeighborY="-39678">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D0D605C9-8976-466C-8335-64FFB82DFF43}" type="doc">
      <dgm:prSet loTypeId="urn:microsoft.com/office/officeart/2005/8/layout/vList3" loCatId="list" qsTypeId="urn:microsoft.com/office/officeart/2005/8/quickstyle/simple1" qsCatId="simple" csTypeId="urn:microsoft.com/office/officeart/2005/8/colors/accent1_2" csCatId="accent1" phldr="1"/>
      <dgm:spPr/>
      <dgm:t>
        <a:bodyPr/>
        <a:lstStyle/>
        <a:p>
          <a:endParaRPr lang="en-US"/>
        </a:p>
      </dgm:t>
    </dgm:pt>
    <dgm:pt modelId="{D361E599-AEA8-4C0C-94B9-891D38F2ACAF}">
      <dgm:prSet phldrT="[Text]" phldr="0" custT="1"/>
      <dgm:spPr>
        <a:solidFill>
          <a:schemeClr val="bg2"/>
        </a:solidFill>
      </dgm:spPr>
      <dgm:t>
        <a:bodyPr/>
        <a:lstStyle/>
        <a:p>
          <a:pPr algn="l"/>
          <a:r>
            <a:rPr lang="en-US" sz="800" dirty="0">
              <a:solidFill>
                <a:schemeClr val="tx1"/>
              </a:solidFill>
              <a:latin typeface="Montserrat SemiBold" panose="00000700000000000000" pitchFamily="2" charset="0"/>
            </a:rPr>
            <a:t>Our team will work with you to evaluate your planned automated journey and recommend the appropriate setup level based on complexity and workflow requirements.</a:t>
          </a:r>
        </a:p>
      </dgm:t>
    </dgm:pt>
    <dgm:pt modelId="{E58B7F58-3758-4E5D-AF19-A1CA7AC9323B}" type="parTrans" cxnId="{AB5CC6D8-82C3-4E5E-A11D-9C0C13A47CE4}">
      <dgm:prSet/>
      <dgm:spPr/>
      <dgm:t>
        <a:bodyPr/>
        <a:lstStyle/>
        <a:p>
          <a:endParaRPr lang="en-US"/>
        </a:p>
      </dgm:t>
    </dgm:pt>
    <dgm:pt modelId="{B56D7A4E-5311-4A8C-9A0E-0B0B35C23771}" type="sibTrans" cxnId="{AB5CC6D8-82C3-4E5E-A11D-9C0C13A47CE4}">
      <dgm:prSet/>
      <dgm:spPr/>
      <dgm:t>
        <a:bodyPr/>
        <a:lstStyle/>
        <a:p>
          <a:endParaRPr lang="en-US"/>
        </a:p>
      </dgm:t>
    </dgm:pt>
    <dgm:pt modelId="{F3601A93-F54B-4E69-AF85-1BA4429BE39C}" type="pres">
      <dgm:prSet presAssocID="{D0D605C9-8976-466C-8335-64FFB82DFF43}" presName="linearFlow" presStyleCnt="0">
        <dgm:presLayoutVars>
          <dgm:dir/>
          <dgm:resizeHandles val="exact"/>
        </dgm:presLayoutVars>
      </dgm:prSet>
      <dgm:spPr/>
    </dgm:pt>
    <dgm:pt modelId="{B58146A8-86FD-45DE-BA96-A743ABEA7DE0}" type="pres">
      <dgm:prSet presAssocID="{D361E599-AEA8-4C0C-94B9-891D38F2ACAF}" presName="composite" presStyleCnt="0"/>
      <dgm:spPr/>
    </dgm:pt>
    <dgm:pt modelId="{5567B541-69EE-4118-8A2C-792E956D701E}" type="pres">
      <dgm:prSet presAssocID="{D361E599-AEA8-4C0C-94B9-891D38F2ACAF}" presName="imgShp" presStyleLbl="fgImgPlace1" presStyleIdx="0" presStyleCnt="1"/>
      <dgm:spPr>
        <a:solidFill>
          <a:srgbClr val="BAC6EC"/>
        </a:solidFill>
      </dgm:spPr>
    </dgm:pt>
    <dgm:pt modelId="{D3BDD5EA-C900-4C42-A469-05EF71A8B12B}" type="pres">
      <dgm:prSet presAssocID="{D361E599-AEA8-4C0C-94B9-891D38F2ACAF}" presName="txShp" presStyleLbl="node1" presStyleIdx="0" presStyleCnt="1" custLinFactNeighborX="-130" custLinFactNeighborY="-39678">
        <dgm:presLayoutVars>
          <dgm:bulletEnabled val="1"/>
        </dgm:presLayoutVars>
      </dgm:prSet>
      <dgm:spPr/>
    </dgm:pt>
  </dgm:ptLst>
  <dgm:cxnLst>
    <dgm:cxn modelId="{29C47041-2EA0-4B66-B96D-FBFA0F9E261D}" type="presOf" srcId="{D361E599-AEA8-4C0C-94B9-891D38F2ACAF}" destId="{D3BDD5EA-C900-4C42-A469-05EF71A8B12B}" srcOrd="0" destOrd="0" presId="urn:microsoft.com/office/officeart/2005/8/layout/vList3"/>
    <dgm:cxn modelId="{56BEDECC-8A7B-46AE-BCB2-0E1F5487E504}" type="presOf" srcId="{D0D605C9-8976-466C-8335-64FFB82DFF43}" destId="{F3601A93-F54B-4E69-AF85-1BA4429BE39C}" srcOrd="0" destOrd="0" presId="urn:microsoft.com/office/officeart/2005/8/layout/vList3"/>
    <dgm:cxn modelId="{AB5CC6D8-82C3-4E5E-A11D-9C0C13A47CE4}" srcId="{D0D605C9-8976-466C-8335-64FFB82DFF43}" destId="{D361E599-AEA8-4C0C-94B9-891D38F2ACAF}" srcOrd="0" destOrd="0" parTransId="{E58B7F58-3758-4E5D-AF19-A1CA7AC9323B}" sibTransId="{B56D7A4E-5311-4A8C-9A0E-0B0B35C23771}"/>
    <dgm:cxn modelId="{F09C7F32-CA43-4F42-9FC6-9FD73F2D8F48}" type="presParOf" srcId="{F3601A93-F54B-4E69-AF85-1BA4429BE39C}" destId="{B58146A8-86FD-45DE-BA96-A743ABEA7DE0}" srcOrd="0" destOrd="0" presId="urn:microsoft.com/office/officeart/2005/8/layout/vList3"/>
    <dgm:cxn modelId="{266FDDA4-4FDC-487A-A099-A6BD3ACEC765}" type="presParOf" srcId="{B58146A8-86FD-45DE-BA96-A743ABEA7DE0}" destId="{5567B541-69EE-4118-8A2C-792E956D701E}" srcOrd="0" destOrd="0" presId="urn:microsoft.com/office/officeart/2005/8/layout/vList3"/>
    <dgm:cxn modelId="{36BBC294-796E-4081-BF3F-F1A9176A1DEE}" type="presParOf" srcId="{B58146A8-86FD-45DE-BA96-A743ABEA7DE0}" destId="{D3BDD5EA-C900-4C42-A469-05EF71A8B12B}" srcOrd="1" destOrd="0" presId="urn:microsoft.com/office/officeart/2005/8/layout/vList3"/>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24/7 access to platform with multiple user logins and role-based permissions</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Unlimited monthly sends of email campaigns</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Tiered subscription pricing based on total subscriber count</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Robust reporting &amp; analytics (open rates, click rates, geo metrics, email client usage, downloadable reports)</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Easy-to-use email builder with drag-and-drop interface and mobile responsive design</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Upload custom HTML templates as needed</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200 placeholders for custom fields integration from core data (one-time programming &amp; API connection)</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Visual automated journey builder to trigger custom email automations</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Advanced segmentation capabilities based on custom fields, campaign and journey activity</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Synergent front-line support</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Full domain authentication assistance for CAN-SPAM compliance </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SMS capabilities with opt-in compliance</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Custom Email templates are optional and priced at $1,545 per template</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Mobile Responsive Design</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HTML uploads are also supported</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046973" y="0"/>
          <a:ext cx="3736466"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4290" rIns="64008" bIns="34290" numCol="1" spcCol="1270" anchor="ctr" anchorCtr="0">
          <a:noAutofit/>
        </a:bodyPr>
        <a:lstStyle/>
        <a:p>
          <a:pPr marL="0" lvl="0" indent="0" algn="l" defTabSz="400050">
            <a:lnSpc>
              <a:spcPct val="90000"/>
            </a:lnSpc>
            <a:spcBef>
              <a:spcPct val="0"/>
            </a:spcBef>
            <a:spcAft>
              <a:spcPct val="35000"/>
            </a:spcAft>
            <a:buNone/>
          </a:pPr>
          <a:r>
            <a:rPr lang="en-US" sz="900" kern="1200" dirty="0">
              <a:solidFill>
                <a:schemeClr val="tx1"/>
              </a:solidFill>
              <a:latin typeface="Montserrat SemiBold" panose="00000700000000000000" pitchFamily="2" charset="0"/>
            </a:rPr>
            <a:t>Email builder allows for easy drag-and-drop configuration</a:t>
          </a:r>
        </a:p>
      </dsp:txBody>
      <dsp:txXfrm rot="10800000">
        <a:off x="1152806" y="0"/>
        <a:ext cx="3630633" cy="423333"/>
      </dsp:txXfrm>
    </dsp:sp>
    <dsp:sp modelId="{5567B541-69EE-4118-8A2C-792E956D701E}">
      <dsp:nvSpPr>
        <dsp:cNvPr id="0" name=""/>
        <dsp:cNvSpPr/>
      </dsp:nvSpPr>
      <dsp:spPr>
        <a:xfrm>
          <a:off x="835306"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319507" y="0"/>
          <a:ext cx="4843465"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0480" rIns="56896" bIns="30480" numCol="1" spcCol="1270" anchor="ctr" anchorCtr="0">
          <a:noAutofit/>
        </a:bodyPr>
        <a:lstStyle/>
        <a:p>
          <a:pPr marL="0" lvl="0" indent="0" algn="l" defTabSz="355600">
            <a:lnSpc>
              <a:spcPct val="90000"/>
            </a:lnSpc>
            <a:spcBef>
              <a:spcPct val="0"/>
            </a:spcBef>
            <a:spcAft>
              <a:spcPct val="35000"/>
            </a:spcAft>
            <a:buNone/>
          </a:pPr>
          <a:r>
            <a:rPr lang="en-US" sz="800" kern="1200" dirty="0">
              <a:solidFill>
                <a:schemeClr val="tx1"/>
              </a:solidFill>
              <a:latin typeface="Montserrat SemiBold" panose="00000700000000000000" pitchFamily="2" charset="0"/>
            </a:rPr>
            <a:t>Anything other than SSN or full account number is available to use as a custom field including calculated fields as long as it’s available in your core.</a:t>
          </a:r>
        </a:p>
      </dsp:txBody>
      <dsp:txXfrm rot="10800000">
        <a:off x="1425340" y="0"/>
        <a:ext cx="4737632" cy="423333"/>
      </dsp:txXfrm>
    </dsp:sp>
    <dsp:sp modelId="{5567B541-69EE-4118-8A2C-792E956D701E}">
      <dsp:nvSpPr>
        <dsp:cNvPr id="0" name=""/>
        <dsp:cNvSpPr/>
      </dsp:nvSpPr>
      <dsp:spPr>
        <a:xfrm>
          <a:off x="1114137"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BDD5EA-C900-4C42-A469-05EF71A8B12B}">
      <dsp:nvSpPr>
        <dsp:cNvPr id="0" name=""/>
        <dsp:cNvSpPr/>
      </dsp:nvSpPr>
      <dsp:spPr>
        <a:xfrm rot="10800000">
          <a:off x="1319507" y="0"/>
          <a:ext cx="4843465" cy="423333"/>
        </a:xfrm>
        <a:prstGeom prst="homePlate">
          <a:avLst/>
        </a:prstGeom>
        <a:solidFill>
          <a:schemeClr val="bg2"/>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678" tIns="30480" rIns="56896" bIns="30480" numCol="1" spcCol="1270" anchor="ctr" anchorCtr="0">
          <a:noAutofit/>
        </a:bodyPr>
        <a:lstStyle/>
        <a:p>
          <a:pPr marL="0" lvl="0" indent="0" algn="l" defTabSz="355600">
            <a:lnSpc>
              <a:spcPct val="90000"/>
            </a:lnSpc>
            <a:spcBef>
              <a:spcPct val="0"/>
            </a:spcBef>
            <a:spcAft>
              <a:spcPct val="35000"/>
            </a:spcAft>
            <a:buNone/>
          </a:pPr>
          <a:r>
            <a:rPr lang="en-US" sz="800" kern="1200" dirty="0">
              <a:solidFill>
                <a:schemeClr val="tx1"/>
              </a:solidFill>
              <a:latin typeface="Montserrat SemiBold" panose="00000700000000000000" pitchFamily="2" charset="0"/>
            </a:rPr>
            <a:t>Our team will work with you to evaluate your planned automated journey and recommend the appropriate setup level based on complexity and workflow requirements.</a:t>
          </a:r>
        </a:p>
      </dsp:txBody>
      <dsp:txXfrm rot="10800000">
        <a:off x="1425340" y="0"/>
        <a:ext cx="4737632" cy="423333"/>
      </dsp:txXfrm>
    </dsp:sp>
    <dsp:sp modelId="{5567B541-69EE-4118-8A2C-792E956D701E}">
      <dsp:nvSpPr>
        <dsp:cNvPr id="0" name=""/>
        <dsp:cNvSpPr/>
      </dsp:nvSpPr>
      <dsp:spPr>
        <a:xfrm>
          <a:off x="1114137" y="0"/>
          <a:ext cx="423333" cy="423333"/>
        </a:xfrm>
        <a:prstGeom prst="ellipse">
          <a:avLst/>
        </a:prstGeom>
        <a:solidFill>
          <a:srgbClr val="BAC6EC"/>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5.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6.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05/8/layout/vList3">
  <dgm:title val=""/>
  <dgm:desc val=""/>
  <dgm:catLst>
    <dgm:cat type="list" pri="14000"/>
    <dgm:cat type="convert" pri="3000"/>
    <dgm:cat type="picture" pri="27000"/>
    <dgm:cat type="pictureconvert" pri="27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Flow">
    <dgm:varLst>
      <dgm:dir/>
      <dgm:resizeHandles val="exact"/>
    </dgm:varLst>
    <dgm:alg type="lin">
      <dgm:param type="linDir" val="fromT"/>
      <dgm:param type="vertAlign" val="mid"/>
      <dgm:param type="horzAlign" val="ctr"/>
    </dgm:alg>
    <dgm:shape xmlns:r="http://schemas.openxmlformats.org/officeDocument/2006/relationships" r:blip="">
      <dgm:adjLst/>
    </dgm:shape>
    <dgm:presOf/>
    <dgm:constrLst>
      <dgm:constr type="w" for="ch" forName="composite" refType="w"/>
      <dgm:constr type="h" for="ch" forName="composite" refType="h"/>
      <dgm:constr type="h" for="ch" forName="spacing" refType="h" refFor="ch" refForName="composite" fact="0.25"/>
      <dgm:constr type="h" for="ch" forName="spacing" refType="w" op="lte" fact="0.1"/>
      <dgm:constr type="primFontSz" for="des" ptType="node"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w" for="ch" forName="imgShp" refType="w" fact="0.335"/>
              <dgm:constr type="h" for="ch" forName="imgShp" refType="w" refFor="ch" refForName="imgShp" op="equ"/>
              <dgm:constr type="h" for="ch" forName="imgShp" refType="h" op="lte"/>
              <dgm:constr type="ctrY" for="ch" forName="imgShp" refType="h" fact="0.5"/>
              <dgm:constr type="l" for="ch" forName="imgShp"/>
              <dgm:constr type="w" for="ch" forName="txShp" refType="w" op="equ" fact="0.665"/>
              <dgm:constr type="h" for="ch" forName="txShp" refType="h" refFor="ch" refForName="imgShp" op="equ"/>
              <dgm:constr type="ctrY" for="ch" forName="txShp" refType="h" fact="0.5"/>
              <dgm:constr type="l" for="ch" forName="txShp" refType="w" refFor="ch" refForName="imgShp" fact="0.5"/>
              <dgm:constr type="lMarg" for="ch" forName="txShp" refType="w" refFor="ch" refForName="imgShp" fact="1.25"/>
            </dgm:constrLst>
          </dgm:if>
          <dgm:else name="Name3">
            <dgm:constrLst>
              <dgm:constr type="w" for="ch" forName="imgShp" refType="w" fact="0.335"/>
              <dgm:constr type="h" for="ch" forName="imgShp" refType="w" refFor="ch" refForName="imgShp" op="equ"/>
              <dgm:constr type="h" for="ch" forName="imgShp" refType="h" op="lte"/>
              <dgm:constr type="ctrY" for="ch" forName="imgShp" refType="h" fact="0.5"/>
              <dgm:constr type="r" for="ch" forName="imgShp" refType="w"/>
              <dgm:constr type="w" for="ch" forName="txShp" refType="w" op="equ" fact="0.665"/>
              <dgm:constr type="h" for="ch" forName="txShp" refType="h" refFor="ch" refForName="imgShp" op="equ"/>
              <dgm:constr type="ctrY" for="ch" forName="txShp" refType="h" fact="0.5"/>
              <dgm:constr type="r" for="ch" forName="txShp" refType="ctrX" refFor="ch" refForName="imgShp"/>
              <dgm:constr type="rMarg" for="ch" forName="txShp" refType="w" refFor="ch" refForName="imgShp" fact="1.25"/>
            </dgm:constrLst>
          </dgm:else>
        </dgm:choose>
        <dgm:ruleLst/>
        <dgm:layoutNode name="imgShp" styleLbl="fgImgPlace1">
          <dgm:alg type="sp"/>
          <dgm:shape xmlns:r="http://schemas.openxmlformats.org/officeDocument/2006/relationships" type="ellipse" r:blip="" blipPhldr="1">
            <dgm:adjLst/>
          </dgm:shape>
          <dgm:presOf/>
          <dgm:constrLst/>
          <dgm:ruleLst/>
        </dgm:layoutNode>
        <dgm:layoutNode name="txShp">
          <dgm:varLst>
            <dgm:bulletEnabled val="1"/>
          </dgm:varLst>
          <dgm:alg type="tx"/>
          <dgm:choose name="Name4">
            <dgm:if name="Name5" func="var" arg="dir" op="equ" val="norm">
              <dgm:shape xmlns:r="http://schemas.openxmlformats.org/officeDocument/2006/relationships" rot="180" type="homePlate" r:blip="" zOrderOff="-1">
                <dgm:adjLst/>
              </dgm:shape>
            </dgm:if>
            <dgm:else name="Name6">
              <dgm:shape xmlns:r="http://schemas.openxmlformats.org/officeDocument/2006/relationships" type="homePlate" r:blip="" zOrderOff="-1">
                <dgm:adjLst/>
              </dgm:shape>
            </dgm:else>
          </dgm:choose>
          <dgm:presOf axis="desOrSelf" ptType="node"/>
          <dgm:constrLst>
            <dgm:constr type="tMarg" refType="primFontSz" fact="0.3"/>
            <dgm:constr type="bMarg" refType="primFontSz" fact="0.3"/>
          </dgm:constrLst>
          <dgm:ruleLst>
            <dgm:rule type="primFontSz" val="5" fact="NaN" max="NaN"/>
          </dgm:ruleLst>
        </dgm:layoutNode>
      </dgm:layoutNode>
      <dgm:forEach name="Name7" axis="followSib" ptType="sibTrans" cnt="1">
        <dgm:layoutNode name="spacing">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70238" cy="481013"/>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4143375" y="0"/>
            <a:ext cx="3170238" cy="481013"/>
          </a:xfrm>
          <a:prstGeom prst="rect">
            <a:avLst/>
          </a:prstGeom>
        </p:spPr>
        <p:txBody>
          <a:bodyPr vert="horz" lIns="91440" tIns="45720" rIns="91440" bIns="45720" rtlCol="0"/>
          <a:lstStyle>
            <a:lvl1pPr algn="r">
              <a:defRPr sz="1200"/>
            </a:lvl1pPr>
          </a:lstStyle>
          <a:p>
            <a:fld id="{B338B9C6-5C18-4B8B-9E21-33F5466022F0}" type="datetimeFigureOut">
              <a:rPr lang="en-US" smtClean="0"/>
              <a:t>5/22/2026</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731838" y="4621213"/>
            <a:ext cx="5851525" cy="3779837"/>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20188"/>
            <a:ext cx="3170238" cy="481012"/>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4143375" y="9120188"/>
            <a:ext cx="3170238" cy="481012"/>
          </a:xfrm>
          <a:prstGeom prst="rect">
            <a:avLst/>
          </a:prstGeom>
        </p:spPr>
        <p:txBody>
          <a:bodyPr vert="horz" lIns="91440" tIns="45720" rIns="91440" bIns="45720" rtlCol="0" anchor="b"/>
          <a:lstStyle>
            <a:lvl1pPr algn="r">
              <a:defRPr sz="1200"/>
            </a:lvl1pPr>
          </a:lstStyle>
          <a:p>
            <a:fld id="{2F6BE6D4-C9EA-47B9-BEC8-C31534AC5C1C}" type="slidenum">
              <a:rPr lang="en-US" smtClean="0"/>
              <a:t>‹#›</a:t>
            </a:fld>
            <a:endParaRPr lang="en-US"/>
          </a:p>
        </p:txBody>
      </p:sp>
    </p:spTree>
    <p:extLst>
      <p:ext uri="{BB962C8B-B14F-4D97-AF65-F5344CB8AC3E}">
        <p14:creationId xmlns:p14="http://schemas.microsoft.com/office/powerpoint/2010/main" val="396189892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ody">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CF2B315-134B-4519-1C11-281D34E83264}"/>
              </a:ext>
            </a:extLst>
          </p:cNvPr>
          <p:cNvPicPr>
            <a:picLocks noChangeAspect="1"/>
          </p:cNvPicPr>
          <p:nvPr userDrawn="1"/>
        </p:nvPicPr>
        <p:blipFill>
          <a:blip r:embed="rId2"/>
          <a:stretch>
            <a:fillRect/>
          </a:stretch>
        </p:blipFill>
        <p:spPr>
          <a:xfrm>
            <a:off x="-1" y="5910387"/>
            <a:ext cx="12192001" cy="756398"/>
          </a:xfrm>
          <a:prstGeom prst="rect">
            <a:avLst/>
          </a:prstGeom>
        </p:spPr>
      </p:pic>
      <p:sp>
        <p:nvSpPr>
          <p:cNvPr id="9" name="TextBox 8">
            <a:extLst>
              <a:ext uri="{FF2B5EF4-FFF2-40B4-BE49-F238E27FC236}">
                <a16:creationId xmlns:a16="http://schemas.microsoft.com/office/drawing/2014/main" id="{02CDE086-80C9-78A2-0C6E-BFDF64ECE79C}"/>
              </a:ext>
            </a:extLst>
          </p:cNvPr>
          <p:cNvSpPr txBox="1"/>
          <p:nvPr userDrawn="1"/>
        </p:nvSpPr>
        <p:spPr>
          <a:xfrm>
            <a:off x="9737217" y="6156522"/>
            <a:ext cx="1996059" cy="307777"/>
          </a:xfrm>
          <a:prstGeom prst="rect">
            <a:avLst/>
          </a:prstGeom>
          <a:noFill/>
        </p:spPr>
        <p:txBody>
          <a:bodyPr wrap="none" rtlCol="0">
            <a:spAutoFit/>
          </a:bodyPr>
          <a:lstStyle/>
          <a:p>
            <a:pPr algn="r"/>
            <a:r>
              <a:rPr lang="en-US" sz="1400" dirty="0">
                <a:solidFill>
                  <a:schemeClr val="bg1"/>
                </a:solidFill>
                <a:latin typeface="Montserrat" pitchFamily="2" charset="77"/>
              </a:rPr>
              <a:t>Marketing Solutions</a:t>
            </a:r>
          </a:p>
        </p:txBody>
      </p:sp>
      <p:cxnSp>
        <p:nvCxnSpPr>
          <p:cNvPr id="10" name="Straight Connector 9">
            <a:extLst>
              <a:ext uri="{FF2B5EF4-FFF2-40B4-BE49-F238E27FC236}">
                <a16:creationId xmlns:a16="http://schemas.microsoft.com/office/drawing/2014/main" id="{2F476F9D-019C-0E98-8A30-61D3B1CEC62B}"/>
              </a:ext>
            </a:extLst>
          </p:cNvPr>
          <p:cNvCxnSpPr>
            <a:cxnSpLocks/>
          </p:cNvCxnSpPr>
          <p:nvPr userDrawn="1"/>
        </p:nvCxnSpPr>
        <p:spPr>
          <a:xfrm flipH="1">
            <a:off x="358588" y="1082154"/>
            <a:ext cx="11474824" cy="0"/>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sp>
        <p:nvSpPr>
          <p:cNvPr id="11" name="Title 1">
            <a:extLst>
              <a:ext uri="{FF2B5EF4-FFF2-40B4-BE49-F238E27FC236}">
                <a16:creationId xmlns:a16="http://schemas.microsoft.com/office/drawing/2014/main" id="{B0E24637-2D37-60E0-A5AC-F1CC7AA99C4E}"/>
              </a:ext>
            </a:extLst>
          </p:cNvPr>
          <p:cNvSpPr txBox="1"/>
          <p:nvPr userDrawn="1"/>
        </p:nvSpPr>
        <p:spPr>
          <a:xfrm>
            <a:off x="309313" y="394164"/>
            <a:ext cx="11274552" cy="824465"/>
          </a:xfrm>
          <a:prstGeom prst="rect">
            <a:avLst/>
          </a:prstGeom>
        </p:spPr>
        <p:txBody>
          <a:bodyPr vert="horz" lIns="91440" tIns="45720" rIns="91440" bIns="45720" rtlCol="0" anchor="ctr">
            <a:normAutofit/>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r>
              <a:rPr lang="en-US" sz="1400" dirty="0">
                <a:solidFill>
                  <a:schemeClr val="tx1">
                    <a:lumMod val="65000"/>
                    <a:lumOff val="35000"/>
                  </a:schemeClr>
                </a:solidFill>
                <a:latin typeface="Montserrat Medium" panose="00000600000000000000" pitchFamily="2" charset="0"/>
              </a:rPr>
              <a:t>{{</a:t>
            </a:r>
            <a:r>
              <a:rPr lang="en-US" sz="1400" dirty="0" err="1">
                <a:solidFill>
                  <a:schemeClr val="tx1">
                    <a:lumMod val="65000"/>
                    <a:lumOff val="35000"/>
                  </a:schemeClr>
                </a:solidFill>
                <a:latin typeface="Montserrat Medium" panose="00000600000000000000" pitchFamily="2" charset="0"/>
              </a:rPr>
              <a:t>creditunion_name</a:t>
            </a:r>
            <a:r>
              <a:rPr lang="en-US" sz="1400" dirty="0">
                <a:solidFill>
                  <a:schemeClr val="tx1">
                    <a:lumMod val="65000"/>
                    <a:lumOff val="35000"/>
                  </a:schemeClr>
                </a:solidFill>
                <a:latin typeface="Montserrat Medium" panose="00000600000000000000" pitchFamily="2" charset="0"/>
              </a:rPr>
              <a:t>}} | {{</a:t>
            </a:r>
            <a:r>
              <a:rPr lang="en-US" sz="1400" dirty="0" err="1">
                <a:solidFill>
                  <a:schemeClr val="tx1">
                    <a:lumMod val="65000"/>
                    <a:lumOff val="35000"/>
                  </a:schemeClr>
                </a:solidFill>
                <a:latin typeface="Montserrat Medium" panose="00000600000000000000" pitchFamily="2" charset="0"/>
              </a:rPr>
              <a:t>proposal_name</a:t>
            </a:r>
            <a:r>
              <a:rPr lang="en-US" sz="1400" dirty="0">
                <a:solidFill>
                  <a:schemeClr val="tx1">
                    <a:lumMod val="65000"/>
                    <a:lumOff val="35000"/>
                  </a:schemeClr>
                </a:solidFill>
                <a:latin typeface="Montserrat Medium" panose="00000600000000000000" pitchFamily="2" charset="0"/>
              </a:rPr>
              <a:t>}} | {{</a:t>
            </a:r>
            <a:r>
              <a:rPr lang="en-US" sz="1400" dirty="0" err="1">
                <a:solidFill>
                  <a:schemeClr val="tx1">
                    <a:lumMod val="65000"/>
                    <a:lumOff val="35000"/>
                  </a:schemeClr>
                </a:solidFill>
                <a:latin typeface="Montserrat Medium" panose="00000600000000000000" pitchFamily="2" charset="0"/>
              </a:rPr>
              <a:t>proposal_date</a:t>
            </a:r>
            <a:r>
              <a:rPr lang="en-US" sz="1400" dirty="0">
                <a:solidFill>
                  <a:schemeClr val="tx1">
                    <a:lumMod val="65000"/>
                    <a:lumOff val="35000"/>
                  </a:schemeClr>
                </a:solidFill>
                <a:latin typeface="Montserrat Medium" panose="00000600000000000000" pitchFamily="2" charset="0"/>
              </a:rPr>
              <a:t>}}</a:t>
            </a:r>
          </a:p>
        </p:txBody>
      </p:sp>
      <p:sp>
        <p:nvSpPr>
          <p:cNvPr id="13" name="Slide Number Placeholder 5">
            <a:extLst>
              <a:ext uri="{FF2B5EF4-FFF2-40B4-BE49-F238E27FC236}">
                <a16:creationId xmlns:a16="http://schemas.microsoft.com/office/drawing/2014/main" id="{C3CF129B-D35E-EF33-0535-03857C19E62D}"/>
              </a:ext>
            </a:extLst>
          </p:cNvPr>
          <p:cNvSpPr>
            <a:spLocks noGrp="1"/>
          </p:cNvSpPr>
          <p:nvPr>
            <p:ph type="sldNum" sz="quarter" idx="12"/>
          </p:nvPr>
        </p:nvSpPr>
        <p:spPr>
          <a:xfrm>
            <a:off x="0" y="6200827"/>
            <a:ext cx="12192000" cy="219165"/>
          </a:xfrm>
          <a:prstGeom prst="rect">
            <a:avLst/>
          </a:prstGeom>
        </p:spPr>
        <p:txBody>
          <a:bodyPr/>
          <a:lstStyle>
            <a:lvl1pPr algn="ctr">
              <a:defRPr sz="1000" b="1">
                <a:solidFill>
                  <a:schemeClr val="bg1"/>
                </a:solidFill>
                <a:latin typeface="Montserrat" panose="00000500000000000000" pitchFamily="2" charset="0"/>
              </a:defRPr>
            </a:lvl1pPr>
          </a:lstStyle>
          <a:p>
            <a:fld id="{36529709-AEC5-4306-8E0C-3A32A9027161}" type="slidenum">
              <a:rPr lang="en-US" smtClean="0"/>
              <a:pPr/>
              <a:t>‹#›</a:t>
            </a:fld>
            <a:endParaRPr lang="en-US" b="1" dirty="0"/>
          </a:p>
        </p:txBody>
      </p:sp>
    </p:spTree>
    <p:extLst>
      <p:ext uri="{BB962C8B-B14F-4D97-AF65-F5344CB8AC3E}">
        <p14:creationId xmlns:p14="http://schemas.microsoft.com/office/powerpoint/2010/main" val="2946362104"/>
      </p:ext>
    </p:extLst>
  </p:cSld>
  <p:clrMapOvr>
    <a:masterClrMapping/>
  </p:clrMapOvr>
  <p:hf hdr="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64B6FB3E-BF60-224E-2A51-D534EC5E294B}"/>
              </a:ext>
            </a:extLst>
          </p:cNvPr>
          <p:cNvPicPr>
            <a:picLocks noChangeAspect="1"/>
          </p:cNvPicPr>
          <p:nvPr userDrawn="1"/>
        </p:nvPicPr>
        <p:blipFill>
          <a:blip r:embed="rId2"/>
          <a:stretch>
            <a:fillRect/>
          </a:stretch>
        </p:blipFill>
        <p:spPr>
          <a:xfrm>
            <a:off x="-1" y="5910387"/>
            <a:ext cx="12192001" cy="756398"/>
          </a:xfrm>
          <a:prstGeom prst="rect">
            <a:avLst/>
          </a:prstGeom>
        </p:spPr>
      </p:pic>
      <p:sp>
        <p:nvSpPr>
          <p:cNvPr id="8" name="TextBox 7">
            <a:extLst>
              <a:ext uri="{FF2B5EF4-FFF2-40B4-BE49-F238E27FC236}">
                <a16:creationId xmlns:a16="http://schemas.microsoft.com/office/drawing/2014/main" id="{6FED3A53-EBC0-ACC8-864B-99F0BF2D0A51}"/>
              </a:ext>
            </a:extLst>
          </p:cNvPr>
          <p:cNvSpPr txBox="1"/>
          <p:nvPr userDrawn="1"/>
        </p:nvSpPr>
        <p:spPr>
          <a:xfrm>
            <a:off x="9737217" y="6156522"/>
            <a:ext cx="1996059" cy="307777"/>
          </a:xfrm>
          <a:prstGeom prst="rect">
            <a:avLst/>
          </a:prstGeom>
          <a:noFill/>
        </p:spPr>
        <p:txBody>
          <a:bodyPr wrap="none" rtlCol="0">
            <a:spAutoFit/>
          </a:bodyPr>
          <a:lstStyle/>
          <a:p>
            <a:pPr algn="r"/>
            <a:r>
              <a:rPr lang="en-US" sz="1400" dirty="0">
                <a:solidFill>
                  <a:schemeClr val="bg1"/>
                </a:solidFill>
                <a:latin typeface="Montserrat" pitchFamily="2" charset="77"/>
              </a:rPr>
              <a:t>Marketing Solutions</a:t>
            </a:r>
          </a:p>
        </p:txBody>
      </p:sp>
      <p:sp>
        <p:nvSpPr>
          <p:cNvPr id="9" name="Title 1">
            <a:extLst>
              <a:ext uri="{FF2B5EF4-FFF2-40B4-BE49-F238E27FC236}">
                <a16:creationId xmlns:a16="http://schemas.microsoft.com/office/drawing/2014/main" id="{0C6895C5-297E-09F7-5A8A-11D9EF59E146}"/>
              </a:ext>
            </a:extLst>
          </p:cNvPr>
          <p:cNvSpPr txBox="1">
            <a:spLocks/>
          </p:cNvSpPr>
          <p:nvPr userDrawn="1"/>
        </p:nvSpPr>
        <p:spPr>
          <a:xfrm>
            <a:off x="1178378" y="2640329"/>
            <a:ext cx="10515600" cy="1494337"/>
          </a:xfrm>
          <a:prstGeom prst="rect">
            <a:avLst/>
          </a:prstGeom>
        </p:spPr>
        <p:txBody>
          <a:bodyPr/>
          <a:lstStyle>
            <a:lvl1pPr algn="l" defTabSz="914400" rtl="0" eaLnBrk="1" latinLnBrk="0" hangingPunct="1">
              <a:lnSpc>
                <a:spcPct val="100000"/>
              </a:lnSpc>
              <a:spcBef>
                <a:spcPct val="0"/>
              </a:spcBef>
              <a:buNone/>
              <a:defRPr sz="4000" kern="1200">
                <a:solidFill>
                  <a:schemeClr val="tx1"/>
                </a:solidFill>
                <a:latin typeface="+mj-lt"/>
                <a:ea typeface="+mj-ea"/>
                <a:cs typeface="+mj-cs"/>
              </a:defRPr>
            </a:lvl1pPr>
          </a:lstStyle>
          <a:p>
            <a:pPr>
              <a:spcBef>
                <a:spcPts val="300"/>
              </a:spcBef>
              <a:spcAft>
                <a:spcPts val="300"/>
              </a:spcAft>
            </a:pPr>
            <a:r>
              <a:rPr lang="en-US" dirty="0">
                <a:latin typeface="Montserrat Medium" panose="020F0502020204030204" pitchFamily="2" charset="0"/>
              </a:rPr>
              <a:t>{{</a:t>
            </a:r>
            <a:r>
              <a:rPr lang="en-US" dirty="0" err="1">
                <a:latin typeface="Montserrat Medium" panose="020F0502020204030204" pitchFamily="2" charset="0"/>
              </a:rPr>
              <a:t>creditunion_name</a:t>
            </a:r>
            <a:r>
              <a:rPr lang="en-US" dirty="0">
                <a:latin typeface="Montserrat Medium" panose="020F0502020204030204" pitchFamily="2" charset="0"/>
              </a:rPr>
              <a:t>}}</a:t>
            </a:r>
          </a:p>
          <a:p>
            <a:pPr>
              <a:spcBef>
                <a:spcPts val="300"/>
              </a:spcBef>
              <a:spcAft>
                <a:spcPts val="300"/>
              </a:spcAft>
            </a:pPr>
            <a:r>
              <a:rPr lang="en-US" sz="2000" dirty="0">
                <a:latin typeface="Montserrat" panose="00000500000000000000" pitchFamily="2" charset="0"/>
              </a:rPr>
              <a:t>{{</a:t>
            </a:r>
            <a:r>
              <a:rPr lang="en-US" sz="2000" dirty="0" err="1">
                <a:latin typeface="Montserrat" panose="00000500000000000000" pitchFamily="2" charset="0"/>
              </a:rPr>
              <a:t>proposal_name</a:t>
            </a:r>
            <a:r>
              <a:rPr lang="en-US" sz="2000" dirty="0">
                <a:latin typeface="Montserrat" panose="00000500000000000000" pitchFamily="2" charset="0"/>
              </a:rPr>
              <a:t>}}</a:t>
            </a:r>
          </a:p>
          <a:p>
            <a:pPr>
              <a:spcBef>
                <a:spcPts val="300"/>
              </a:spcBef>
              <a:spcAft>
                <a:spcPts val="300"/>
              </a:spcAft>
            </a:pPr>
            <a:r>
              <a:rPr lang="en-US" sz="2000" dirty="0">
                <a:latin typeface="Montserrat" panose="00000500000000000000" pitchFamily="2" charset="0"/>
              </a:rPr>
              <a:t>{{</a:t>
            </a:r>
            <a:r>
              <a:rPr lang="en-US" sz="2000" dirty="0" err="1">
                <a:latin typeface="Montserrat" panose="00000500000000000000" pitchFamily="2" charset="0"/>
              </a:rPr>
              <a:t>proposal_date</a:t>
            </a:r>
            <a:r>
              <a:rPr lang="en-US" sz="2000" dirty="0">
                <a:latin typeface="Montserrat" panose="00000500000000000000" pitchFamily="2" charset="0"/>
              </a:rPr>
              <a:t>}}</a:t>
            </a:r>
          </a:p>
        </p:txBody>
      </p:sp>
      <p:cxnSp>
        <p:nvCxnSpPr>
          <p:cNvPr id="10" name="Straight Connector 9">
            <a:extLst>
              <a:ext uri="{FF2B5EF4-FFF2-40B4-BE49-F238E27FC236}">
                <a16:creationId xmlns:a16="http://schemas.microsoft.com/office/drawing/2014/main" id="{E8B1C808-27D3-B67D-E05D-B83EE831CF86}"/>
              </a:ext>
            </a:extLst>
          </p:cNvPr>
          <p:cNvCxnSpPr>
            <a:cxnSpLocks/>
          </p:cNvCxnSpPr>
          <p:nvPr userDrawn="1"/>
        </p:nvCxnSpPr>
        <p:spPr>
          <a:xfrm>
            <a:off x="1086358" y="2545318"/>
            <a:ext cx="0" cy="1589348"/>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EDBB59DC-6AB5-4822-325F-2A2714932B32}"/>
              </a:ext>
            </a:extLst>
          </p:cNvPr>
          <p:cNvSpPr txBox="1"/>
          <p:nvPr userDrawn="1"/>
        </p:nvSpPr>
        <p:spPr>
          <a:xfrm>
            <a:off x="7104100" y="5664165"/>
            <a:ext cx="4662332" cy="246221"/>
          </a:xfrm>
          <a:prstGeom prst="rect">
            <a:avLst/>
          </a:prstGeom>
          <a:noFill/>
        </p:spPr>
        <p:txBody>
          <a:bodyPr wrap="square" rtlCol="0">
            <a:spAutoFit/>
          </a:bodyPr>
          <a:lstStyle/>
          <a:p>
            <a:r>
              <a:rPr lang="en-US" sz="1000" dirty="0">
                <a:latin typeface="Montserrat" panose="00000500000000000000" pitchFamily="2" charset="0"/>
              </a:rPr>
              <a:t>2 Ledgeview Drive | Westbrook, ME 04092 | 207.773.5671 | 800.341.0180 </a:t>
            </a:r>
          </a:p>
        </p:txBody>
      </p:sp>
      <p:cxnSp>
        <p:nvCxnSpPr>
          <p:cNvPr id="12" name="Straight Connector 11">
            <a:extLst>
              <a:ext uri="{FF2B5EF4-FFF2-40B4-BE49-F238E27FC236}">
                <a16:creationId xmlns:a16="http://schemas.microsoft.com/office/drawing/2014/main" id="{11D8D64F-7690-9D09-1D67-985458750A78}"/>
              </a:ext>
            </a:extLst>
          </p:cNvPr>
          <p:cNvCxnSpPr>
            <a:cxnSpLocks/>
          </p:cNvCxnSpPr>
          <p:nvPr userDrawn="1"/>
        </p:nvCxnSpPr>
        <p:spPr>
          <a:xfrm flipH="1">
            <a:off x="7159925" y="5568386"/>
            <a:ext cx="4534053" cy="0"/>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pic>
        <p:nvPicPr>
          <p:cNvPr id="13" name="Picture 12">
            <a:extLst>
              <a:ext uri="{FF2B5EF4-FFF2-40B4-BE49-F238E27FC236}">
                <a16:creationId xmlns:a16="http://schemas.microsoft.com/office/drawing/2014/main" id="{62B9ECEE-2F9F-8E62-FD38-CC1D2C79A3AC}"/>
              </a:ext>
            </a:extLst>
          </p:cNvPr>
          <p:cNvPicPr>
            <a:picLocks noChangeAspect="1"/>
          </p:cNvPicPr>
          <p:nvPr userDrawn="1"/>
        </p:nvPicPr>
        <p:blipFill rotWithShape="1">
          <a:blip r:embed="rId2"/>
          <a:srcRect l="21193" t="3327" r="-21193" b="-3327"/>
          <a:stretch/>
        </p:blipFill>
        <p:spPr>
          <a:xfrm>
            <a:off x="345064" y="191215"/>
            <a:ext cx="14874862" cy="756398"/>
          </a:xfrm>
          <a:prstGeom prst="rect">
            <a:avLst/>
          </a:prstGeom>
        </p:spPr>
      </p:pic>
    </p:spTree>
    <p:extLst>
      <p:ext uri="{BB962C8B-B14F-4D97-AF65-F5344CB8AC3E}">
        <p14:creationId xmlns:p14="http://schemas.microsoft.com/office/powerpoint/2010/main" val="117223909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C08F3D-D1B5-D13C-4A30-1EE0D7DB0F40}"/>
              </a:ext>
            </a:extLst>
          </p:cNvPr>
          <p:cNvSpPr>
            <a:spLocks noGrp="1"/>
          </p:cNvSpPr>
          <p:nvPr>
            <p:ph type="title"/>
          </p:nvPr>
        </p:nvSpPr>
        <p:spPr>
          <a:xfrm>
            <a:off x="831850" y="1709738"/>
            <a:ext cx="10515600" cy="2852737"/>
          </a:xfrm>
          <a:prstGeom prst="rect">
            <a:avLst/>
          </a:prstGeo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59A9ADF-5636-FA75-EFCF-9E704CB244A8}"/>
              </a:ext>
            </a:extLst>
          </p:cNvPr>
          <p:cNvSpPr>
            <a:spLocks noGrp="1"/>
          </p:cNvSpPr>
          <p:nvPr>
            <p:ph type="body" idx="1"/>
          </p:nvPr>
        </p:nvSpPr>
        <p:spPr>
          <a:xfrm>
            <a:off x="831850" y="4589463"/>
            <a:ext cx="10515600" cy="1500187"/>
          </a:xfrm>
          <a:prstGeom prst="rect">
            <a:avLst/>
          </a:prstGeo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2EBDE0-2579-550E-AD89-CE14890C31B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531D1043-1C21-5FEE-04FA-BC2105538605}"/>
              </a:ext>
            </a:extLst>
          </p:cNvPr>
          <p:cNvSpPr>
            <a:spLocks noGrp="1"/>
          </p:cNvSpPr>
          <p:nvPr>
            <p:ph type="ftr" sz="quarter" idx="11"/>
          </p:nvPr>
        </p:nvSpPr>
        <p:spPr>
          <a:xfrm>
            <a:off x="4038600" y="6356350"/>
            <a:ext cx="4114800" cy="365125"/>
          </a:xfrm>
          <a:prstGeom prst="rect">
            <a:avLst/>
          </a:prstGeom>
        </p:spPr>
        <p:txBody>
          <a:bodyPr/>
          <a:lstStyle/>
          <a:p>
            <a:endParaRPr lang="en-US" dirty="0"/>
          </a:p>
        </p:txBody>
      </p:sp>
    </p:spTree>
    <p:extLst>
      <p:ext uri="{BB962C8B-B14F-4D97-AF65-F5344CB8AC3E}">
        <p14:creationId xmlns:p14="http://schemas.microsoft.com/office/powerpoint/2010/main" val="21242754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C975C-7F76-4FA2-0436-DBB0EC7804C5}"/>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Content Placeholder 2">
            <a:extLst>
              <a:ext uri="{FF2B5EF4-FFF2-40B4-BE49-F238E27FC236}">
                <a16:creationId xmlns:a16="http://schemas.microsoft.com/office/drawing/2014/main" id="{974C73BD-82AB-A5B9-B237-2F73D1135A4B}"/>
              </a:ext>
            </a:extLst>
          </p:cNvPr>
          <p:cNvSpPr>
            <a:spLocks noGrp="1"/>
          </p:cNvSpPr>
          <p:nvPr>
            <p:ph sz="half" idx="1"/>
          </p:nvPr>
        </p:nvSpPr>
        <p:spPr>
          <a:xfrm>
            <a:off x="838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E78A6C85-4CE8-6205-FCB8-BBC3C8F9CEFA}"/>
              </a:ext>
            </a:extLst>
          </p:cNvPr>
          <p:cNvSpPr>
            <a:spLocks noGrp="1"/>
          </p:cNvSpPr>
          <p:nvPr>
            <p:ph sz="half" idx="2"/>
          </p:nvPr>
        </p:nvSpPr>
        <p:spPr>
          <a:xfrm>
            <a:off x="6172200" y="1825625"/>
            <a:ext cx="5181600" cy="435133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8EB4373-C9DC-78E2-B5E4-1287F7A59464}"/>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314E2BBD-77BB-FA56-C087-74539868D598}"/>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AE879CB6-1351-D329-A571-E655EACAF118}"/>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8132296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FB21EB-3ED6-2141-FFE5-3152F458C145}"/>
              </a:ext>
            </a:extLst>
          </p:cNvPr>
          <p:cNvSpPr>
            <a:spLocks noGrp="1"/>
          </p:cNvSpPr>
          <p:nvPr>
            <p:ph type="title"/>
          </p:nvPr>
        </p:nvSpPr>
        <p:spPr>
          <a:xfrm>
            <a:off x="839788" y="365125"/>
            <a:ext cx="10515600" cy="1325563"/>
          </a:xfrm>
          <a:prstGeom prst="rect">
            <a:avLst/>
          </a:prstGeom>
        </p:spPr>
        <p:txBody>
          <a:bodyPr/>
          <a:lstStyle/>
          <a:p>
            <a:r>
              <a:rPr lang="en-US"/>
              <a:t>Click to edit Master title style</a:t>
            </a:r>
          </a:p>
        </p:txBody>
      </p:sp>
      <p:sp>
        <p:nvSpPr>
          <p:cNvPr id="3" name="Text Placeholder 2">
            <a:extLst>
              <a:ext uri="{FF2B5EF4-FFF2-40B4-BE49-F238E27FC236}">
                <a16:creationId xmlns:a16="http://schemas.microsoft.com/office/drawing/2014/main" id="{2B03376C-6F26-754E-97C9-51E2A00F246A}"/>
              </a:ext>
            </a:extLst>
          </p:cNvPr>
          <p:cNvSpPr>
            <a:spLocks noGrp="1"/>
          </p:cNvSpPr>
          <p:nvPr>
            <p:ph type="body" idx="1"/>
          </p:nvPr>
        </p:nvSpPr>
        <p:spPr>
          <a:xfrm>
            <a:off x="839788" y="1681163"/>
            <a:ext cx="5157787"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76E477DF-8061-CD5D-6CB5-F8768971C1E9}"/>
              </a:ext>
            </a:extLst>
          </p:cNvPr>
          <p:cNvSpPr>
            <a:spLocks noGrp="1"/>
          </p:cNvSpPr>
          <p:nvPr>
            <p:ph sz="half" idx="2"/>
          </p:nvPr>
        </p:nvSpPr>
        <p:spPr>
          <a:xfrm>
            <a:off x="839788" y="2505075"/>
            <a:ext cx="5157787"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D733E298-3DB4-548E-A9DA-DB39C8B44A21}"/>
              </a:ext>
            </a:extLst>
          </p:cNvPr>
          <p:cNvSpPr>
            <a:spLocks noGrp="1"/>
          </p:cNvSpPr>
          <p:nvPr>
            <p:ph type="body" sz="quarter" idx="3"/>
          </p:nvPr>
        </p:nvSpPr>
        <p:spPr>
          <a:xfrm>
            <a:off x="6172200" y="1681163"/>
            <a:ext cx="5183188" cy="82391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4123438-6BDD-B06B-7F50-8897563188AF}"/>
              </a:ext>
            </a:extLst>
          </p:cNvPr>
          <p:cNvSpPr>
            <a:spLocks noGrp="1"/>
          </p:cNvSpPr>
          <p:nvPr>
            <p:ph sz="quarter" idx="4"/>
          </p:nvPr>
        </p:nvSpPr>
        <p:spPr>
          <a:xfrm>
            <a:off x="6172200" y="2505075"/>
            <a:ext cx="5183188" cy="3684588"/>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75BA5AE-2F17-2A36-017C-9027EA14ED6D}"/>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8" name="Footer Placeholder 7">
            <a:extLst>
              <a:ext uri="{FF2B5EF4-FFF2-40B4-BE49-F238E27FC236}">
                <a16:creationId xmlns:a16="http://schemas.microsoft.com/office/drawing/2014/main" id="{8B935CFD-01F7-5C78-5C1B-D49388BA3452}"/>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9" name="Slide Number Placeholder 8">
            <a:extLst>
              <a:ext uri="{FF2B5EF4-FFF2-40B4-BE49-F238E27FC236}">
                <a16:creationId xmlns:a16="http://schemas.microsoft.com/office/drawing/2014/main" id="{59589CA2-8179-F74F-64A1-6032E2009B98}"/>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47907554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A8E4639F-A41D-594F-EFA3-CE7EC0D24B7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4" name="Footer Placeholder 3">
            <a:extLst>
              <a:ext uri="{FF2B5EF4-FFF2-40B4-BE49-F238E27FC236}">
                <a16:creationId xmlns:a16="http://schemas.microsoft.com/office/drawing/2014/main" id="{37201889-C9F7-9F0D-B000-FA7A1D5CD3A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5" name="Slide Number Placeholder 4">
            <a:extLst>
              <a:ext uri="{FF2B5EF4-FFF2-40B4-BE49-F238E27FC236}">
                <a16:creationId xmlns:a16="http://schemas.microsoft.com/office/drawing/2014/main" id="{4782CA93-225F-740B-CCD4-D93490DF21EA}"/>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22495104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D735224-B6AE-919F-4C80-4251B08C387F}"/>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3" name="Footer Placeholder 2">
            <a:extLst>
              <a:ext uri="{FF2B5EF4-FFF2-40B4-BE49-F238E27FC236}">
                <a16:creationId xmlns:a16="http://schemas.microsoft.com/office/drawing/2014/main" id="{33DD81C5-E645-3087-C261-884A71C767C1}"/>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4" name="Slide Number Placeholder 3">
            <a:extLst>
              <a:ext uri="{FF2B5EF4-FFF2-40B4-BE49-F238E27FC236}">
                <a16:creationId xmlns:a16="http://schemas.microsoft.com/office/drawing/2014/main" id="{692EA1A1-4702-D6A3-4EE1-A7AC56805035}"/>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30128231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8FCC92-A4CA-34A8-8693-6E0F51D87FB2}"/>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66684BC5-EF7B-8BF1-22BF-4A90EC34069E}"/>
              </a:ext>
            </a:extLst>
          </p:cNvPr>
          <p:cNvSpPr>
            <a:spLocks noGrp="1"/>
          </p:cNvSpPr>
          <p:nvPr>
            <p:ph idx="1"/>
          </p:nvPr>
        </p:nvSpPr>
        <p:spPr>
          <a:xfrm>
            <a:off x="5183188" y="987425"/>
            <a:ext cx="6172200" cy="4873625"/>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56DC48B9-1E53-28A4-9A35-342094BB4E1F}"/>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4FC3A72-9B90-AAC0-1D3D-04120B122168}"/>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E481806C-587A-19F3-9D88-3BF678B8FB89}"/>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96818B0D-DBB1-8F06-E8B5-1AEEE8B69C69}"/>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223674306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1B2CD2F-5C9A-5536-5C2A-D0812E7020DB}"/>
              </a:ext>
            </a:extLst>
          </p:cNvPr>
          <p:cNvSpPr>
            <a:spLocks noGrp="1"/>
          </p:cNvSpPr>
          <p:nvPr>
            <p:ph type="title"/>
          </p:nvPr>
        </p:nvSpPr>
        <p:spPr>
          <a:xfrm>
            <a:off x="839788" y="457200"/>
            <a:ext cx="3932237" cy="1600200"/>
          </a:xfrm>
          <a:prstGeom prst="rect">
            <a:avLst/>
          </a:prstGeo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85CE790-0100-B132-B205-AD74DAF9859E}"/>
              </a:ext>
            </a:extLst>
          </p:cNvPr>
          <p:cNvSpPr>
            <a:spLocks noGrp="1"/>
          </p:cNvSpPr>
          <p:nvPr>
            <p:ph type="pic" idx="1"/>
          </p:nvPr>
        </p:nvSpPr>
        <p:spPr>
          <a:xfrm>
            <a:off x="5183188" y="987425"/>
            <a:ext cx="6172200" cy="4873625"/>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2EC58FD-E54E-1540-CD20-0000B1664C12}"/>
              </a:ext>
            </a:extLst>
          </p:cNvPr>
          <p:cNvSpPr>
            <a:spLocks noGrp="1"/>
          </p:cNvSpPr>
          <p:nvPr>
            <p:ph type="body" sz="half" idx="2"/>
          </p:nvPr>
        </p:nvSpPr>
        <p:spPr>
          <a:xfrm>
            <a:off x="839788" y="2057400"/>
            <a:ext cx="3932237" cy="3811588"/>
          </a:xfrm>
          <a:prstGeom prst="rect">
            <a:avLst/>
          </a:prstGeo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0F2A246-6145-F88C-5851-A0ED6F57C91C}"/>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6" name="Footer Placeholder 5">
            <a:extLst>
              <a:ext uri="{FF2B5EF4-FFF2-40B4-BE49-F238E27FC236}">
                <a16:creationId xmlns:a16="http://schemas.microsoft.com/office/drawing/2014/main" id="{09211C7A-9EA4-8B85-FA2C-D47375C795E3}"/>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7" name="Slide Number Placeholder 6">
            <a:extLst>
              <a:ext uri="{FF2B5EF4-FFF2-40B4-BE49-F238E27FC236}">
                <a16:creationId xmlns:a16="http://schemas.microsoft.com/office/drawing/2014/main" id="{26C53585-FBD1-1B11-6AE0-76E2744FE6A1}"/>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14554293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6CC9563-8551-7910-9042-613A3FEBF37A}"/>
              </a:ext>
            </a:extLst>
          </p:cNvPr>
          <p:cNvSpPr>
            <a:spLocks noGrp="1"/>
          </p:cNvSpPr>
          <p:nvPr>
            <p:ph type="title"/>
          </p:nvPr>
        </p:nvSpPr>
        <p:spPr>
          <a:xfrm>
            <a:off x="838200" y="365125"/>
            <a:ext cx="10515600" cy="1325563"/>
          </a:xfrm>
          <a:prstGeom prst="rect">
            <a:avLst/>
          </a:prstGeo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332C42E5-7AD4-E2FC-CF38-39FE1D75ED91}"/>
              </a:ext>
            </a:extLst>
          </p:cNvPr>
          <p:cNvSpPr>
            <a:spLocks noGrp="1"/>
          </p:cNvSpPr>
          <p:nvPr>
            <p:ph type="body" orient="vert" idx="1"/>
          </p:nvPr>
        </p:nvSpPr>
        <p:spPr>
          <a:xfrm>
            <a:off x="838200" y="1825625"/>
            <a:ext cx="10515600" cy="4351338"/>
          </a:xfrm>
          <a:prstGeom prst="rect">
            <a:avLst/>
          </a:prstGeo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873ADDB-D982-F3AC-018A-9FCD2DD9487A}"/>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A0468723-457F-454C-425F-A66C909F8670}"/>
              </a:ext>
            </a:extLst>
          </p:cNvPr>
          <p:cNvSpPr>
            <a:spLocks noGrp="1"/>
          </p:cNvSpPr>
          <p:nvPr>
            <p:ph type="ftr" sz="quarter" idx="11"/>
          </p:nvPr>
        </p:nvSpPr>
        <p:spPr>
          <a:xfrm>
            <a:off x="4038600" y="6356350"/>
            <a:ext cx="4114800" cy="365125"/>
          </a:xfrm>
          <a:prstGeom prst="rect">
            <a:avLst/>
          </a:prstGeom>
        </p:spPr>
        <p:txBody>
          <a:bodyPr/>
          <a:lstStyle/>
          <a:p>
            <a:endParaRPr lang="en-US"/>
          </a:p>
        </p:txBody>
      </p:sp>
      <p:sp>
        <p:nvSpPr>
          <p:cNvPr id="6" name="Slide Number Placeholder 5">
            <a:extLst>
              <a:ext uri="{FF2B5EF4-FFF2-40B4-BE49-F238E27FC236}">
                <a16:creationId xmlns:a16="http://schemas.microsoft.com/office/drawing/2014/main" id="{B038DAFE-5C1E-916C-514D-78301263ABBD}"/>
              </a:ext>
            </a:extLst>
          </p:cNvPr>
          <p:cNvSpPr>
            <a:spLocks noGrp="1"/>
          </p:cNvSpPr>
          <p:nvPr>
            <p:ph type="sldNum" sz="quarter" idx="12"/>
          </p:nvPr>
        </p:nvSpPr>
        <p:spPr>
          <a:xfrm>
            <a:off x="0" y="6127847"/>
            <a:ext cx="12192000" cy="365125"/>
          </a:xfrm>
          <a:prstGeom prst="rect">
            <a:avLst/>
          </a:prstGeom>
        </p:spPr>
        <p:txBody>
          <a:bodyPr/>
          <a:lstStyle/>
          <a:p>
            <a:fld id="{36529709-AEC5-4306-8E0C-3A32A9027161}" type="slidenum">
              <a:rPr lang="en-US" smtClean="0"/>
              <a:t>‹#›</a:t>
            </a:fld>
            <a:endParaRPr lang="en-US"/>
          </a:p>
        </p:txBody>
      </p:sp>
    </p:spTree>
    <p:extLst>
      <p:ext uri="{BB962C8B-B14F-4D97-AF65-F5344CB8AC3E}">
        <p14:creationId xmlns:p14="http://schemas.microsoft.com/office/powerpoint/2010/main" val="4614580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obj">
  <p:cSld name="4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13D465-6880-8E21-6B79-BC959EACF23B}"/>
              </a:ext>
            </a:extLst>
          </p:cNvPr>
          <p:cNvSpPr>
            <a:spLocks noGrp="1"/>
          </p:cNvSpPr>
          <p:nvPr>
            <p:ph type="title"/>
          </p:nvPr>
        </p:nvSpPr>
        <p:spPr>
          <a:xfrm>
            <a:off x="458724" y="407987"/>
            <a:ext cx="5105400" cy="1325563"/>
          </a:xfrm>
          <a:prstGeom prst="rect">
            <a:avLst/>
          </a:prstGeom>
        </p:spPr>
        <p:txBody>
          <a:bodyPr>
            <a:normAutofit/>
          </a:bodyPr>
          <a:lstStyle>
            <a:lvl1pPr>
              <a:defRPr sz="3600" b="0" i="0">
                <a:latin typeface="Montserrat" pitchFamily="2" charset="77"/>
              </a:defRPr>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B244DCB-9720-E753-6FE4-AD57C1EB8F58}"/>
              </a:ext>
            </a:extLst>
          </p:cNvPr>
          <p:cNvSpPr>
            <a:spLocks noGrp="1"/>
          </p:cNvSpPr>
          <p:nvPr>
            <p:ph idx="1"/>
          </p:nvPr>
        </p:nvSpPr>
        <p:spPr>
          <a:xfrm>
            <a:off x="458724" y="1868487"/>
            <a:ext cx="5789676" cy="4351338"/>
          </a:xfrm>
          <a:prstGeom prst="rect">
            <a:avLst/>
          </a:prstGeom>
        </p:spPr>
        <p:txBody>
          <a:bodyPr>
            <a:normAutofit/>
          </a:bodyPr>
          <a:lstStyle>
            <a:lvl1pPr>
              <a:spcBef>
                <a:spcPts val="0"/>
              </a:spcBef>
              <a:spcAft>
                <a:spcPts val="600"/>
              </a:spcAft>
              <a:defRPr sz="2000" b="0" i="0">
                <a:latin typeface="Montserrat" pitchFamily="2" charset="77"/>
              </a:defRPr>
            </a:lvl1pPr>
            <a:lvl2pPr>
              <a:defRPr sz="1600" b="0" i="0">
                <a:latin typeface="Montserrat" pitchFamily="2" charset="77"/>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9BCC6291-335F-26A3-5853-0F3716E17846}"/>
              </a:ext>
            </a:extLst>
          </p:cNvPr>
          <p:cNvSpPr>
            <a:spLocks noGrp="1"/>
          </p:cNvSpPr>
          <p:nvPr>
            <p:ph type="dt" sz="half" idx="10"/>
          </p:nvPr>
        </p:nvSpPr>
        <p:spPr>
          <a:xfrm>
            <a:off x="838200" y="6356350"/>
            <a:ext cx="2743200" cy="365125"/>
          </a:xfrm>
          <a:prstGeom prst="rect">
            <a:avLst/>
          </a:prstGeom>
        </p:spPr>
        <p:txBody>
          <a:bodyPr/>
          <a:lstStyle/>
          <a:p>
            <a:endParaRPr lang="en-US"/>
          </a:p>
        </p:txBody>
      </p:sp>
      <p:sp>
        <p:nvSpPr>
          <p:cNvPr id="5" name="Footer Placeholder 4">
            <a:extLst>
              <a:ext uri="{FF2B5EF4-FFF2-40B4-BE49-F238E27FC236}">
                <a16:creationId xmlns:a16="http://schemas.microsoft.com/office/drawing/2014/main" id="{DBCB9E7C-7FA0-9709-100E-FE05189FA06E}"/>
              </a:ext>
            </a:extLst>
          </p:cNvPr>
          <p:cNvSpPr>
            <a:spLocks noGrp="1"/>
          </p:cNvSpPr>
          <p:nvPr>
            <p:ph type="ftr" sz="quarter" idx="11"/>
          </p:nvPr>
        </p:nvSpPr>
        <p:spPr>
          <a:xfrm>
            <a:off x="7239000" y="6436588"/>
            <a:ext cx="4114800" cy="365125"/>
          </a:xfrm>
          <a:prstGeom prst="rect">
            <a:avLst/>
          </a:prstGeom>
        </p:spPr>
        <p:txBody>
          <a:bodyPr/>
          <a:lstStyle/>
          <a:p>
            <a:endParaRPr lang="en-US" dirty="0"/>
          </a:p>
        </p:txBody>
      </p:sp>
      <p:sp>
        <p:nvSpPr>
          <p:cNvPr id="6" name="Slide Number Placeholder 5">
            <a:extLst>
              <a:ext uri="{FF2B5EF4-FFF2-40B4-BE49-F238E27FC236}">
                <a16:creationId xmlns:a16="http://schemas.microsoft.com/office/drawing/2014/main" id="{3F9FD67A-14DA-4E7C-E7E4-C4F1457CC916}"/>
              </a:ext>
            </a:extLst>
          </p:cNvPr>
          <p:cNvSpPr>
            <a:spLocks noGrp="1"/>
          </p:cNvSpPr>
          <p:nvPr>
            <p:ph type="sldNum" sz="quarter" idx="12"/>
          </p:nvPr>
        </p:nvSpPr>
        <p:spPr>
          <a:xfrm>
            <a:off x="0" y="6127847"/>
            <a:ext cx="12192000" cy="365125"/>
          </a:xfrm>
          <a:prstGeom prst="rect">
            <a:avLst/>
          </a:prstGeom>
        </p:spPr>
        <p:txBody>
          <a:bodyPr/>
          <a:lstStyle/>
          <a:p>
            <a:fld id="{88557022-9F57-BB49-96A1-473752655FA4}" type="slidenum">
              <a:rPr lang="en-US" smtClean="0"/>
              <a:t>‹#›</a:t>
            </a:fld>
            <a:endParaRPr lang="en-US"/>
          </a:p>
        </p:txBody>
      </p:sp>
      <p:sp>
        <p:nvSpPr>
          <p:cNvPr id="7" name="Content Placeholder 2">
            <a:extLst>
              <a:ext uri="{FF2B5EF4-FFF2-40B4-BE49-F238E27FC236}">
                <a16:creationId xmlns:a16="http://schemas.microsoft.com/office/drawing/2014/main" id="{FECB219A-ABBB-5DD8-6B42-7728A76BAC4F}"/>
              </a:ext>
            </a:extLst>
          </p:cNvPr>
          <p:cNvSpPr>
            <a:spLocks noGrp="1"/>
          </p:cNvSpPr>
          <p:nvPr>
            <p:ph idx="13"/>
          </p:nvPr>
        </p:nvSpPr>
        <p:spPr>
          <a:xfrm>
            <a:off x="6731000" y="395287"/>
            <a:ext cx="5105400" cy="5824538"/>
          </a:xfrm>
          <a:prstGeom prst="rect">
            <a:avLst/>
          </a:prstGeom>
        </p:spPr>
        <p:txBody>
          <a:bodyPr>
            <a:normAutofit/>
          </a:bodyPr>
          <a:lstStyle>
            <a:lvl1pPr>
              <a:spcBef>
                <a:spcPts val="0"/>
              </a:spcBef>
              <a:spcAft>
                <a:spcPts val="600"/>
              </a:spcAft>
              <a:defRPr sz="2200" b="0" i="0">
                <a:solidFill>
                  <a:srgbClr val="3555BD"/>
                </a:solidFill>
                <a:latin typeface="Lora Medium" pitchFamily="2" charset="77"/>
              </a:defRPr>
            </a:lvl1pPr>
            <a:lvl2pPr>
              <a:defRPr sz="1600" b="0" i="0">
                <a:latin typeface="Montserrat" pitchFamily="2" charset="77"/>
              </a:defRPr>
            </a:lvl2pPr>
            <a:lvl3pPr>
              <a:defRPr sz="1600" b="0" i="0">
                <a:latin typeface="Montserrat" pitchFamily="2" charset="77"/>
              </a:defRPr>
            </a:lvl3pPr>
            <a:lvl4pPr>
              <a:defRPr sz="1600" b="0" i="0">
                <a:latin typeface="Montserrat" pitchFamily="2" charset="77"/>
              </a:defRPr>
            </a:lvl4pPr>
            <a:lvl5pPr>
              <a:defRPr sz="1600" b="0" i="0">
                <a:latin typeface="Montserrat" pitchFamily="2" charset="77"/>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12046320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73996056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60"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8" Type="http://schemas.openxmlformats.org/officeDocument/2006/relationships/image" Target="../media/image8.svg"/><Relationship Id="rId3" Type="http://schemas.openxmlformats.org/officeDocument/2006/relationships/image" Target="../media/image3.svg"/><Relationship Id="rId7" Type="http://schemas.openxmlformats.org/officeDocument/2006/relationships/image" Target="../media/image7.svg"/><Relationship Id="rId2" Type="http://schemas.openxmlformats.org/officeDocument/2006/relationships/image" Target="../media/image2.svg"/><Relationship Id="rId1"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svg"/><Relationship Id="rId4" Type="http://schemas.openxmlformats.org/officeDocument/2006/relationships/image" Target="../media/image4.svg"/><Relationship Id="rId9" Type="http://schemas.openxmlformats.org/officeDocument/2006/relationships/image" Target="../media/image9.svg"/></Relationships>
</file>

<file path=ppt/slides/_rels/slide4.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image" Target="../media/image8.svg"/><Relationship Id="rId1" Type="http://schemas.openxmlformats.org/officeDocument/2006/relationships/slideLayout" Target="../slideLayouts/slideLayout1.xml"/><Relationship Id="rId5" Type="http://schemas.openxmlformats.org/officeDocument/2006/relationships/image" Target="../media/image12.svg"/><Relationship Id="rId4" Type="http://schemas.openxmlformats.org/officeDocument/2006/relationships/image" Target="../media/image11.svg"/></Relationships>
</file>

<file path=ppt/slides/_rels/slide5.xml.rels><?xml version="1.0" encoding="UTF-8" standalone="yes"?>
<Relationships xmlns="http://schemas.openxmlformats.org/package/2006/relationships"><Relationship Id="rId26" Type="http://schemas.openxmlformats.org/officeDocument/2006/relationships/diagramData" Target="../diagrams/data5.xml"/><Relationship Id="rId21" Type="http://schemas.openxmlformats.org/officeDocument/2006/relationships/diagramLayout" Target="../diagrams/layout4.xml"/><Relationship Id="rId42" Type="http://schemas.microsoft.com/office/2007/relationships/diagramDrawing" Target="../diagrams/drawing7.xml"/><Relationship Id="rId47" Type="http://schemas.openxmlformats.org/officeDocument/2006/relationships/diagramColors" Target="../diagrams/colors8.xml"/><Relationship Id="rId63" Type="http://schemas.openxmlformats.org/officeDocument/2006/relationships/diagramLayout" Target="../diagrams/layout11.xml"/><Relationship Id="rId68" Type="http://schemas.openxmlformats.org/officeDocument/2006/relationships/diagramData" Target="../diagrams/data12.xml"/><Relationship Id="rId2" Type="http://schemas.openxmlformats.org/officeDocument/2006/relationships/diagramData" Target="../diagrams/data1.xml"/><Relationship Id="rId16" Type="http://schemas.openxmlformats.org/officeDocument/2006/relationships/diagramQuickStyle" Target="../diagrams/quickStyle3.xml"/><Relationship Id="rId29" Type="http://schemas.openxmlformats.org/officeDocument/2006/relationships/diagramColors" Target="../diagrams/colors5.xml"/><Relationship Id="rId11" Type="http://schemas.openxmlformats.org/officeDocument/2006/relationships/diagramColors" Target="../diagrams/colors2.xml"/><Relationship Id="rId24" Type="http://schemas.microsoft.com/office/2007/relationships/diagramDrawing" Target="../diagrams/drawing4.xml"/><Relationship Id="rId32" Type="http://schemas.openxmlformats.org/officeDocument/2006/relationships/diagramData" Target="../diagrams/data6.xml"/><Relationship Id="rId37" Type="http://schemas.openxmlformats.org/officeDocument/2006/relationships/image" Target="../media/image18.svg"/><Relationship Id="rId40" Type="http://schemas.openxmlformats.org/officeDocument/2006/relationships/diagramQuickStyle" Target="../diagrams/quickStyle7.xml"/><Relationship Id="rId45" Type="http://schemas.openxmlformats.org/officeDocument/2006/relationships/diagramLayout" Target="../diagrams/layout8.xml"/><Relationship Id="rId53" Type="http://schemas.openxmlformats.org/officeDocument/2006/relationships/diagramColors" Target="../diagrams/colors9.xml"/><Relationship Id="rId58" Type="http://schemas.openxmlformats.org/officeDocument/2006/relationships/diagramQuickStyle" Target="../diagrams/quickStyle10.xml"/><Relationship Id="rId66" Type="http://schemas.microsoft.com/office/2007/relationships/diagramDrawing" Target="../diagrams/drawing11.xml"/><Relationship Id="rId5" Type="http://schemas.openxmlformats.org/officeDocument/2006/relationships/diagramColors" Target="../diagrams/colors1.xml"/><Relationship Id="rId61" Type="http://schemas.openxmlformats.org/officeDocument/2006/relationships/image" Target="../media/image22.svg"/><Relationship Id="rId19" Type="http://schemas.openxmlformats.org/officeDocument/2006/relationships/image" Target="../media/image15.svg"/><Relationship Id="rId14" Type="http://schemas.openxmlformats.org/officeDocument/2006/relationships/diagramData" Target="../diagrams/data3.xml"/><Relationship Id="rId22" Type="http://schemas.openxmlformats.org/officeDocument/2006/relationships/diagramQuickStyle" Target="../diagrams/quickStyle4.xml"/><Relationship Id="rId27" Type="http://schemas.openxmlformats.org/officeDocument/2006/relationships/diagramLayout" Target="../diagrams/layout5.xml"/><Relationship Id="rId30" Type="http://schemas.microsoft.com/office/2007/relationships/diagramDrawing" Target="../diagrams/drawing5.xml"/><Relationship Id="rId35" Type="http://schemas.openxmlformats.org/officeDocument/2006/relationships/diagramColors" Target="../diagrams/colors6.xml"/><Relationship Id="rId43" Type="http://schemas.openxmlformats.org/officeDocument/2006/relationships/image" Target="../media/image19.svg"/><Relationship Id="rId48" Type="http://schemas.microsoft.com/office/2007/relationships/diagramDrawing" Target="../diagrams/drawing8.xml"/><Relationship Id="rId56" Type="http://schemas.openxmlformats.org/officeDocument/2006/relationships/diagramData" Target="../diagrams/data10.xml"/><Relationship Id="rId64" Type="http://schemas.openxmlformats.org/officeDocument/2006/relationships/diagramQuickStyle" Target="../diagrams/quickStyle11.xml"/><Relationship Id="rId69" Type="http://schemas.openxmlformats.org/officeDocument/2006/relationships/diagramLayout" Target="../diagrams/layout12.xml"/><Relationship Id="rId8" Type="http://schemas.openxmlformats.org/officeDocument/2006/relationships/diagramData" Target="../diagrams/data2.xml"/><Relationship Id="rId51" Type="http://schemas.openxmlformats.org/officeDocument/2006/relationships/diagramLayout" Target="../diagrams/layout9.xml"/><Relationship Id="rId72" Type="http://schemas.microsoft.com/office/2007/relationships/diagramDrawing" Target="../diagrams/drawing12.xml"/><Relationship Id="rId3" Type="http://schemas.openxmlformats.org/officeDocument/2006/relationships/diagramLayout" Target="../diagrams/layout1.xml"/><Relationship Id="rId12" Type="http://schemas.microsoft.com/office/2007/relationships/diagramDrawing" Target="../diagrams/drawing2.xml"/><Relationship Id="rId17" Type="http://schemas.openxmlformats.org/officeDocument/2006/relationships/diagramColors" Target="../diagrams/colors3.xml"/><Relationship Id="rId25" Type="http://schemas.openxmlformats.org/officeDocument/2006/relationships/image" Target="../media/image16.svg"/><Relationship Id="rId33" Type="http://schemas.openxmlformats.org/officeDocument/2006/relationships/diagramLayout" Target="../diagrams/layout6.xml"/><Relationship Id="rId38" Type="http://schemas.openxmlformats.org/officeDocument/2006/relationships/diagramData" Target="../diagrams/data7.xml"/><Relationship Id="rId46" Type="http://schemas.openxmlformats.org/officeDocument/2006/relationships/diagramQuickStyle" Target="../diagrams/quickStyle8.xml"/><Relationship Id="rId59" Type="http://schemas.openxmlformats.org/officeDocument/2006/relationships/diagramColors" Target="../diagrams/colors10.xml"/><Relationship Id="rId67" Type="http://schemas.openxmlformats.org/officeDocument/2006/relationships/image" Target="../media/image23.svg"/><Relationship Id="rId20" Type="http://schemas.openxmlformats.org/officeDocument/2006/relationships/diagramData" Target="../diagrams/data4.xml"/><Relationship Id="rId41" Type="http://schemas.openxmlformats.org/officeDocument/2006/relationships/diagramColors" Target="../diagrams/colors7.xml"/><Relationship Id="rId54" Type="http://schemas.microsoft.com/office/2007/relationships/diagramDrawing" Target="../diagrams/drawing9.xml"/><Relationship Id="rId62" Type="http://schemas.openxmlformats.org/officeDocument/2006/relationships/diagramData" Target="../diagrams/data11.xml"/><Relationship Id="rId70" Type="http://schemas.openxmlformats.org/officeDocument/2006/relationships/diagramQuickStyle" Target="../diagrams/quickStyle12.xml"/><Relationship Id="rId1" Type="http://schemas.openxmlformats.org/officeDocument/2006/relationships/slideLayout" Target="../slideLayouts/slideLayout1.xml"/><Relationship Id="rId6" Type="http://schemas.microsoft.com/office/2007/relationships/diagramDrawing" Target="../diagrams/drawing1.xml"/><Relationship Id="rId15" Type="http://schemas.openxmlformats.org/officeDocument/2006/relationships/diagramLayout" Target="../diagrams/layout3.xml"/><Relationship Id="rId23" Type="http://schemas.openxmlformats.org/officeDocument/2006/relationships/diagramColors" Target="../diagrams/colors4.xml"/><Relationship Id="rId28" Type="http://schemas.openxmlformats.org/officeDocument/2006/relationships/diagramQuickStyle" Target="../diagrams/quickStyle5.xml"/><Relationship Id="rId36" Type="http://schemas.microsoft.com/office/2007/relationships/diagramDrawing" Target="../diagrams/drawing6.xml"/><Relationship Id="rId49" Type="http://schemas.openxmlformats.org/officeDocument/2006/relationships/image" Target="../media/image20.svg"/><Relationship Id="rId57" Type="http://schemas.openxmlformats.org/officeDocument/2006/relationships/diagramLayout" Target="../diagrams/layout10.xml"/><Relationship Id="rId10" Type="http://schemas.openxmlformats.org/officeDocument/2006/relationships/diagramQuickStyle" Target="../diagrams/quickStyle2.xml"/><Relationship Id="rId31" Type="http://schemas.openxmlformats.org/officeDocument/2006/relationships/image" Target="../media/image17.svg"/><Relationship Id="rId44" Type="http://schemas.openxmlformats.org/officeDocument/2006/relationships/diagramData" Target="../diagrams/data8.xml"/><Relationship Id="rId52" Type="http://schemas.openxmlformats.org/officeDocument/2006/relationships/diagramQuickStyle" Target="../diagrams/quickStyle9.xml"/><Relationship Id="rId60" Type="http://schemas.microsoft.com/office/2007/relationships/diagramDrawing" Target="../diagrams/drawing10.xml"/><Relationship Id="rId65" Type="http://schemas.openxmlformats.org/officeDocument/2006/relationships/diagramColors" Target="../diagrams/colors11.xml"/><Relationship Id="rId73" Type="http://schemas.openxmlformats.org/officeDocument/2006/relationships/image" Target="../media/image24.svg"/><Relationship Id="rId4" Type="http://schemas.openxmlformats.org/officeDocument/2006/relationships/diagramQuickStyle" Target="../diagrams/quickStyle1.xml"/><Relationship Id="rId9" Type="http://schemas.openxmlformats.org/officeDocument/2006/relationships/diagramLayout" Target="../diagrams/layout2.xml"/><Relationship Id="rId13" Type="http://schemas.openxmlformats.org/officeDocument/2006/relationships/image" Target="../media/image14.svg"/><Relationship Id="rId18" Type="http://schemas.microsoft.com/office/2007/relationships/diagramDrawing" Target="../diagrams/drawing3.xml"/><Relationship Id="rId39" Type="http://schemas.openxmlformats.org/officeDocument/2006/relationships/diagramLayout" Target="../diagrams/layout7.xml"/><Relationship Id="rId34" Type="http://schemas.openxmlformats.org/officeDocument/2006/relationships/diagramQuickStyle" Target="../diagrams/quickStyle6.xml"/><Relationship Id="rId50" Type="http://schemas.openxmlformats.org/officeDocument/2006/relationships/diagramData" Target="../diagrams/data9.xml"/><Relationship Id="rId55" Type="http://schemas.openxmlformats.org/officeDocument/2006/relationships/image" Target="../media/image21.svg"/><Relationship Id="rId7" Type="http://schemas.openxmlformats.org/officeDocument/2006/relationships/image" Target="../media/image13.svg"/><Relationship Id="rId71" Type="http://schemas.openxmlformats.org/officeDocument/2006/relationships/diagramColors" Target="../diagrams/colors12.xml"/></Relationships>
</file>

<file path=ppt/slides/_rels/slide6.xml.rels><?xml version="1.0" encoding="UTF-8" standalone="yes"?>
<Relationships xmlns="http://schemas.openxmlformats.org/package/2006/relationships"><Relationship Id="rId8" Type="http://schemas.microsoft.com/office/2007/relationships/diagramDrawing" Target="../diagrams/drawing13.xml"/><Relationship Id="rId13" Type="http://schemas.openxmlformats.org/officeDocument/2006/relationships/diagramColors" Target="../diagrams/colors14.xml"/><Relationship Id="rId18" Type="http://schemas.openxmlformats.org/officeDocument/2006/relationships/diagramQuickStyle" Target="../diagrams/quickStyle15.xml"/><Relationship Id="rId26" Type="http://schemas.microsoft.com/office/2007/relationships/diagramDrawing" Target="../diagrams/drawing16.xml"/><Relationship Id="rId3" Type="http://schemas.openxmlformats.org/officeDocument/2006/relationships/image" Target="../media/image26.png"/><Relationship Id="rId21" Type="http://schemas.openxmlformats.org/officeDocument/2006/relationships/image" Target="../media/image18.svg"/><Relationship Id="rId7" Type="http://schemas.openxmlformats.org/officeDocument/2006/relationships/diagramColors" Target="../diagrams/colors13.xml"/><Relationship Id="rId12" Type="http://schemas.openxmlformats.org/officeDocument/2006/relationships/diagramQuickStyle" Target="../diagrams/quickStyle14.xml"/><Relationship Id="rId17" Type="http://schemas.openxmlformats.org/officeDocument/2006/relationships/diagramLayout" Target="../diagrams/layout15.xml"/><Relationship Id="rId25" Type="http://schemas.openxmlformats.org/officeDocument/2006/relationships/diagramColors" Target="../diagrams/colors16.xml"/><Relationship Id="rId2" Type="http://schemas.openxmlformats.org/officeDocument/2006/relationships/image" Target="../media/image25.png"/><Relationship Id="rId16" Type="http://schemas.openxmlformats.org/officeDocument/2006/relationships/diagramData" Target="../diagrams/data15.xml"/><Relationship Id="rId20" Type="http://schemas.microsoft.com/office/2007/relationships/diagramDrawing" Target="../diagrams/drawing15.xml"/><Relationship Id="rId1" Type="http://schemas.openxmlformats.org/officeDocument/2006/relationships/slideLayout" Target="../slideLayouts/slideLayout1.xml"/><Relationship Id="rId6" Type="http://schemas.openxmlformats.org/officeDocument/2006/relationships/diagramQuickStyle" Target="../diagrams/quickStyle13.xml"/><Relationship Id="rId11" Type="http://schemas.openxmlformats.org/officeDocument/2006/relationships/diagramLayout" Target="../diagrams/layout14.xml"/><Relationship Id="rId24" Type="http://schemas.openxmlformats.org/officeDocument/2006/relationships/diagramQuickStyle" Target="../diagrams/quickStyle16.xml"/><Relationship Id="rId5" Type="http://schemas.openxmlformats.org/officeDocument/2006/relationships/diagramLayout" Target="../diagrams/layout13.xml"/><Relationship Id="rId15" Type="http://schemas.openxmlformats.org/officeDocument/2006/relationships/image" Target="../media/image28.svg"/><Relationship Id="rId23" Type="http://schemas.openxmlformats.org/officeDocument/2006/relationships/diagramLayout" Target="../diagrams/layout16.xml"/><Relationship Id="rId10" Type="http://schemas.openxmlformats.org/officeDocument/2006/relationships/diagramData" Target="../diagrams/data14.xml"/><Relationship Id="rId19" Type="http://schemas.openxmlformats.org/officeDocument/2006/relationships/diagramColors" Target="../diagrams/colors15.xml"/><Relationship Id="rId4" Type="http://schemas.openxmlformats.org/officeDocument/2006/relationships/diagramData" Target="../diagrams/data13.xml"/><Relationship Id="rId9" Type="http://schemas.openxmlformats.org/officeDocument/2006/relationships/image" Target="../media/image27.svg"/><Relationship Id="rId14" Type="http://schemas.microsoft.com/office/2007/relationships/diagramDrawing" Target="../diagrams/drawing14.xml"/><Relationship Id="rId22" Type="http://schemas.openxmlformats.org/officeDocument/2006/relationships/diagramData" Target="../diagrams/data16.xml"/><Relationship Id="rId27" Type="http://schemas.openxmlformats.org/officeDocument/2006/relationships/image" Target="../media/image29.svg"/></Relationships>
</file>

<file path=ppt/slides/_rels/slide7.xml.rels><?xml version="1.0" encoding="UTF-8" standalone="yes"?>
<Relationships xmlns="http://schemas.openxmlformats.org/package/2006/relationships"><Relationship Id="rId8" Type="http://schemas.openxmlformats.org/officeDocument/2006/relationships/image" Target="../media/image27.svg"/><Relationship Id="rId13" Type="http://schemas.microsoft.com/office/2007/relationships/diagramDrawing" Target="../diagrams/drawing18.xml"/><Relationship Id="rId3" Type="http://schemas.openxmlformats.org/officeDocument/2006/relationships/diagramData" Target="../diagrams/data17.xml"/><Relationship Id="rId7" Type="http://schemas.microsoft.com/office/2007/relationships/diagramDrawing" Target="../diagrams/drawing17.xml"/><Relationship Id="rId12" Type="http://schemas.openxmlformats.org/officeDocument/2006/relationships/diagramColors" Target="../diagrams/colors18.xml"/><Relationship Id="rId2" Type="http://schemas.openxmlformats.org/officeDocument/2006/relationships/image" Target="../media/image30.svg"/><Relationship Id="rId1" Type="http://schemas.openxmlformats.org/officeDocument/2006/relationships/slideLayout" Target="../slideLayouts/slideLayout1.xml"/><Relationship Id="rId6" Type="http://schemas.openxmlformats.org/officeDocument/2006/relationships/diagramColors" Target="../diagrams/colors17.xml"/><Relationship Id="rId11" Type="http://schemas.openxmlformats.org/officeDocument/2006/relationships/diagramQuickStyle" Target="../diagrams/quickStyle18.xml"/><Relationship Id="rId5" Type="http://schemas.openxmlformats.org/officeDocument/2006/relationships/diagramQuickStyle" Target="../diagrams/quickStyle17.xml"/><Relationship Id="rId10" Type="http://schemas.openxmlformats.org/officeDocument/2006/relationships/diagramLayout" Target="../diagrams/layout18.xml"/><Relationship Id="rId4" Type="http://schemas.openxmlformats.org/officeDocument/2006/relationships/diagramLayout" Target="../diagrams/layout17.xml"/><Relationship Id="rId9" Type="http://schemas.openxmlformats.org/officeDocument/2006/relationships/diagramData" Target="../diagrams/data18.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sv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61761781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67A1-BFFC-F313-18BE-022DCB878517}"/>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41992747-D23E-22CA-5F75-0CBAB7F6A22A}"/>
              </a:ext>
            </a:extLst>
          </p:cNvPr>
          <p:cNvCxnSpPr>
            <a:cxnSpLocks/>
          </p:cNvCxnSpPr>
          <p:nvPr/>
        </p:nvCxnSpPr>
        <p:spPr>
          <a:xfrm flipH="1">
            <a:off x="458724" y="1088130"/>
            <a:ext cx="10968684" cy="0"/>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sp>
        <p:nvSpPr>
          <p:cNvPr id="6" name="Rectangle 5">
            <a:extLst>
              <a:ext uri="{FF2B5EF4-FFF2-40B4-BE49-F238E27FC236}">
                <a16:creationId xmlns:a16="http://schemas.microsoft.com/office/drawing/2014/main" id="{A17C86AE-CA13-866B-AC53-4EB3BF07C44C}"/>
              </a:ext>
            </a:extLst>
          </p:cNvPr>
          <p:cNvSpPr/>
          <p:nvPr/>
        </p:nvSpPr>
        <p:spPr>
          <a:xfrm>
            <a:off x="458724" y="1411448"/>
            <a:ext cx="11071398" cy="4215578"/>
          </a:xfrm>
          <a:prstGeom prst="rect">
            <a:avLst/>
          </a:prstGeom>
        </p:spPr>
        <p:txBody>
          <a:bodyPr wrap="square" lIns="91440" tIns="45720" rIns="91440" bIns="45720" anchor="t">
            <a:spAutoFit/>
          </a:bodyPr>
          <a:lstStyle/>
          <a:p>
            <a:pPr marR="182880">
              <a:lnSpc>
                <a:spcPct val="115000"/>
              </a:lnSpc>
              <a:spcAft>
                <a:spcPts val="1000"/>
              </a:spcAft>
            </a:pPr>
            <a:r>
              <a:rPr lang="en-US" sz="1400" dirty="0">
                <a:solidFill>
                  <a:srgbClr val="3C8394"/>
                </a:solidFill>
                <a:latin typeface="Montserrat SemiBold" panose="00000700000000000000" pitchFamily="2" charset="0"/>
                <a:ea typeface="Times New Roman" panose="02020603050405020304" pitchFamily="18" charset="0"/>
                <a:cs typeface="Arial"/>
              </a:rPr>
              <a:t>Executive Summary</a:t>
            </a:r>
          </a:p>
          <a:p>
            <a:pPr marR="182880">
              <a:lnSpc>
                <a:spcPct val="115000"/>
              </a:lnSpc>
              <a:spcAft>
                <a:spcPts val="1000"/>
              </a:spcAft>
            </a:pPr>
            <a:r>
              <a:rPr lang="en-US" sz="1050" dirty="0">
                <a:latin typeface="Montserrat" panose="00000500000000000000" pitchFamily="50" charset="0"/>
                <a:ea typeface="Times New Roman" panose="02020603050405020304" pitchFamily="18" charset="0"/>
                <a:cs typeface="Arial"/>
              </a:rPr>
              <a:t>We appreciate the opportunity to present this proposal to you. Synergent Marketing Services is dedicated to ensuring that your message reaches the right member at the right time. Our Marketing Services team will assist you in data mining and segmenting your target audience to create highly creative, personalized, and impactful campaigns. We will collaborate with you to coordinate your ideas, provide support with copywriting, editing, and proofing, and develop comprehensive, attention-grabbing designs that reinforce your message with compelling imagery. Our goal is to ensure that all supporting campaign materials maintain a cohesive and effective visual consistency.</a:t>
            </a:r>
          </a:p>
          <a:p>
            <a:pPr marR="182880">
              <a:lnSpc>
                <a:spcPct val="115000"/>
              </a:lnSpc>
              <a:spcAft>
                <a:spcPts val="1000"/>
              </a:spcAft>
            </a:pPr>
            <a:br>
              <a:rPr lang="en-US" sz="1200" b="1" dirty="0">
                <a:latin typeface="Montserrat" panose="00000500000000000000" pitchFamily="50" charset="0"/>
                <a:ea typeface="Times New Roman" panose="02020603050405020304" pitchFamily="18" charset="0"/>
                <a:cs typeface="Arial" panose="020B0604020202020204" pitchFamily="34" charset="0"/>
              </a:rPr>
            </a:br>
            <a:r>
              <a:rPr lang="en-US" sz="1400" dirty="0">
                <a:solidFill>
                  <a:srgbClr val="002060"/>
                </a:solidFill>
                <a:latin typeface="Montserrat SemiBold" panose="00000700000000000000" pitchFamily="2" charset="0"/>
                <a:ea typeface="Times New Roman" panose="02020603050405020304" pitchFamily="18" charset="0"/>
                <a:cs typeface="Arial"/>
              </a:rPr>
              <a:t>Synergent Email Marketing Platform</a:t>
            </a:r>
          </a:p>
          <a:p>
            <a:pPr marR="182880">
              <a:lnSpc>
                <a:spcPct val="115000"/>
              </a:lnSpc>
              <a:spcAft>
                <a:spcPts val="1000"/>
              </a:spcAft>
            </a:pPr>
            <a:r>
              <a:rPr lang="en-US" sz="1050" dirty="0">
                <a:latin typeface="Montserrat" panose="00000500000000000000" pitchFamily="50" charset="0"/>
                <a:ea typeface="Times New Roman" panose="02020603050405020304" pitchFamily="18" charset="0"/>
                <a:cs typeface="Arial"/>
              </a:rPr>
              <a:t>Email marketing should be straightforward, offering a complete end-to-end solution. Synergent Marketing Services takes a consultative approach, turning your ideas into effective strategies. We handle everything on your behalf - from strategizing, segmenting, and personalizing your campaigns to scheduling, sending, tracking, and providing detailed report metrics. Our goal is to ensure your message resonates with your members while ensuring full compliance with CAN-SPAM regulations.</a:t>
            </a:r>
          </a:p>
          <a:p>
            <a:pPr marR="182880">
              <a:lnSpc>
                <a:spcPct val="115000"/>
              </a:lnSpc>
              <a:spcAft>
                <a:spcPts val="1000"/>
              </a:spcAft>
            </a:pPr>
            <a:r>
              <a:rPr lang="en-US" sz="1050" dirty="0">
                <a:latin typeface="Montserrat" panose="00000500000000000000" pitchFamily="50" charset="0"/>
                <a:ea typeface="Times New Roman" panose="02020603050405020304" pitchFamily="18" charset="0"/>
                <a:cs typeface="Arial"/>
              </a:rPr>
              <a:t>We create custom-designed templates that align with your unique marketing standards and brand identity, all within a cohesive and comprehensive environment. With extensive knowledge of the Credit Union industry, our team crafts compelling and impactful campaigns that fully leverage the email channel’s potential.</a:t>
            </a:r>
          </a:p>
          <a:p>
            <a:pPr marR="182880">
              <a:lnSpc>
                <a:spcPct val="115000"/>
              </a:lnSpc>
              <a:spcAft>
                <a:spcPts val="1000"/>
              </a:spcAft>
            </a:pPr>
            <a:r>
              <a:rPr lang="en-US" sz="1050" dirty="0">
                <a:latin typeface="Montserrat" panose="00000500000000000000" pitchFamily="50" charset="0"/>
                <a:ea typeface="Times New Roman" panose="02020603050405020304" pitchFamily="18" charset="0"/>
                <a:cs typeface="Arial"/>
              </a:rPr>
              <a:t>This Email Marketing Platform is superior to other web-based tools, which often lack the support needed, leaving users to manage all aspects of creative development, campaign management, and analytical reporting on their own. Synergent Marketing Services provides all these essential email marketing solutions in a simple, turnkey product that is both comprehensive and affordable, offering a best-in-class solution.</a:t>
            </a:r>
            <a:endParaRPr lang="en-US" sz="1050" dirty="0">
              <a:latin typeface="Montserrat" panose="00000500000000000000" pitchFamily="50" charset="0"/>
              <a:cs typeface="Arial"/>
            </a:endParaRPr>
          </a:p>
        </p:txBody>
      </p:sp>
      <p:sp>
        <p:nvSpPr>
          <p:cNvPr id="9" name="TextBox 8">
            <a:extLst>
              <a:ext uri="{FF2B5EF4-FFF2-40B4-BE49-F238E27FC236}">
                <a16:creationId xmlns:a16="http://schemas.microsoft.com/office/drawing/2014/main" id="{9ADA0A4A-19E5-5A60-8405-6E6F8CD65580}"/>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2</a:t>
            </a:r>
          </a:p>
        </p:txBody>
      </p:sp>
    </p:spTree>
    <p:extLst>
      <p:ext uri="{BB962C8B-B14F-4D97-AF65-F5344CB8AC3E}">
        <p14:creationId xmlns:p14="http://schemas.microsoft.com/office/powerpoint/2010/main" val="40689154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47D645-5AB5-089C-30B9-12FD49993365}"/>
            </a:ext>
          </a:extLst>
        </p:cNvPr>
        <p:cNvGrpSpPr/>
        <p:nvPr/>
      </p:nvGrpSpPr>
      <p:grpSpPr>
        <a:xfrm>
          <a:off x="0" y="0"/>
          <a:ext cx="0" cy="0"/>
          <a:chOff x="0" y="0"/>
          <a:chExt cx="0" cy="0"/>
        </a:xfrm>
      </p:grpSpPr>
      <p:cxnSp>
        <p:nvCxnSpPr>
          <p:cNvPr id="2" name="Straight Connector 1">
            <a:extLst>
              <a:ext uri="{FF2B5EF4-FFF2-40B4-BE49-F238E27FC236}">
                <a16:creationId xmlns:a16="http://schemas.microsoft.com/office/drawing/2014/main" id="{92FFBA6C-770B-4654-FF2F-A0AD4BF7F011}"/>
              </a:ext>
            </a:extLst>
          </p:cNvPr>
          <p:cNvCxnSpPr>
            <a:cxnSpLocks/>
          </p:cNvCxnSpPr>
          <p:nvPr/>
        </p:nvCxnSpPr>
        <p:spPr>
          <a:xfrm flipH="1">
            <a:off x="458724" y="1088130"/>
            <a:ext cx="10968684" cy="0"/>
          </a:xfrm>
          <a:prstGeom prst="line">
            <a:avLst/>
          </a:prstGeom>
          <a:ln w="19050">
            <a:solidFill>
              <a:srgbClr val="76BD64"/>
            </a:solidFill>
          </a:ln>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757E90D0-4C7A-EE75-AB6A-0B22AD89532C}"/>
              </a:ext>
            </a:extLst>
          </p:cNvPr>
          <p:cNvSpPr txBox="1"/>
          <p:nvPr/>
        </p:nvSpPr>
        <p:spPr>
          <a:xfrm>
            <a:off x="416611" y="1187484"/>
            <a:ext cx="10968684" cy="938719"/>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Driving Member Engagement. </a:t>
            </a:r>
            <a:r>
              <a:rPr lang="en-US" sz="1400" dirty="0">
                <a:solidFill>
                  <a:srgbClr val="3C8394"/>
                </a:solidFill>
                <a:latin typeface="Montserrat SemiBold" panose="00000700000000000000" pitchFamily="2" charset="0"/>
              </a:rPr>
              <a:t>Delivering Results.</a:t>
            </a:r>
          </a:p>
          <a:p>
            <a:pPr>
              <a:spcAft>
                <a:spcPts val="1200"/>
              </a:spcAft>
            </a:pPr>
            <a:r>
              <a:rPr lang="en-US" sz="900" dirty="0">
                <a:latin typeface="Montserrat SemiBold" panose="00000700000000000000" pitchFamily="2" charset="0"/>
              </a:rPr>
              <a:t>Our Email Marketing Platform helps you build stronger member relationships through the right message, at the right time.</a:t>
            </a:r>
            <a:endParaRPr lang="en-US" sz="900" dirty="0">
              <a:latin typeface="Montserrat" panose="00000500000000000000" pitchFamily="2" charset="0"/>
            </a:endParaRPr>
          </a:p>
          <a:p>
            <a:pPr marL="628650" lvl="1" indent="-171450">
              <a:buFont typeface="Arial" panose="020B0604020202020204" pitchFamily="34" charset="0"/>
              <a:buChar char="•"/>
            </a:pPr>
            <a:endParaRPr lang="en-US" sz="1200" dirty="0">
              <a:latin typeface="Montserrat SemiBold" panose="00000700000000000000" pitchFamily="2" charset="0"/>
            </a:endParaRPr>
          </a:p>
        </p:txBody>
      </p:sp>
      <p:sp>
        <p:nvSpPr>
          <p:cNvPr id="8" name="Rectangle: Rounded Corners 7">
            <a:extLst>
              <a:ext uri="{FF2B5EF4-FFF2-40B4-BE49-F238E27FC236}">
                <a16:creationId xmlns:a16="http://schemas.microsoft.com/office/drawing/2014/main" id="{8179ACAA-0981-7FDA-6324-CF059AB0A045}"/>
              </a:ext>
            </a:extLst>
          </p:cNvPr>
          <p:cNvSpPr/>
          <p:nvPr/>
        </p:nvSpPr>
        <p:spPr>
          <a:xfrm>
            <a:off x="589547" y="2045368"/>
            <a:ext cx="2568742" cy="1756611"/>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Rounded Corners 9">
            <a:extLst>
              <a:ext uri="{FF2B5EF4-FFF2-40B4-BE49-F238E27FC236}">
                <a16:creationId xmlns:a16="http://schemas.microsoft.com/office/drawing/2014/main" id="{2CF688AA-B801-239C-DE99-B41150FE3E3C}"/>
              </a:ext>
            </a:extLst>
          </p:cNvPr>
          <p:cNvSpPr/>
          <p:nvPr/>
        </p:nvSpPr>
        <p:spPr>
          <a:xfrm>
            <a:off x="3212079" y="2045367"/>
            <a:ext cx="2568742" cy="1756611"/>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Rounded Corners 10">
            <a:extLst>
              <a:ext uri="{FF2B5EF4-FFF2-40B4-BE49-F238E27FC236}">
                <a16:creationId xmlns:a16="http://schemas.microsoft.com/office/drawing/2014/main" id="{1ED4360B-55AB-5434-80EF-3B6BF801B66F}"/>
              </a:ext>
            </a:extLst>
          </p:cNvPr>
          <p:cNvSpPr/>
          <p:nvPr/>
        </p:nvSpPr>
        <p:spPr>
          <a:xfrm>
            <a:off x="5834615" y="2045366"/>
            <a:ext cx="2568742" cy="1756611"/>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Rounded Corners 11">
            <a:extLst>
              <a:ext uri="{FF2B5EF4-FFF2-40B4-BE49-F238E27FC236}">
                <a16:creationId xmlns:a16="http://schemas.microsoft.com/office/drawing/2014/main" id="{D40A7C14-1C27-344D-5EA9-227E82227F1C}"/>
              </a:ext>
            </a:extLst>
          </p:cNvPr>
          <p:cNvSpPr/>
          <p:nvPr/>
        </p:nvSpPr>
        <p:spPr>
          <a:xfrm>
            <a:off x="8457155" y="2045365"/>
            <a:ext cx="2568742" cy="1756611"/>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Rounded Corners 12">
            <a:extLst>
              <a:ext uri="{FF2B5EF4-FFF2-40B4-BE49-F238E27FC236}">
                <a16:creationId xmlns:a16="http://schemas.microsoft.com/office/drawing/2014/main" id="{0F39EBAE-0D6C-9ED7-A457-C4359F686367}"/>
              </a:ext>
            </a:extLst>
          </p:cNvPr>
          <p:cNvSpPr/>
          <p:nvPr/>
        </p:nvSpPr>
        <p:spPr>
          <a:xfrm>
            <a:off x="589547" y="3867855"/>
            <a:ext cx="2568742" cy="1756611"/>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Rounded Corners 13">
            <a:extLst>
              <a:ext uri="{FF2B5EF4-FFF2-40B4-BE49-F238E27FC236}">
                <a16:creationId xmlns:a16="http://schemas.microsoft.com/office/drawing/2014/main" id="{8FAB7406-B474-4DCC-BF80-000B632FE672}"/>
              </a:ext>
            </a:extLst>
          </p:cNvPr>
          <p:cNvSpPr/>
          <p:nvPr/>
        </p:nvSpPr>
        <p:spPr>
          <a:xfrm>
            <a:off x="3212079" y="3867854"/>
            <a:ext cx="2568742" cy="1756611"/>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Rounded Corners 14">
            <a:extLst>
              <a:ext uri="{FF2B5EF4-FFF2-40B4-BE49-F238E27FC236}">
                <a16:creationId xmlns:a16="http://schemas.microsoft.com/office/drawing/2014/main" id="{A38EE720-3B89-A7F5-32F0-85A067B1B5E1}"/>
              </a:ext>
            </a:extLst>
          </p:cNvPr>
          <p:cNvSpPr/>
          <p:nvPr/>
        </p:nvSpPr>
        <p:spPr>
          <a:xfrm>
            <a:off x="5834615" y="3867853"/>
            <a:ext cx="2568742" cy="1756611"/>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Rounded Corners 15">
            <a:extLst>
              <a:ext uri="{FF2B5EF4-FFF2-40B4-BE49-F238E27FC236}">
                <a16:creationId xmlns:a16="http://schemas.microsoft.com/office/drawing/2014/main" id="{8CDDB0FD-1904-DDA2-F244-E78F5B396F86}"/>
              </a:ext>
            </a:extLst>
          </p:cNvPr>
          <p:cNvSpPr/>
          <p:nvPr/>
        </p:nvSpPr>
        <p:spPr>
          <a:xfrm>
            <a:off x="8457155" y="3867852"/>
            <a:ext cx="2568742" cy="1756611"/>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0" name="Graphic 19" descr="Chat with solid fill">
            <a:extLst>
              <a:ext uri="{FF2B5EF4-FFF2-40B4-BE49-F238E27FC236}">
                <a16:creationId xmlns:a16="http://schemas.microsoft.com/office/drawing/2014/main" id="{07891C1D-A2C1-4D1A-79E9-34B72747F70A}"/>
              </a:ext>
            </a:extLst>
          </p:cNvPr>
          <p:cNvPicPr>
            <a:picLocks noChangeAspect="1"/>
          </p:cNvPicPr>
          <p:nvPr/>
        </p:nvPicPr>
        <p:blipFill>
          <a:blip>
            <a:extLst>
              <a:ext uri="{96DAC541-7B7A-43D3-8B79-37D633B846F1}">
                <asvg:svgBlip xmlns:asvg="http://schemas.microsoft.com/office/drawing/2016/SVG/main" r:embed="rId2"/>
              </a:ext>
            </a:extLst>
          </a:blip>
          <a:srcRect/>
          <a:stretch/>
        </p:blipFill>
        <p:spPr>
          <a:xfrm>
            <a:off x="1464984" y="2203510"/>
            <a:ext cx="780577" cy="780577"/>
          </a:xfrm>
          <a:prstGeom prst="rect">
            <a:avLst/>
          </a:prstGeom>
        </p:spPr>
      </p:pic>
      <p:sp>
        <p:nvSpPr>
          <p:cNvPr id="21" name="TextBox 20">
            <a:extLst>
              <a:ext uri="{FF2B5EF4-FFF2-40B4-BE49-F238E27FC236}">
                <a16:creationId xmlns:a16="http://schemas.microsoft.com/office/drawing/2014/main" id="{E97829D7-204A-EF1D-36BF-EA3161C255EF}"/>
              </a:ext>
            </a:extLst>
          </p:cNvPr>
          <p:cNvSpPr txBox="1"/>
          <p:nvPr/>
        </p:nvSpPr>
        <p:spPr>
          <a:xfrm>
            <a:off x="589551" y="2860976"/>
            <a:ext cx="2568734" cy="246221"/>
          </a:xfrm>
          <a:prstGeom prst="rect">
            <a:avLst/>
          </a:prstGeom>
          <a:noFill/>
        </p:spPr>
        <p:txBody>
          <a:bodyPr wrap="square" rtlCol="0">
            <a:spAutoFit/>
          </a:bodyPr>
          <a:lstStyle/>
          <a:p>
            <a:pPr algn="ctr">
              <a:spcAft>
                <a:spcPts val="1200"/>
              </a:spcAft>
            </a:pPr>
            <a:r>
              <a:rPr lang="en-US" sz="1000" dirty="0">
                <a:solidFill>
                  <a:srgbClr val="2F6673"/>
                </a:solidFill>
                <a:latin typeface="Montserrat SemiBold" panose="00000700000000000000" pitchFamily="2" charset="0"/>
              </a:rPr>
              <a:t>Increase Engagement</a:t>
            </a:r>
            <a:endParaRPr lang="en-US" sz="1000" dirty="0">
              <a:solidFill>
                <a:srgbClr val="2F6673"/>
              </a:solidFill>
              <a:latin typeface="Montserrat" panose="00000500000000000000" pitchFamily="2" charset="0"/>
            </a:endParaRPr>
          </a:p>
        </p:txBody>
      </p:sp>
      <p:sp>
        <p:nvSpPr>
          <p:cNvPr id="22" name="TextBox 21">
            <a:extLst>
              <a:ext uri="{FF2B5EF4-FFF2-40B4-BE49-F238E27FC236}">
                <a16:creationId xmlns:a16="http://schemas.microsoft.com/office/drawing/2014/main" id="{8B69747E-4100-9AE0-1632-D9084D7F5F3F}"/>
              </a:ext>
            </a:extLst>
          </p:cNvPr>
          <p:cNvSpPr txBox="1"/>
          <p:nvPr/>
        </p:nvSpPr>
        <p:spPr>
          <a:xfrm>
            <a:off x="583782" y="3146897"/>
            <a:ext cx="2568734" cy="338554"/>
          </a:xfrm>
          <a:prstGeom prst="rect">
            <a:avLst/>
          </a:prstGeom>
          <a:noFill/>
        </p:spPr>
        <p:txBody>
          <a:bodyPr wrap="square" rtlCol="0">
            <a:spAutoFit/>
          </a:bodyPr>
          <a:lstStyle/>
          <a:p>
            <a:pPr algn="ctr">
              <a:spcAft>
                <a:spcPts val="1200"/>
              </a:spcAft>
            </a:pPr>
            <a:r>
              <a:rPr lang="en-US" sz="800" dirty="0">
                <a:latin typeface="Montserrat SemiBold" panose="00000700000000000000" pitchFamily="2" charset="0"/>
              </a:rPr>
              <a:t>Reach the right members with personalized, timely messaging.</a:t>
            </a:r>
            <a:endParaRPr lang="en-US" sz="800" dirty="0">
              <a:latin typeface="Montserrat" panose="00000500000000000000" pitchFamily="2" charset="0"/>
            </a:endParaRPr>
          </a:p>
        </p:txBody>
      </p:sp>
      <p:pic>
        <p:nvPicPr>
          <p:cNvPr id="24" name="Graphic 23" descr="Business Growth with solid fill">
            <a:extLst>
              <a:ext uri="{FF2B5EF4-FFF2-40B4-BE49-F238E27FC236}">
                <a16:creationId xmlns:a16="http://schemas.microsoft.com/office/drawing/2014/main" id="{6F394406-290A-4C73-56A8-F249DE717CC9}"/>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4129834" y="2208178"/>
            <a:ext cx="687352" cy="687352"/>
          </a:xfrm>
          <a:prstGeom prst="rect">
            <a:avLst/>
          </a:prstGeom>
        </p:spPr>
      </p:pic>
      <p:sp>
        <p:nvSpPr>
          <p:cNvPr id="25" name="TextBox 24">
            <a:extLst>
              <a:ext uri="{FF2B5EF4-FFF2-40B4-BE49-F238E27FC236}">
                <a16:creationId xmlns:a16="http://schemas.microsoft.com/office/drawing/2014/main" id="{C302476A-7EA6-E53C-3036-E9600323EA1E}"/>
              </a:ext>
            </a:extLst>
          </p:cNvPr>
          <p:cNvSpPr txBox="1"/>
          <p:nvPr/>
        </p:nvSpPr>
        <p:spPr>
          <a:xfrm>
            <a:off x="3209196" y="2860976"/>
            <a:ext cx="2568734" cy="246221"/>
          </a:xfrm>
          <a:prstGeom prst="rect">
            <a:avLst/>
          </a:prstGeom>
          <a:noFill/>
        </p:spPr>
        <p:txBody>
          <a:bodyPr wrap="square" rtlCol="0">
            <a:spAutoFit/>
          </a:bodyPr>
          <a:lstStyle/>
          <a:p>
            <a:pPr algn="ctr">
              <a:spcAft>
                <a:spcPts val="1200"/>
              </a:spcAft>
            </a:pPr>
            <a:r>
              <a:rPr lang="en-US" sz="1000" dirty="0">
                <a:solidFill>
                  <a:srgbClr val="002060"/>
                </a:solidFill>
                <a:latin typeface="Montserrat SemiBold" panose="00000700000000000000" pitchFamily="2" charset="0"/>
              </a:rPr>
              <a:t>Drive Growth</a:t>
            </a:r>
            <a:endParaRPr lang="en-US" sz="1000" dirty="0">
              <a:solidFill>
                <a:srgbClr val="002060"/>
              </a:solidFill>
              <a:latin typeface="Montserrat" panose="00000500000000000000" pitchFamily="2" charset="0"/>
            </a:endParaRPr>
          </a:p>
        </p:txBody>
      </p:sp>
      <p:sp>
        <p:nvSpPr>
          <p:cNvPr id="26" name="TextBox 25">
            <a:extLst>
              <a:ext uri="{FF2B5EF4-FFF2-40B4-BE49-F238E27FC236}">
                <a16:creationId xmlns:a16="http://schemas.microsoft.com/office/drawing/2014/main" id="{6A7D1D4E-F645-3231-6853-A3026F64AFC7}"/>
              </a:ext>
            </a:extLst>
          </p:cNvPr>
          <p:cNvSpPr txBox="1"/>
          <p:nvPr/>
        </p:nvSpPr>
        <p:spPr>
          <a:xfrm>
            <a:off x="3203427" y="3146897"/>
            <a:ext cx="2568734" cy="338554"/>
          </a:xfrm>
          <a:prstGeom prst="rect">
            <a:avLst/>
          </a:prstGeom>
          <a:noFill/>
        </p:spPr>
        <p:txBody>
          <a:bodyPr wrap="square" rtlCol="0">
            <a:spAutoFit/>
          </a:bodyPr>
          <a:lstStyle/>
          <a:p>
            <a:pPr algn="ctr">
              <a:spcAft>
                <a:spcPts val="1200"/>
              </a:spcAft>
            </a:pPr>
            <a:r>
              <a:rPr lang="en-US" sz="800" dirty="0">
                <a:latin typeface="Montserrat SemiBold" panose="00000700000000000000" pitchFamily="2" charset="0"/>
              </a:rPr>
              <a:t>Promote key products and services that support your goals.</a:t>
            </a:r>
            <a:endParaRPr lang="en-US" sz="800" dirty="0">
              <a:latin typeface="Montserrat" panose="00000500000000000000" pitchFamily="2" charset="0"/>
            </a:endParaRPr>
          </a:p>
        </p:txBody>
      </p:sp>
      <p:sp>
        <p:nvSpPr>
          <p:cNvPr id="27" name="TextBox 26">
            <a:extLst>
              <a:ext uri="{FF2B5EF4-FFF2-40B4-BE49-F238E27FC236}">
                <a16:creationId xmlns:a16="http://schemas.microsoft.com/office/drawing/2014/main" id="{881DD6DD-5759-708F-79E2-7C3E3F76D619}"/>
              </a:ext>
            </a:extLst>
          </p:cNvPr>
          <p:cNvSpPr txBox="1"/>
          <p:nvPr/>
        </p:nvSpPr>
        <p:spPr>
          <a:xfrm>
            <a:off x="5823068" y="2860976"/>
            <a:ext cx="2568734" cy="246221"/>
          </a:xfrm>
          <a:prstGeom prst="rect">
            <a:avLst/>
          </a:prstGeom>
          <a:noFill/>
        </p:spPr>
        <p:txBody>
          <a:bodyPr wrap="square" rtlCol="0">
            <a:spAutoFit/>
          </a:bodyPr>
          <a:lstStyle/>
          <a:p>
            <a:pPr algn="ctr">
              <a:spcAft>
                <a:spcPts val="1200"/>
              </a:spcAft>
            </a:pPr>
            <a:r>
              <a:rPr lang="en-US" sz="1000" dirty="0">
                <a:solidFill>
                  <a:srgbClr val="76BD22"/>
                </a:solidFill>
                <a:latin typeface="Montserrat SemiBold" panose="00000700000000000000" pitchFamily="2" charset="0"/>
              </a:rPr>
              <a:t>Automate Workflows</a:t>
            </a:r>
            <a:endParaRPr lang="en-US" sz="1000" dirty="0">
              <a:solidFill>
                <a:srgbClr val="76BD22"/>
              </a:solidFill>
              <a:latin typeface="Montserrat" panose="00000500000000000000" pitchFamily="2" charset="0"/>
            </a:endParaRPr>
          </a:p>
        </p:txBody>
      </p:sp>
      <p:sp>
        <p:nvSpPr>
          <p:cNvPr id="28" name="TextBox 27">
            <a:extLst>
              <a:ext uri="{FF2B5EF4-FFF2-40B4-BE49-F238E27FC236}">
                <a16:creationId xmlns:a16="http://schemas.microsoft.com/office/drawing/2014/main" id="{538C113E-4C9B-2CB2-0FE9-FF330BC6D601}"/>
              </a:ext>
            </a:extLst>
          </p:cNvPr>
          <p:cNvSpPr txBox="1"/>
          <p:nvPr/>
        </p:nvSpPr>
        <p:spPr>
          <a:xfrm>
            <a:off x="5817299" y="3146897"/>
            <a:ext cx="2568734" cy="338554"/>
          </a:xfrm>
          <a:prstGeom prst="rect">
            <a:avLst/>
          </a:prstGeom>
          <a:noFill/>
        </p:spPr>
        <p:txBody>
          <a:bodyPr wrap="square" rtlCol="0">
            <a:spAutoFit/>
          </a:bodyPr>
          <a:lstStyle/>
          <a:p>
            <a:pPr algn="ctr">
              <a:spcAft>
                <a:spcPts val="1200"/>
              </a:spcAft>
            </a:pPr>
            <a:r>
              <a:rPr lang="en-US" sz="800" dirty="0">
                <a:latin typeface="Montserrat SemiBold" panose="00000700000000000000" pitchFamily="2" charset="0"/>
              </a:rPr>
              <a:t>Automate campaigns and reduce manual marketing work.</a:t>
            </a:r>
            <a:endParaRPr lang="en-US" sz="800" dirty="0">
              <a:latin typeface="Montserrat" panose="00000500000000000000" pitchFamily="2" charset="0"/>
            </a:endParaRPr>
          </a:p>
        </p:txBody>
      </p:sp>
      <p:pic>
        <p:nvPicPr>
          <p:cNvPr id="29" name="Graphic 28" descr="Gears with solid fill">
            <a:extLst>
              <a:ext uri="{FF2B5EF4-FFF2-40B4-BE49-F238E27FC236}">
                <a16:creationId xmlns:a16="http://schemas.microsoft.com/office/drawing/2014/main" id="{A1887BC3-2F91-8C6B-4CBD-4ED9CC5D820E}"/>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6695685" y="2208178"/>
            <a:ext cx="687352" cy="687352"/>
          </a:xfrm>
          <a:prstGeom prst="rect">
            <a:avLst/>
          </a:prstGeom>
        </p:spPr>
      </p:pic>
      <p:sp>
        <p:nvSpPr>
          <p:cNvPr id="30" name="TextBox 29">
            <a:extLst>
              <a:ext uri="{FF2B5EF4-FFF2-40B4-BE49-F238E27FC236}">
                <a16:creationId xmlns:a16="http://schemas.microsoft.com/office/drawing/2014/main" id="{39D3E452-F402-A80C-CE0E-D6F851AE3067}"/>
              </a:ext>
            </a:extLst>
          </p:cNvPr>
          <p:cNvSpPr txBox="1"/>
          <p:nvPr/>
        </p:nvSpPr>
        <p:spPr>
          <a:xfrm>
            <a:off x="8457163" y="2862925"/>
            <a:ext cx="2568734" cy="246221"/>
          </a:xfrm>
          <a:prstGeom prst="rect">
            <a:avLst/>
          </a:prstGeom>
          <a:noFill/>
        </p:spPr>
        <p:txBody>
          <a:bodyPr wrap="square" rtlCol="0">
            <a:spAutoFit/>
          </a:bodyPr>
          <a:lstStyle/>
          <a:p>
            <a:pPr algn="ctr">
              <a:spcAft>
                <a:spcPts val="1200"/>
              </a:spcAft>
            </a:pPr>
            <a:r>
              <a:rPr lang="en-US" sz="1000" dirty="0">
                <a:solidFill>
                  <a:srgbClr val="2F6673"/>
                </a:solidFill>
                <a:latin typeface="Montserrat SemiBold" panose="00000700000000000000" pitchFamily="2" charset="0"/>
              </a:rPr>
              <a:t>Measure What Matters</a:t>
            </a:r>
            <a:endParaRPr lang="en-US" sz="1000" dirty="0">
              <a:solidFill>
                <a:srgbClr val="2F6673"/>
              </a:solidFill>
              <a:latin typeface="Montserrat" panose="00000500000000000000" pitchFamily="2" charset="0"/>
            </a:endParaRPr>
          </a:p>
        </p:txBody>
      </p:sp>
      <p:sp>
        <p:nvSpPr>
          <p:cNvPr id="31" name="TextBox 30">
            <a:extLst>
              <a:ext uri="{FF2B5EF4-FFF2-40B4-BE49-F238E27FC236}">
                <a16:creationId xmlns:a16="http://schemas.microsoft.com/office/drawing/2014/main" id="{AAB59A8A-4784-2385-649A-D6A5F3DD32FE}"/>
              </a:ext>
            </a:extLst>
          </p:cNvPr>
          <p:cNvSpPr txBox="1"/>
          <p:nvPr/>
        </p:nvSpPr>
        <p:spPr>
          <a:xfrm>
            <a:off x="8451394" y="3148846"/>
            <a:ext cx="2568734" cy="338554"/>
          </a:xfrm>
          <a:prstGeom prst="rect">
            <a:avLst/>
          </a:prstGeom>
          <a:noFill/>
        </p:spPr>
        <p:txBody>
          <a:bodyPr wrap="square" rtlCol="0">
            <a:spAutoFit/>
          </a:bodyPr>
          <a:lstStyle/>
          <a:p>
            <a:pPr algn="ctr">
              <a:spcAft>
                <a:spcPts val="1200"/>
              </a:spcAft>
            </a:pPr>
            <a:r>
              <a:rPr lang="en-US" sz="800" dirty="0">
                <a:latin typeface="Montserrat SemiBold" panose="00000700000000000000" pitchFamily="2" charset="0"/>
              </a:rPr>
              <a:t>Gain actionable insights with robust reporting and analytics.</a:t>
            </a:r>
            <a:endParaRPr lang="en-US" sz="800" dirty="0">
              <a:latin typeface="Montserrat" panose="00000500000000000000" pitchFamily="2" charset="0"/>
            </a:endParaRPr>
          </a:p>
        </p:txBody>
      </p:sp>
      <p:pic>
        <p:nvPicPr>
          <p:cNvPr id="32" name="Graphic 31" descr="Pie chart with solid fill">
            <a:extLst>
              <a:ext uri="{FF2B5EF4-FFF2-40B4-BE49-F238E27FC236}">
                <a16:creationId xmlns:a16="http://schemas.microsoft.com/office/drawing/2014/main" id="{1F026B2C-2996-DF93-C4D6-ED8B624C8C60}"/>
              </a:ext>
            </a:extLst>
          </p:cNvPr>
          <p:cNvPicPr>
            <a:picLocks noChangeAspect="1"/>
          </p:cNvPicPr>
          <p:nvPr/>
        </p:nvPicPr>
        <p:blipFill>
          <a:blip>
            <a:extLst>
              <a:ext uri="{96DAC541-7B7A-43D3-8B79-37D633B846F1}">
                <asvg:svgBlip xmlns:asvg="http://schemas.microsoft.com/office/drawing/2016/SVG/main" r:embed="rId5"/>
              </a:ext>
            </a:extLst>
          </a:blip>
          <a:srcRect/>
          <a:stretch/>
        </p:blipFill>
        <p:spPr>
          <a:xfrm>
            <a:off x="9329780" y="2210127"/>
            <a:ext cx="687352" cy="687352"/>
          </a:xfrm>
          <a:prstGeom prst="rect">
            <a:avLst/>
          </a:prstGeom>
        </p:spPr>
      </p:pic>
      <p:sp>
        <p:nvSpPr>
          <p:cNvPr id="33" name="TextBox 32">
            <a:extLst>
              <a:ext uri="{FF2B5EF4-FFF2-40B4-BE49-F238E27FC236}">
                <a16:creationId xmlns:a16="http://schemas.microsoft.com/office/drawing/2014/main" id="{B9DA5626-8CF5-54BC-DD71-75C4828E6BE9}"/>
              </a:ext>
            </a:extLst>
          </p:cNvPr>
          <p:cNvSpPr txBox="1"/>
          <p:nvPr/>
        </p:nvSpPr>
        <p:spPr>
          <a:xfrm>
            <a:off x="589551" y="4641523"/>
            <a:ext cx="2568734" cy="246221"/>
          </a:xfrm>
          <a:prstGeom prst="rect">
            <a:avLst/>
          </a:prstGeom>
          <a:noFill/>
        </p:spPr>
        <p:txBody>
          <a:bodyPr wrap="square" rtlCol="0">
            <a:spAutoFit/>
          </a:bodyPr>
          <a:lstStyle/>
          <a:p>
            <a:pPr algn="ctr">
              <a:spcAft>
                <a:spcPts val="1200"/>
              </a:spcAft>
            </a:pPr>
            <a:r>
              <a:rPr lang="en-US" sz="1000" dirty="0">
                <a:solidFill>
                  <a:srgbClr val="002060"/>
                </a:solidFill>
                <a:latin typeface="Montserrat SemiBold" panose="00000700000000000000" pitchFamily="2" charset="0"/>
              </a:rPr>
              <a:t>Ensure Compliance</a:t>
            </a:r>
            <a:endParaRPr lang="en-US" sz="1000" dirty="0">
              <a:solidFill>
                <a:srgbClr val="002060"/>
              </a:solidFill>
              <a:latin typeface="Montserrat" panose="00000500000000000000" pitchFamily="2" charset="0"/>
            </a:endParaRPr>
          </a:p>
        </p:txBody>
      </p:sp>
      <p:sp>
        <p:nvSpPr>
          <p:cNvPr id="34" name="TextBox 33">
            <a:extLst>
              <a:ext uri="{FF2B5EF4-FFF2-40B4-BE49-F238E27FC236}">
                <a16:creationId xmlns:a16="http://schemas.microsoft.com/office/drawing/2014/main" id="{0D026EBC-8DBF-25E9-D1B5-B7995F1E0DAF}"/>
              </a:ext>
            </a:extLst>
          </p:cNvPr>
          <p:cNvSpPr txBox="1"/>
          <p:nvPr/>
        </p:nvSpPr>
        <p:spPr>
          <a:xfrm>
            <a:off x="583782" y="4927444"/>
            <a:ext cx="2568734" cy="338554"/>
          </a:xfrm>
          <a:prstGeom prst="rect">
            <a:avLst/>
          </a:prstGeom>
          <a:noFill/>
        </p:spPr>
        <p:txBody>
          <a:bodyPr wrap="square" rtlCol="0">
            <a:spAutoFit/>
          </a:bodyPr>
          <a:lstStyle/>
          <a:p>
            <a:pPr algn="ctr">
              <a:spcAft>
                <a:spcPts val="1200"/>
              </a:spcAft>
            </a:pPr>
            <a:r>
              <a:rPr lang="en-US" sz="800" dirty="0">
                <a:latin typeface="Montserrat SemiBold" panose="00000700000000000000" pitchFamily="2" charset="0"/>
              </a:rPr>
              <a:t>We manage CAN-SPAM compliance so you can send with confidence.</a:t>
            </a:r>
            <a:endParaRPr lang="en-US" sz="800" dirty="0">
              <a:latin typeface="Montserrat" panose="00000500000000000000" pitchFamily="2" charset="0"/>
            </a:endParaRPr>
          </a:p>
        </p:txBody>
      </p:sp>
      <p:pic>
        <p:nvPicPr>
          <p:cNvPr id="35" name="Graphic 34" descr="Shield Tick with solid fill">
            <a:extLst>
              <a:ext uri="{FF2B5EF4-FFF2-40B4-BE49-F238E27FC236}">
                <a16:creationId xmlns:a16="http://schemas.microsoft.com/office/drawing/2014/main" id="{B977F795-AD9D-7D80-1EF1-191AE8272E5E}"/>
              </a:ext>
            </a:extLst>
          </p:cNvPr>
          <p:cNvPicPr>
            <a:picLocks noChangeAspect="1"/>
          </p:cNvPicPr>
          <p:nvPr/>
        </p:nvPicPr>
        <p:blipFill>
          <a:blip>
            <a:extLst>
              <a:ext uri="{96DAC541-7B7A-43D3-8B79-37D633B846F1}">
                <asvg:svgBlip xmlns:asvg="http://schemas.microsoft.com/office/drawing/2016/SVG/main" r:embed="rId6"/>
              </a:ext>
            </a:extLst>
          </a:blip>
          <a:srcRect/>
          <a:stretch/>
        </p:blipFill>
        <p:spPr>
          <a:xfrm>
            <a:off x="1462168" y="3988725"/>
            <a:ext cx="687352" cy="687352"/>
          </a:xfrm>
          <a:prstGeom prst="rect">
            <a:avLst/>
          </a:prstGeom>
        </p:spPr>
      </p:pic>
      <p:sp>
        <p:nvSpPr>
          <p:cNvPr id="36" name="TextBox 35">
            <a:extLst>
              <a:ext uri="{FF2B5EF4-FFF2-40B4-BE49-F238E27FC236}">
                <a16:creationId xmlns:a16="http://schemas.microsoft.com/office/drawing/2014/main" id="{5A53A60D-63A6-E247-037A-570F3EB99984}"/>
              </a:ext>
            </a:extLst>
          </p:cNvPr>
          <p:cNvSpPr txBox="1"/>
          <p:nvPr/>
        </p:nvSpPr>
        <p:spPr>
          <a:xfrm>
            <a:off x="3203427" y="4641523"/>
            <a:ext cx="2568734" cy="246221"/>
          </a:xfrm>
          <a:prstGeom prst="rect">
            <a:avLst/>
          </a:prstGeom>
          <a:noFill/>
        </p:spPr>
        <p:txBody>
          <a:bodyPr wrap="square" rtlCol="0">
            <a:spAutoFit/>
          </a:bodyPr>
          <a:lstStyle/>
          <a:p>
            <a:pPr algn="ctr">
              <a:spcAft>
                <a:spcPts val="1200"/>
              </a:spcAft>
            </a:pPr>
            <a:r>
              <a:rPr lang="en-US" sz="1000" dirty="0">
                <a:solidFill>
                  <a:srgbClr val="76BD22"/>
                </a:solidFill>
                <a:latin typeface="Montserrat SemiBold" panose="00000700000000000000" pitchFamily="2" charset="0"/>
              </a:rPr>
              <a:t>Leverage Your Data</a:t>
            </a:r>
            <a:endParaRPr lang="en-US" sz="1000" dirty="0">
              <a:solidFill>
                <a:srgbClr val="76BD22"/>
              </a:solidFill>
              <a:latin typeface="Montserrat" panose="00000500000000000000" pitchFamily="2" charset="0"/>
            </a:endParaRPr>
          </a:p>
        </p:txBody>
      </p:sp>
      <p:sp>
        <p:nvSpPr>
          <p:cNvPr id="37" name="TextBox 36">
            <a:extLst>
              <a:ext uri="{FF2B5EF4-FFF2-40B4-BE49-F238E27FC236}">
                <a16:creationId xmlns:a16="http://schemas.microsoft.com/office/drawing/2014/main" id="{25D3312E-436D-7555-A229-942D6AA454F6}"/>
              </a:ext>
            </a:extLst>
          </p:cNvPr>
          <p:cNvSpPr txBox="1"/>
          <p:nvPr/>
        </p:nvSpPr>
        <p:spPr>
          <a:xfrm>
            <a:off x="3197658" y="4927444"/>
            <a:ext cx="2568734" cy="338554"/>
          </a:xfrm>
          <a:prstGeom prst="rect">
            <a:avLst/>
          </a:prstGeom>
          <a:noFill/>
        </p:spPr>
        <p:txBody>
          <a:bodyPr wrap="square" rtlCol="0">
            <a:spAutoFit/>
          </a:bodyPr>
          <a:lstStyle/>
          <a:p>
            <a:pPr algn="ctr">
              <a:spcAft>
                <a:spcPts val="1200"/>
              </a:spcAft>
            </a:pPr>
            <a:r>
              <a:rPr lang="en-US" sz="800" dirty="0">
                <a:latin typeface="Montserrat SemiBold" panose="00000700000000000000" pitchFamily="2" charset="0"/>
              </a:rPr>
              <a:t>Use your core data with custom fields and triggers to personalize at scale.</a:t>
            </a:r>
            <a:endParaRPr lang="en-US" sz="800" dirty="0">
              <a:latin typeface="Montserrat" panose="00000500000000000000" pitchFamily="2" charset="0"/>
            </a:endParaRPr>
          </a:p>
        </p:txBody>
      </p:sp>
      <p:pic>
        <p:nvPicPr>
          <p:cNvPr id="38" name="Graphic 37" descr="Database with solid fill">
            <a:extLst>
              <a:ext uri="{FF2B5EF4-FFF2-40B4-BE49-F238E27FC236}">
                <a16:creationId xmlns:a16="http://schemas.microsoft.com/office/drawing/2014/main" id="{7E449655-C4E1-972A-7906-6CFBB3EE0000}"/>
              </a:ext>
            </a:extLst>
          </p:cNvPr>
          <p:cNvPicPr>
            <a:picLocks noChangeAspect="1"/>
          </p:cNvPicPr>
          <p:nvPr/>
        </p:nvPicPr>
        <p:blipFill>
          <a:blip>
            <a:extLst>
              <a:ext uri="{96DAC541-7B7A-43D3-8B79-37D633B846F1}">
                <asvg:svgBlip xmlns:asvg="http://schemas.microsoft.com/office/drawing/2016/SVG/main" r:embed="rId7"/>
              </a:ext>
            </a:extLst>
          </a:blip>
          <a:srcRect/>
          <a:stretch/>
        </p:blipFill>
        <p:spPr>
          <a:xfrm>
            <a:off x="4076044" y="3988725"/>
            <a:ext cx="687352" cy="687352"/>
          </a:xfrm>
          <a:prstGeom prst="rect">
            <a:avLst/>
          </a:prstGeom>
        </p:spPr>
      </p:pic>
      <p:sp>
        <p:nvSpPr>
          <p:cNvPr id="39" name="TextBox 38">
            <a:extLst>
              <a:ext uri="{FF2B5EF4-FFF2-40B4-BE49-F238E27FC236}">
                <a16:creationId xmlns:a16="http://schemas.microsoft.com/office/drawing/2014/main" id="{8CF8DAB9-F840-FABE-4A33-A73845E633C2}"/>
              </a:ext>
            </a:extLst>
          </p:cNvPr>
          <p:cNvSpPr txBox="1"/>
          <p:nvPr/>
        </p:nvSpPr>
        <p:spPr>
          <a:xfrm>
            <a:off x="5840392" y="4623391"/>
            <a:ext cx="2568734" cy="246221"/>
          </a:xfrm>
          <a:prstGeom prst="rect">
            <a:avLst/>
          </a:prstGeom>
          <a:noFill/>
        </p:spPr>
        <p:txBody>
          <a:bodyPr wrap="square" rtlCol="0">
            <a:spAutoFit/>
          </a:bodyPr>
          <a:lstStyle/>
          <a:p>
            <a:pPr algn="ctr">
              <a:spcAft>
                <a:spcPts val="1200"/>
              </a:spcAft>
            </a:pPr>
            <a:r>
              <a:rPr lang="en-US" sz="1000" dirty="0">
                <a:solidFill>
                  <a:srgbClr val="2F6673"/>
                </a:solidFill>
                <a:latin typeface="Montserrat SemiBold" panose="00000700000000000000" pitchFamily="2" charset="0"/>
              </a:rPr>
              <a:t>Strengthen Relationships</a:t>
            </a:r>
            <a:endParaRPr lang="en-US" sz="1000" dirty="0">
              <a:solidFill>
                <a:srgbClr val="2F6673"/>
              </a:solidFill>
              <a:latin typeface="Montserrat" panose="00000500000000000000" pitchFamily="2" charset="0"/>
            </a:endParaRPr>
          </a:p>
        </p:txBody>
      </p:sp>
      <p:sp>
        <p:nvSpPr>
          <p:cNvPr id="40" name="TextBox 39">
            <a:extLst>
              <a:ext uri="{FF2B5EF4-FFF2-40B4-BE49-F238E27FC236}">
                <a16:creationId xmlns:a16="http://schemas.microsoft.com/office/drawing/2014/main" id="{307253DC-FCC5-2DD3-CD8E-8F23F68D9E48}"/>
              </a:ext>
            </a:extLst>
          </p:cNvPr>
          <p:cNvSpPr txBox="1"/>
          <p:nvPr/>
        </p:nvSpPr>
        <p:spPr>
          <a:xfrm>
            <a:off x="5834623" y="4909312"/>
            <a:ext cx="2568734" cy="338554"/>
          </a:xfrm>
          <a:prstGeom prst="rect">
            <a:avLst/>
          </a:prstGeom>
          <a:noFill/>
        </p:spPr>
        <p:txBody>
          <a:bodyPr wrap="square" rtlCol="0">
            <a:spAutoFit/>
          </a:bodyPr>
          <a:lstStyle/>
          <a:p>
            <a:pPr algn="ctr">
              <a:spcAft>
                <a:spcPts val="1200"/>
              </a:spcAft>
            </a:pPr>
            <a:r>
              <a:rPr lang="en-US" sz="800" dirty="0">
                <a:latin typeface="Montserrat SemiBold" panose="00000700000000000000" pitchFamily="2" charset="0"/>
              </a:rPr>
              <a:t>Deliver relevant experiences across every member lifecycle.</a:t>
            </a:r>
            <a:endParaRPr lang="en-US" sz="800" dirty="0">
              <a:latin typeface="Montserrat" panose="00000500000000000000" pitchFamily="2" charset="0"/>
            </a:endParaRPr>
          </a:p>
        </p:txBody>
      </p:sp>
      <p:pic>
        <p:nvPicPr>
          <p:cNvPr id="41" name="Graphic 40" descr="Users with solid fill">
            <a:extLst>
              <a:ext uri="{FF2B5EF4-FFF2-40B4-BE49-F238E27FC236}">
                <a16:creationId xmlns:a16="http://schemas.microsoft.com/office/drawing/2014/main" id="{9C89F344-D878-AD76-47E4-93736046370A}"/>
              </a:ext>
            </a:extLst>
          </p:cNvPr>
          <p:cNvPicPr>
            <a:picLocks noChangeAspect="1"/>
          </p:cNvPicPr>
          <p:nvPr/>
        </p:nvPicPr>
        <p:blipFill>
          <a:blip>
            <a:extLst>
              <a:ext uri="{96DAC541-7B7A-43D3-8B79-37D633B846F1}">
                <asvg:svgBlip xmlns:asvg="http://schemas.microsoft.com/office/drawing/2016/SVG/main" r:embed="rId8"/>
              </a:ext>
            </a:extLst>
          </a:blip>
          <a:srcRect/>
          <a:stretch/>
        </p:blipFill>
        <p:spPr>
          <a:xfrm>
            <a:off x="6713009" y="3970593"/>
            <a:ext cx="687352" cy="687352"/>
          </a:xfrm>
          <a:prstGeom prst="rect">
            <a:avLst/>
          </a:prstGeom>
        </p:spPr>
      </p:pic>
      <p:sp>
        <p:nvSpPr>
          <p:cNvPr id="42" name="TextBox 41">
            <a:extLst>
              <a:ext uri="{FF2B5EF4-FFF2-40B4-BE49-F238E27FC236}">
                <a16:creationId xmlns:a16="http://schemas.microsoft.com/office/drawing/2014/main" id="{080795B7-4400-D649-3A7E-995B80D43D61}"/>
              </a:ext>
            </a:extLst>
          </p:cNvPr>
          <p:cNvSpPr txBox="1"/>
          <p:nvPr/>
        </p:nvSpPr>
        <p:spPr>
          <a:xfrm>
            <a:off x="8468693" y="4631872"/>
            <a:ext cx="2568734" cy="246221"/>
          </a:xfrm>
          <a:prstGeom prst="rect">
            <a:avLst/>
          </a:prstGeom>
          <a:noFill/>
        </p:spPr>
        <p:txBody>
          <a:bodyPr wrap="square" rtlCol="0">
            <a:spAutoFit/>
          </a:bodyPr>
          <a:lstStyle/>
          <a:p>
            <a:pPr algn="ctr">
              <a:spcAft>
                <a:spcPts val="1200"/>
              </a:spcAft>
            </a:pPr>
            <a:r>
              <a:rPr lang="en-US" sz="1000" dirty="0">
                <a:solidFill>
                  <a:srgbClr val="002060"/>
                </a:solidFill>
                <a:latin typeface="Montserrat SemiBold" panose="00000700000000000000" pitchFamily="2" charset="0"/>
              </a:rPr>
              <a:t>Expert Support</a:t>
            </a:r>
            <a:endParaRPr lang="en-US" sz="1000" dirty="0">
              <a:solidFill>
                <a:srgbClr val="002060"/>
              </a:solidFill>
              <a:latin typeface="Montserrat" panose="00000500000000000000" pitchFamily="2" charset="0"/>
            </a:endParaRPr>
          </a:p>
        </p:txBody>
      </p:sp>
      <p:sp>
        <p:nvSpPr>
          <p:cNvPr id="43" name="TextBox 42">
            <a:extLst>
              <a:ext uri="{FF2B5EF4-FFF2-40B4-BE49-F238E27FC236}">
                <a16:creationId xmlns:a16="http://schemas.microsoft.com/office/drawing/2014/main" id="{F1A41462-485B-F1BB-EF24-43DD4FCA0257}"/>
              </a:ext>
            </a:extLst>
          </p:cNvPr>
          <p:cNvSpPr txBox="1"/>
          <p:nvPr/>
        </p:nvSpPr>
        <p:spPr>
          <a:xfrm>
            <a:off x="8462924" y="4917793"/>
            <a:ext cx="2568734" cy="338554"/>
          </a:xfrm>
          <a:prstGeom prst="rect">
            <a:avLst/>
          </a:prstGeom>
          <a:noFill/>
        </p:spPr>
        <p:txBody>
          <a:bodyPr wrap="square" rtlCol="0">
            <a:spAutoFit/>
          </a:bodyPr>
          <a:lstStyle/>
          <a:p>
            <a:pPr algn="ctr">
              <a:spcAft>
                <a:spcPts val="1200"/>
              </a:spcAft>
            </a:pPr>
            <a:r>
              <a:rPr lang="en-US" sz="800" dirty="0">
                <a:latin typeface="Montserrat SemiBold" panose="00000700000000000000" pitchFamily="2" charset="0"/>
              </a:rPr>
              <a:t>Our team is here for you through strategy, execution, and ongoing support.</a:t>
            </a:r>
            <a:endParaRPr lang="en-US" sz="800" dirty="0">
              <a:latin typeface="Montserrat" panose="00000500000000000000" pitchFamily="2" charset="0"/>
            </a:endParaRPr>
          </a:p>
        </p:txBody>
      </p:sp>
      <p:pic>
        <p:nvPicPr>
          <p:cNvPr id="44" name="Graphic 43" descr="Call center with solid fill">
            <a:extLst>
              <a:ext uri="{FF2B5EF4-FFF2-40B4-BE49-F238E27FC236}">
                <a16:creationId xmlns:a16="http://schemas.microsoft.com/office/drawing/2014/main" id="{895A7F1A-531A-7C1C-B7C4-5FA67941ECE6}"/>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9341310" y="3979074"/>
            <a:ext cx="687352" cy="687352"/>
          </a:xfrm>
          <a:prstGeom prst="rect">
            <a:avLst/>
          </a:prstGeom>
        </p:spPr>
      </p:pic>
      <p:sp>
        <p:nvSpPr>
          <p:cNvPr id="46" name="TextBox 45">
            <a:extLst>
              <a:ext uri="{FF2B5EF4-FFF2-40B4-BE49-F238E27FC236}">
                <a16:creationId xmlns:a16="http://schemas.microsoft.com/office/drawing/2014/main" id="{E7626014-F976-50B4-CA11-617E7CCA84A8}"/>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3</a:t>
            </a:r>
          </a:p>
        </p:txBody>
      </p:sp>
    </p:spTree>
    <p:extLst>
      <p:ext uri="{BB962C8B-B14F-4D97-AF65-F5344CB8AC3E}">
        <p14:creationId xmlns:p14="http://schemas.microsoft.com/office/powerpoint/2010/main" val="345667706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E342E-CF5B-F0D1-B139-A8987475EFF0}"/>
            </a:ext>
          </a:extLst>
        </p:cNvPr>
        <p:cNvGrpSpPr/>
        <p:nvPr/>
      </p:nvGrpSpPr>
      <p:grpSpPr>
        <a:xfrm>
          <a:off x="0" y="0"/>
          <a:ext cx="0" cy="0"/>
          <a:chOff x="0" y="0"/>
          <a:chExt cx="0" cy="0"/>
        </a:xfrm>
      </p:grpSpPr>
      <p:sp>
        <p:nvSpPr>
          <p:cNvPr id="6" name="TextBox 5">
            <a:extLst>
              <a:ext uri="{FF2B5EF4-FFF2-40B4-BE49-F238E27FC236}">
                <a16:creationId xmlns:a16="http://schemas.microsoft.com/office/drawing/2014/main" id="{047CDCA8-2FAF-3A21-B9D3-078E04714113}"/>
              </a:ext>
            </a:extLst>
          </p:cNvPr>
          <p:cNvSpPr txBox="1"/>
          <p:nvPr/>
        </p:nvSpPr>
        <p:spPr>
          <a:xfrm>
            <a:off x="416611" y="1187484"/>
            <a:ext cx="10968684" cy="938719"/>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Real Use Cases. </a:t>
            </a:r>
            <a:r>
              <a:rPr lang="en-US" sz="1400" dirty="0">
                <a:solidFill>
                  <a:srgbClr val="3C8394"/>
                </a:solidFill>
                <a:latin typeface="Montserrat SemiBold" panose="00000700000000000000" pitchFamily="2" charset="0"/>
              </a:rPr>
              <a:t>Real Impact.</a:t>
            </a:r>
          </a:p>
          <a:p>
            <a:pPr>
              <a:spcAft>
                <a:spcPts val="1200"/>
              </a:spcAft>
            </a:pPr>
            <a:r>
              <a:rPr lang="en-US" sz="900" dirty="0">
                <a:latin typeface="Montserrat SemiBold" panose="00000700000000000000" pitchFamily="2" charset="0"/>
              </a:rPr>
              <a:t>Here are just a few ways credit unions like yours use our platform.</a:t>
            </a:r>
            <a:endParaRPr lang="en-US" sz="900" dirty="0">
              <a:latin typeface="Montserrat" panose="00000500000000000000" pitchFamily="2" charset="0"/>
            </a:endParaRPr>
          </a:p>
          <a:p>
            <a:pPr marL="628650" lvl="1" indent="-171450">
              <a:buFont typeface="Arial" panose="020B0604020202020204" pitchFamily="34" charset="0"/>
              <a:buChar char="•"/>
            </a:pPr>
            <a:endParaRPr lang="en-US" sz="1200" dirty="0">
              <a:latin typeface="Montserrat SemiBold" panose="00000700000000000000" pitchFamily="2" charset="0"/>
            </a:endParaRPr>
          </a:p>
        </p:txBody>
      </p:sp>
      <p:sp>
        <p:nvSpPr>
          <p:cNvPr id="23" name="Rectangle: Rounded Corners 22">
            <a:extLst>
              <a:ext uri="{FF2B5EF4-FFF2-40B4-BE49-F238E27FC236}">
                <a16:creationId xmlns:a16="http://schemas.microsoft.com/office/drawing/2014/main" id="{A286062D-B235-C7DE-561B-30AAC423C622}"/>
              </a:ext>
            </a:extLst>
          </p:cNvPr>
          <p:cNvSpPr/>
          <p:nvPr/>
        </p:nvSpPr>
        <p:spPr>
          <a:xfrm>
            <a:off x="589546" y="2045368"/>
            <a:ext cx="10467475" cy="317031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TextBox 44">
            <a:extLst>
              <a:ext uri="{FF2B5EF4-FFF2-40B4-BE49-F238E27FC236}">
                <a16:creationId xmlns:a16="http://schemas.microsoft.com/office/drawing/2014/main" id="{AB99CB70-5F02-9506-D91E-17687B5BE259}"/>
              </a:ext>
            </a:extLst>
          </p:cNvPr>
          <p:cNvSpPr txBox="1"/>
          <p:nvPr/>
        </p:nvSpPr>
        <p:spPr>
          <a:xfrm>
            <a:off x="1335091" y="2811857"/>
            <a:ext cx="3272995" cy="261610"/>
          </a:xfrm>
          <a:prstGeom prst="rect">
            <a:avLst/>
          </a:prstGeom>
          <a:noFill/>
        </p:spPr>
        <p:txBody>
          <a:bodyPr wrap="square" rtlCol="0">
            <a:spAutoFit/>
          </a:bodyPr>
          <a:lstStyle/>
          <a:p>
            <a:pPr>
              <a:spcAft>
                <a:spcPts val="1200"/>
              </a:spcAft>
            </a:pPr>
            <a:r>
              <a:rPr lang="en-US" sz="1100" dirty="0">
                <a:solidFill>
                  <a:srgbClr val="2F6673"/>
                </a:solidFill>
                <a:latin typeface="Montserrat SemiBold" panose="00000700000000000000" pitchFamily="2" charset="0"/>
              </a:rPr>
              <a:t>Improve New Member Experience</a:t>
            </a:r>
            <a:endParaRPr lang="en-US" sz="1100" dirty="0">
              <a:solidFill>
                <a:srgbClr val="2F6673"/>
              </a:solidFill>
              <a:latin typeface="Montserrat" panose="00000500000000000000" pitchFamily="2" charset="0"/>
            </a:endParaRPr>
          </a:p>
        </p:txBody>
      </p:sp>
      <p:cxnSp>
        <p:nvCxnSpPr>
          <p:cNvPr id="48" name="Straight Connector 47">
            <a:extLst>
              <a:ext uri="{FF2B5EF4-FFF2-40B4-BE49-F238E27FC236}">
                <a16:creationId xmlns:a16="http://schemas.microsoft.com/office/drawing/2014/main" id="{704D6BA2-2962-2C48-964B-C6DDC9675F15}"/>
              </a:ext>
            </a:extLst>
          </p:cNvPr>
          <p:cNvCxnSpPr>
            <a:cxnSpLocks/>
          </p:cNvCxnSpPr>
          <p:nvPr/>
        </p:nvCxnSpPr>
        <p:spPr>
          <a:xfrm flipH="1">
            <a:off x="589543" y="3243081"/>
            <a:ext cx="10467475"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Straight Connector 50">
            <a:extLst>
              <a:ext uri="{FF2B5EF4-FFF2-40B4-BE49-F238E27FC236}">
                <a16:creationId xmlns:a16="http://schemas.microsoft.com/office/drawing/2014/main" id="{81AEA3AB-7946-C65B-840B-10892570F889}"/>
              </a:ext>
            </a:extLst>
          </p:cNvPr>
          <p:cNvCxnSpPr>
            <a:cxnSpLocks/>
          </p:cNvCxnSpPr>
          <p:nvPr/>
        </p:nvCxnSpPr>
        <p:spPr>
          <a:xfrm flipH="1">
            <a:off x="589543" y="4527823"/>
            <a:ext cx="10467475"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a:extLst>
              <a:ext uri="{FF2B5EF4-FFF2-40B4-BE49-F238E27FC236}">
                <a16:creationId xmlns:a16="http://schemas.microsoft.com/office/drawing/2014/main" id="{91CD421C-AD20-D543-F0E3-F1351435E07F}"/>
              </a:ext>
            </a:extLst>
          </p:cNvPr>
          <p:cNvCxnSpPr>
            <a:cxnSpLocks/>
          </p:cNvCxnSpPr>
          <p:nvPr/>
        </p:nvCxnSpPr>
        <p:spPr>
          <a:xfrm flipH="1">
            <a:off x="589543" y="3885452"/>
            <a:ext cx="10467475" cy="0"/>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5" name="Rectangle: Top Corners Rounded 54">
            <a:extLst>
              <a:ext uri="{FF2B5EF4-FFF2-40B4-BE49-F238E27FC236}">
                <a16:creationId xmlns:a16="http://schemas.microsoft.com/office/drawing/2014/main" id="{E2C3E3A8-326F-BEC9-975A-77F33DE955C6}"/>
              </a:ext>
            </a:extLst>
          </p:cNvPr>
          <p:cNvSpPr/>
          <p:nvPr/>
        </p:nvSpPr>
        <p:spPr>
          <a:xfrm>
            <a:off x="589543" y="2045367"/>
            <a:ext cx="10467477" cy="555343"/>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47" name="Straight Connector 46">
            <a:extLst>
              <a:ext uri="{FF2B5EF4-FFF2-40B4-BE49-F238E27FC236}">
                <a16:creationId xmlns:a16="http://schemas.microsoft.com/office/drawing/2014/main" id="{FDCB81F5-D433-3161-0E6C-58455F5CD7F9}"/>
              </a:ext>
            </a:extLst>
          </p:cNvPr>
          <p:cNvCxnSpPr>
            <a:cxnSpLocks/>
          </p:cNvCxnSpPr>
          <p:nvPr/>
        </p:nvCxnSpPr>
        <p:spPr>
          <a:xfrm>
            <a:off x="4608095" y="2045368"/>
            <a:ext cx="0" cy="3170319"/>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6" name="TextBox 55">
            <a:extLst>
              <a:ext uri="{FF2B5EF4-FFF2-40B4-BE49-F238E27FC236}">
                <a16:creationId xmlns:a16="http://schemas.microsoft.com/office/drawing/2014/main" id="{763C6D58-5B5A-FB6A-31AF-FFA7B0E33D44}"/>
              </a:ext>
            </a:extLst>
          </p:cNvPr>
          <p:cNvSpPr txBox="1"/>
          <p:nvPr/>
        </p:nvSpPr>
        <p:spPr>
          <a:xfrm>
            <a:off x="589542" y="2199927"/>
            <a:ext cx="4018549" cy="307777"/>
          </a:xfrm>
          <a:prstGeom prst="rect">
            <a:avLst/>
          </a:prstGeom>
          <a:noFill/>
        </p:spPr>
        <p:txBody>
          <a:bodyPr wrap="square" rtlCol="0">
            <a:spAutoFit/>
          </a:bodyPr>
          <a:lstStyle/>
          <a:p>
            <a:pPr algn="ctr">
              <a:spcAft>
                <a:spcPts val="1200"/>
              </a:spcAft>
            </a:pPr>
            <a:r>
              <a:rPr lang="en-US" sz="1400" dirty="0">
                <a:solidFill>
                  <a:schemeClr val="bg1"/>
                </a:solidFill>
                <a:latin typeface="Montserrat SemiBold" panose="00000700000000000000" pitchFamily="2" charset="0"/>
              </a:rPr>
              <a:t>Business Goal</a:t>
            </a:r>
            <a:endParaRPr lang="en-US" sz="1400" dirty="0">
              <a:solidFill>
                <a:schemeClr val="bg1"/>
              </a:solidFill>
              <a:latin typeface="Montserrat" panose="00000500000000000000" pitchFamily="2" charset="0"/>
            </a:endParaRPr>
          </a:p>
        </p:txBody>
      </p:sp>
      <p:sp>
        <p:nvSpPr>
          <p:cNvPr id="57" name="TextBox 56">
            <a:extLst>
              <a:ext uri="{FF2B5EF4-FFF2-40B4-BE49-F238E27FC236}">
                <a16:creationId xmlns:a16="http://schemas.microsoft.com/office/drawing/2014/main" id="{5728A60C-283F-5E0F-9062-2FC681487B8B}"/>
              </a:ext>
            </a:extLst>
          </p:cNvPr>
          <p:cNvSpPr txBox="1"/>
          <p:nvPr/>
        </p:nvSpPr>
        <p:spPr>
          <a:xfrm>
            <a:off x="4608093" y="2185212"/>
            <a:ext cx="6448927" cy="307777"/>
          </a:xfrm>
          <a:prstGeom prst="rect">
            <a:avLst/>
          </a:prstGeom>
          <a:noFill/>
        </p:spPr>
        <p:txBody>
          <a:bodyPr wrap="square" rtlCol="0">
            <a:spAutoFit/>
          </a:bodyPr>
          <a:lstStyle/>
          <a:p>
            <a:pPr algn="ctr">
              <a:spcAft>
                <a:spcPts val="1200"/>
              </a:spcAft>
            </a:pPr>
            <a:r>
              <a:rPr lang="en-US" sz="1400" dirty="0">
                <a:solidFill>
                  <a:schemeClr val="bg1"/>
                </a:solidFill>
                <a:latin typeface="Montserrat SemiBold" panose="00000700000000000000" pitchFamily="2" charset="0"/>
              </a:rPr>
              <a:t>Example Journeys</a:t>
            </a:r>
            <a:endParaRPr lang="en-US" sz="1400" dirty="0">
              <a:solidFill>
                <a:schemeClr val="bg1"/>
              </a:solidFill>
              <a:latin typeface="Montserrat" panose="00000500000000000000" pitchFamily="2" charset="0"/>
            </a:endParaRPr>
          </a:p>
        </p:txBody>
      </p:sp>
      <p:sp>
        <p:nvSpPr>
          <p:cNvPr id="58" name="TextBox 57">
            <a:extLst>
              <a:ext uri="{FF2B5EF4-FFF2-40B4-BE49-F238E27FC236}">
                <a16:creationId xmlns:a16="http://schemas.microsoft.com/office/drawing/2014/main" id="{EEC337C4-36EA-B6AF-3C9A-1F21F13B6264}"/>
              </a:ext>
            </a:extLst>
          </p:cNvPr>
          <p:cNvSpPr txBox="1"/>
          <p:nvPr/>
        </p:nvSpPr>
        <p:spPr>
          <a:xfrm>
            <a:off x="1335091" y="3427042"/>
            <a:ext cx="3272996" cy="261610"/>
          </a:xfrm>
          <a:prstGeom prst="rect">
            <a:avLst/>
          </a:prstGeom>
          <a:noFill/>
        </p:spPr>
        <p:txBody>
          <a:bodyPr wrap="square" rtlCol="0">
            <a:spAutoFit/>
          </a:bodyPr>
          <a:lstStyle/>
          <a:p>
            <a:pPr>
              <a:spcAft>
                <a:spcPts val="1200"/>
              </a:spcAft>
            </a:pPr>
            <a:r>
              <a:rPr lang="en-US" sz="1100" dirty="0">
                <a:solidFill>
                  <a:srgbClr val="002060"/>
                </a:solidFill>
                <a:latin typeface="Montserrat SemiBold" panose="00000700000000000000" pitchFamily="2" charset="0"/>
              </a:rPr>
              <a:t>Grow Loans</a:t>
            </a:r>
            <a:endParaRPr lang="en-US" sz="1100" dirty="0">
              <a:solidFill>
                <a:srgbClr val="002060"/>
              </a:solidFill>
              <a:latin typeface="Montserrat" panose="00000500000000000000" pitchFamily="2" charset="0"/>
            </a:endParaRPr>
          </a:p>
        </p:txBody>
      </p:sp>
      <p:sp>
        <p:nvSpPr>
          <p:cNvPr id="59" name="TextBox 58">
            <a:extLst>
              <a:ext uri="{FF2B5EF4-FFF2-40B4-BE49-F238E27FC236}">
                <a16:creationId xmlns:a16="http://schemas.microsoft.com/office/drawing/2014/main" id="{267CCB69-773C-3BBD-685A-E3866B514F78}"/>
              </a:ext>
            </a:extLst>
          </p:cNvPr>
          <p:cNvSpPr txBox="1"/>
          <p:nvPr/>
        </p:nvSpPr>
        <p:spPr>
          <a:xfrm>
            <a:off x="1335091" y="4078753"/>
            <a:ext cx="3272995" cy="261610"/>
          </a:xfrm>
          <a:prstGeom prst="rect">
            <a:avLst/>
          </a:prstGeom>
          <a:noFill/>
        </p:spPr>
        <p:txBody>
          <a:bodyPr wrap="square" rtlCol="0">
            <a:spAutoFit/>
          </a:bodyPr>
          <a:lstStyle/>
          <a:p>
            <a:pPr>
              <a:spcAft>
                <a:spcPts val="1200"/>
              </a:spcAft>
            </a:pPr>
            <a:r>
              <a:rPr lang="en-US" sz="1100" dirty="0">
                <a:solidFill>
                  <a:srgbClr val="76BD22"/>
                </a:solidFill>
                <a:latin typeface="Montserrat SemiBold" panose="00000700000000000000" pitchFamily="2" charset="0"/>
              </a:rPr>
              <a:t>Increase Member Engagement </a:t>
            </a:r>
            <a:endParaRPr lang="en-US" sz="1100" dirty="0">
              <a:solidFill>
                <a:srgbClr val="76BD22"/>
              </a:solidFill>
              <a:latin typeface="Montserrat" panose="00000500000000000000" pitchFamily="2" charset="0"/>
            </a:endParaRPr>
          </a:p>
        </p:txBody>
      </p:sp>
      <p:sp>
        <p:nvSpPr>
          <p:cNvPr id="60" name="TextBox 59">
            <a:extLst>
              <a:ext uri="{FF2B5EF4-FFF2-40B4-BE49-F238E27FC236}">
                <a16:creationId xmlns:a16="http://schemas.microsoft.com/office/drawing/2014/main" id="{96AFF6F2-0EE1-7117-3AD5-787FD9DF8014}"/>
              </a:ext>
            </a:extLst>
          </p:cNvPr>
          <p:cNvSpPr txBox="1"/>
          <p:nvPr/>
        </p:nvSpPr>
        <p:spPr>
          <a:xfrm>
            <a:off x="1335091" y="4743337"/>
            <a:ext cx="3272995" cy="261610"/>
          </a:xfrm>
          <a:prstGeom prst="rect">
            <a:avLst/>
          </a:prstGeom>
          <a:noFill/>
        </p:spPr>
        <p:txBody>
          <a:bodyPr wrap="square" rtlCol="0">
            <a:spAutoFit/>
          </a:bodyPr>
          <a:lstStyle/>
          <a:p>
            <a:pPr>
              <a:spcAft>
                <a:spcPts val="1200"/>
              </a:spcAft>
            </a:pPr>
            <a:r>
              <a:rPr lang="en-US" sz="1100" dirty="0">
                <a:solidFill>
                  <a:srgbClr val="002060"/>
                </a:solidFill>
                <a:latin typeface="Montserrat SemiBold" panose="00000700000000000000" pitchFamily="2" charset="0"/>
              </a:rPr>
              <a:t>Strengthen Member Loyalty</a:t>
            </a:r>
            <a:endParaRPr lang="en-US" sz="1100" dirty="0">
              <a:solidFill>
                <a:srgbClr val="002060"/>
              </a:solidFill>
              <a:latin typeface="Montserrat" panose="00000500000000000000" pitchFamily="2" charset="0"/>
            </a:endParaRPr>
          </a:p>
        </p:txBody>
      </p:sp>
      <p:pic>
        <p:nvPicPr>
          <p:cNvPr id="64" name="Graphic 63" descr="Users with solid fill">
            <a:extLst>
              <a:ext uri="{FF2B5EF4-FFF2-40B4-BE49-F238E27FC236}">
                <a16:creationId xmlns:a16="http://schemas.microsoft.com/office/drawing/2014/main" id="{1066ABF9-4D73-EE0E-FB76-94EC84F7DC0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734342" y="2644963"/>
            <a:ext cx="600749" cy="598117"/>
          </a:xfrm>
          <a:prstGeom prst="rect">
            <a:avLst/>
          </a:prstGeom>
        </p:spPr>
      </p:pic>
      <p:pic>
        <p:nvPicPr>
          <p:cNvPr id="66" name="Graphic 65" descr="Car with solid fill">
            <a:extLst>
              <a:ext uri="{FF2B5EF4-FFF2-40B4-BE49-F238E27FC236}">
                <a16:creationId xmlns:a16="http://schemas.microsoft.com/office/drawing/2014/main" id="{86ABFF24-0527-90C5-81A1-523A52B07219}"/>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734342" y="3258889"/>
            <a:ext cx="577371" cy="577371"/>
          </a:xfrm>
          <a:prstGeom prst="rect">
            <a:avLst/>
          </a:prstGeom>
        </p:spPr>
      </p:pic>
      <p:pic>
        <p:nvPicPr>
          <p:cNvPr id="68" name="Graphic 67" descr="Business Growth with solid fill">
            <a:extLst>
              <a:ext uri="{FF2B5EF4-FFF2-40B4-BE49-F238E27FC236}">
                <a16:creationId xmlns:a16="http://schemas.microsoft.com/office/drawing/2014/main" id="{6A723CAE-BA40-D9E2-CCA7-6EB04EFCEECA}"/>
              </a:ext>
            </a:extLst>
          </p:cNvPr>
          <p:cNvPicPr>
            <a:picLocks noChangeAspect="1"/>
          </p:cNvPicPr>
          <p:nvPr/>
        </p:nvPicPr>
        <p:blipFill>
          <a:blip>
            <a:extLst>
              <a:ext uri="{96DAC541-7B7A-43D3-8B79-37D633B846F1}">
                <asvg:svgBlip xmlns:asvg="http://schemas.microsoft.com/office/drawing/2016/SVG/main" r:embed="rId4"/>
              </a:ext>
            </a:extLst>
          </a:blip>
          <a:srcRect/>
          <a:stretch/>
        </p:blipFill>
        <p:spPr>
          <a:xfrm>
            <a:off x="714352" y="3927832"/>
            <a:ext cx="584930" cy="584930"/>
          </a:xfrm>
          <a:prstGeom prst="rect">
            <a:avLst/>
          </a:prstGeom>
        </p:spPr>
      </p:pic>
      <p:pic>
        <p:nvPicPr>
          <p:cNvPr id="70" name="Graphic 69" descr="Cake with solid fill">
            <a:extLst>
              <a:ext uri="{FF2B5EF4-FFF2-40B4-BE49-F238E27FC236}">
                <a16:creationId xmlns:a16="http://schemas.microsoft.com/office/drawing/2014/main" id="{6B980FC4-312D-080C-1E6E-A72249F3BE7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54831" y="4591843"/>
            <a:ext cx="503971" cy="503971"/>
          </a:xfrm>
          <a:prstGeom prst="rect">
            <a:avLst/>
          </a:prstGeom>
        </p:spPr>
      </p:pic>
      <p:sp>
        <p:nvSpPr>
          <p:cNvPr id="71" name="TextBox 70">
            <a:extLst>
              <a:ext uri="{FF2B5EF4-FFF2-40B4-BE49-F238E27FC236}">
                <a16:creationId xmlns:a16="http://schemas.microsoft.com/office/drawing/2014/main" id="{6DEB28AC-BA44-9F6D-AA92-01842D895990}"/>
              </a:ext>
            </a:extLst>
          </p:cNvPr>
          <p:cNvSpPr txBox="1"/>
          <p:nvPr/>
        </p:nvSpPr>
        <p:spPr>
          <a:xfrm>
            <a:off x="4631473" y="2680449"/>
            <a:ext cx="6372631" cy="507831"/>
          </a:xfrm>
          <a:prstGeom prst="rect">
            <a:avLst/>
          </a:prstGeom>
          <a:noFill/>
        </p:spPr>
        <p:txBody>
          <a:bodyPr wrap="square" rtlCol="0">
            <a:spAutoFit/>
          </a:bodyPr>
          <a:lstStyle/>
          <a:p>
            <a:pPr marL="171450" indent="-171450">
              <a:buFont typeface="Arial" panose="020B0604020202020204" pitchFamily="34" charset="0"/>
              <a:buChar char="•"/>
            </a:pPr>
            <a:r>
              <a:rPr lang="en-US" sz="900" dirty="0">
                <a:latin typeface="Montserrat SemiBold" panose="00000700000000000000" pitchFamily="2" charset="0"/>
              </a:rPr>
              <a:t>New member onboarding automated drip campaign</a:t>
            </a:r>
          </a:p>
          <a:p>
            <a:pPr marL="171450" indent="-171450">
              <a:buFont typeface="Arial" panose="020B0604020202020204" pitchFamily="34" charset="0"/>
              <a:buChar char="•"/>
            </a:pPr>
            <a:r>
              <a:rPr lang="en-US" sz="900" dirty="0" err="1">
                <a:latin typeface="Montserrat SemiBold" panose="00000700000000000000" pitchFamily="2" charset="0"/>
              </a:rPr>
              <a:t>eServices</a:t>
            </a:r>
            <a:r>
              <a:rPr lang="en-US" sz="900" dirty="0">
                <a:latin typeface="Montserrat SemiBold" panose="00000700000000000000" pitchFamily="2" charset="0"/>
              </a:rPr>
              <a:t> enrollment</a:t>
            </a:r>
          </a:p>
          <a:p>
            <a:pPr marL="171450" indent="-171450">
              <a:buFont typeface="Arial" panose="020B0604020202020204" pitchFamily="34" charset="0"/>
              <a:buChar char="•"/>
            </a:pPr>
            <a:r>
              <a:rPr lang="en-US" sz="900" dirty="0">
                <a:latin typeface="Montserrat SemiBold" panose="00000700000000000000" pitchFamily="2" charset="0"/>
              </a:rPr>
              <a:t>New member education series</a:t>
            </a:r>
            <a:endParaRPr lang="en-US" sz="900" dirty="0">
              <a:latin typeface="Montserrat" panose="00000500000000000000" pitchFamily="2" charset="0"/>
            </a:endParaRPr>
          </a:p>
        </p:txBody>
      </p:sp>
      <p:sp>
        <p:nvSpPr>
          <p:cNvPr id="72" name="TextBox 71">
            <a:extLst>
              <a:ext uri="{FF2B5EF4-FFF2-40B4-BE49-F238E27FC236}">
                <a16:creationId xmlns:a16="http://schemas.microsoft.com/office/drawing/2014/main" id="{B5A158A3-15F6-7DE5-58D7-BF4ACD595F30}"/>
              </a:ext>
            </a:extLst>
          </p:cNvPr>
          <p:cNvSpPr txBox="1"/>
          <p:nvPr/>
        </p:nvSpPr>
        <p:spPr>
          <a:xfrm>
            <a:off x="4608086" y="3317006"/>
            <a:ext cx="6372631" cy="507831"/>
          </a:xfrm>
          <a:prstGeom prst="rect">
            <a:avLst/>
          </a:prstGeom>
          <a:noFill/>
        </p:spPr>
        <p:txBody>
          <a:bodyPr wrap="square" rtlCol="0">
            <a:spAutoFit/>
          </a:bodyPr>
          <a:lstStyle/>
          <a:p>
            <a:pPr marL="171450" indent="-171450">
              <a:buFont typeface="Arial" panose="020B0604020202020204" pitchFamily="34" charset="0"/>
              <a:buChar char="•"/>
            </a:pPr>
            <a:r>
              <a:rPr lang="en-US" sz="900" dirty="0">
                <a:latin typeface="Montserrat SemiBold" panose="00000700000000000000" pitchFamily="2" charset="0"/>
              </a:rPr>
              <a:t>Timely messaging around auto loan maturity or recently paid off loans</a:t>
            </a:r>
          </a:p>
          <a:p>
            <a:pPr marL="171450" indent="-171450">
              <a:buFont typeface="Arial" panose="020B0604020202020204" pitchFamily="34" charset="0"/>
              <a:buChar char="•"/>
            </a:pPr>
            <a:r>
              <a:rPr lang="en-US" sz="900" dirty="0">
                <a:latin typeface="Montserrat SemiBold" panose="00000700000000000000" pitchFamily="2" charset="0"/>
              </a:rPr>
              <a:t>Loan payment reminders</a:t>
            </a:r>
          </a:p>
          <a:p>
            <a:pPr marL="171450" indent="-171450">
              <a:buFont typeface="Arial" panose="020B0604020202020204" pitchFamily="34" charset="0"/>
              <a:buChar char="•"/>
            </a:pPr>
            <a:r>
              <a:rPr lang="en-US" sz="900" dirty="0">
                <a:latin typeface="Montserrat SemiBold" panose="00000700000000000000" pitchFamily="2" charset="0"/>
              </a:rPr>
              <a:t>Discover untapped home equity opportunities</a:t>
            </a:r>
            <a:endParaRPr lang="en-US" sz="900" dirty="0">
              <a:latin typeface="Montserrat" panose="00000500000000000000" pitchFamily="2" charset="0"/>
            </a:endParaRPr>
          </a:p>
        </p:txBody>
      </p:sp>
      <p:sp>
        <p:nvSpPr>
          <p:cNvPr id="73" name="TextBox 72">
            <a:extLst>
              <a:ext uri="{FF2B5EF4-FFF2-40B4-BE49-F238E27FC236}">
                <a16:creationId xmlns:a16="http://schemas.microsoft.com/office/drawing/2014/main" id="{341E9BE0-3165-77E7-24C2-1CC4ACAD5336}"/>
              </a:ext>
            </a:extLst>
          </p:cNvPr>
          <p:cNvSpPr txBox="1"/>
          <p:nvPr/>
        </p:nvSpPr>
        <p:spPr>
          <a:xfrm>
            <a:off x="4608085" y="3955973"/>
            <a:ext cx="6372631" cy="507831"/>
          </a:xfrm>
          <a:prstGeom prst="rect">
            <a:avLst/>
          </a:prstGeom>
          <a:noFill/>
        </p:spPr>
        <p:txBody>
          <a:bodyPr wrap="square" rtlCol="0">
            <a:spAutoFit/>
          </a:bodyPr>
          <a:lstStyle/>
          <a:p>
            <a:pPr marL="171450" indent="-171450">
              <a:buFont typeface="Arial" panose="020B0604020202020204" pitchFamily="34" charset="0"/>
              <a:buChar char="•"/>
            </a:pPr>
            <a:r>
              <a:rPr lang="en-US" sz="900" dirty="0">
                <a:latin typeface="Montserrat SemiBold" panose="00000700000000000000" pitchFamily="2" charset="0"/>
              </a:rPr>
              <a:t>Proactive outreach to dormant checking members</a:t>
            </a:r>
          </a:p>
          <a:p>
            <a:pPr marL="171450" indent="-171450">
              <a:buFont typeface="Arial" panose="020B0604020202020204" pitchFamily="34" charset="0"/>
              <a:buChar char="•"/>
            </a:pPr>
            <a:r>
              <a:rPr lang="en-US" sz="900" dirty="0">
                <a:latin typeface="Montserrat SemiBold" panose="00000700000000000000" pitchFamily="2" charset="0"/>
              </a:rPr>
              <a:t>Debit card / credit card activation reminders</a:t>
            </a:r>
          </a:p>
          <a:p>
            <a:pPr marL="171450" indent="-171450">
              <a:buFont typeface="Arial" panose="020B0604020202020204" pitchFamily="34" charset="0"/>
              <a:buChar char="•"/>
            </a:pPr>
            <a:r>
              <a:rPr lang="en-US" sz="900" dirty="0">
                <a:latin typeface="Montserrat SemiBold" panose="00000700000000000000" pitchFamily="2" charset="0"/>
              </a:rPr>
              <a:t>Direct deposit set up education</a:t>
            </a:r>
            <a:endParaRPr lang="en-US" sz="900" dirty="0">
              <a:latin typeface="Montserrat" panose="00000500000000000000" pitchFamily="2" charset="0"/>
            </a:endParaRPr>
          </a:p>
        </p:txBody>
      </p:sp>
      <p:sp>
        <p:nvSpPr>
          <p:cNvPr id="74" name="TextBox 73">
            <a:extLst>
              <a:ext uri="{FF2B5EF4-FFF2-40B4-BE49-F238E27FC236}">
                <a16:creationId xmlns:a16="http://schemas.microsoft.com/office/drawing/2014/main" id="{350C9976-7049-59CB-D2BB-A6743E500F11}"/>
              </a:ext>
            </a:extLst>
          </p:cNvPr>
          <p:cNvSpPr txBox="1"/>
          <p:nvPr/>
        </p:nvSpPr>
        <p:spPr>
          <a:xfrm>
            <a:off x="4608084" y="4620226"/>
            <a:ext cx="6372631" cy="507831"/>
          </a:xfrm>
          <a:prstGeom prst="rect">
            <a:avLst/>
          </a:prstGeom>
          <a:noFill/>
        </p:spPr>
        <p:txBody>
          <a:bodyPr wrap="square" rtlCol="0">
            <a:spAutoFit/>
          </a:bodyPr>
          <a:lstStyle/>
          <a:p>
            <a:pPr marL="171450" indent="-171450">
              <a:buFont typeface="Arial" panose="020B0604020202020204" pitchFamily="34" charset="0"/>
              <a:buChar char="•"/>
            </a:pPr>
            <a:r>
              <a:rPr lang="en-US" sz="900" dirty="0">
                <a:latin typeface="Montserrat SemiBold" panose="00000700000000000000" pitchFamily="2" charset="0"/>
              </a:rPr>
              <a:t>Birthday wishes</a:t>
            </a:r>
          </a:p>
          <a:p>
            <a:pPr marL="171450" indent="-171450">
              <a:buFont typeface="Arial" panose="020B0604020202020204" pitchFamily="34" charset="0"/>
              <a:buChar char="•"/>
            </a:pPr>
            <a:r>
              <a:rPr lang="en-US" sz="900" dirty="0">
                <a:latin typeface="Montserrat SemiBold" panose="00000700000000000000" pitchFamily="2" charset="0"/>
              </a:rPr>
              <a:t>Member anniversary appreciation</a:t>
            </a:r>
          </a:p>
          <a:p>
            <a:pPr marL="171450" indent="-171450">
              <a:buFont typeface="Arial" panose="020B0604020202020204" pitchFamily="34" charset="0"/>
              <a:buChar char="•"/>
            </a:pPr>
            <a:r>
              <a:rPr lang="en-US" sz="900" dirty="0">
                <a:latin typeface="Montserrat SemiBold" panose="00000700000000000000" pitchFamily="2" charset="0"/>
              </a:rPr>
              <a:t>Branch visit follow-up / surveys</a:t>
            </a:r>
            <a:endParaRPr lang="en-US" sz="900" dirty="0">
              <a:latin typeface="Montserrat" panose="00000500000000000000" pitchFamily="2" charset="0"/>
            </a:endParaRPr>
          </a:p>
        </p:txBody>
      </p:sp>
      <p:sp>
        <p:nvSpPr>
          <p:cNvPr id="75" name="TextBox 74">
            <a:extLst>
              <a:ext uri="{FF2B5EF4-FFF2-40B4-BE49-F238E27FC236}">
                <a16:creationId xmlns:a16="http://schemas.microsoft.com/office/drawing/2014/main" id="{8A8ACFEE-CCD9-B70D-ED1A-A7AB096BB1EE}"/>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4</a:t>
            </a:r>
          </a:p>
        </p:txBody>
      </p:sp>
    </p:spTree>
    <p:extLst>
      <p:ext uri="{BB962C8B-B14F-4D97-AF65-F5344CB8AC3E}">
        <p14:creationId xmlns:p14="http://schemas.microsoft.com/office/powerpoint/2010/main" val="11012691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367A1-BFFC-F313-18BE-022DCB878517}"/>
            </a:ext>
          </a:extLst>
        </p:cNvPr>
        <p:cNvGrpSpPr/>
        <p:nvPr/>
      </p:nvGrpSpPr>
      <p:grpSpPr>
        <a:xfrm>
          <a:off x="0" y="0"/>
          <a:ext cx="0" cy="0"/>
          <a:chOff x="0" y="0"/>
          <a:chExt cx="0" cy="0"/>
        </a:xfrm>
      </p:grpSpPr>
      <p:sp>
        <p:nvSpPr>
          <p:cNvPr id="11" name="TextBox 10">
            <a:extLst>
              <a:ext uri="{FF2B5EF4-FFF2-40B4-BE49-F238E27FC236}">
                <a16:creationId xmlns:a16="http://schemas.microsoft.com/office/drawing/2014/main" id="{D0B35F06-3BEA-B220-1AB2-A5D4BF118F60}"/>
              </a:ext>
            </a:extLst>
          </p:cNvPr>
          <p:cNvSpPr txBox="1"/>
          <p:nvPr/>
        </p:nvSpPr>
        <p:spPr>
          <a:xfrm>
            <a:off x="416611" y="1187484"/>
            <a:ext cx="10968684" cy="307777"/>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What’s </a:t>
            </a:r>
            <a:r>
              <a:rPr lang="en-US" sz="1400" dirty="0">
                <a:solidFill>
                  <a:srgbClr val="3C8394"/>
                </a:solidFill>
                <a:latin typeface="Montserrat SemiBold" panose="00000700000000000000" pitchFamily="2" charset="0"/>
              </a:rPr>
              <a:t>Included</a:t>
            </a:r>
            <a:r>
              <a:rPr lang="en-US" sz="1400" dirty="0">
                <a:solidFill>
                  <a:srgbClr val="2F6673"/>
                </a:solidFill>
                <a:latin typeface="Montserrat SemiBold" panose="00000700000000000000" pitchFamily="2" charset="0"/>
              </a:rPr>
              <a:t> </a:t>
            </a:r>
            <a:r>
              <a:rPr lang="en-US" sz="1400" dirty="0">
                <a:solidFill>
                  <a:srgbClr val="002060"/>
                </a:solidFill>
                <a:latin typeface="Montserrat SemiBold" panose="00000700000000000000" pitchFamily="2" charset="0"/>
              </a:rPr>
              <a:t>in Your Platform Subscription</a:t>
            </a:r>
            <a:endParaRPr lang="en-US" sz="1400" dirty="0">
              <a:solidFill>
                <a:srgbClr val="3C8394"/>
              </a:solidFill>
              <a:latin typeface="Montserrat SemiBold" panose="00000700000000000000" pitchFamily="2" charset="0"/>
            </a:endParaRPr>
          </a:p>
        </p:txBody>
      </p:sp>
      <p:graphicFrame>
        <p:nvGraphicFramePr>
          <p:cNvPr id="12" name="Diagram 11">
            <a:extLst>
              <a:ext uri="{FF2B5EF4-FFF2-40B4-BE49-F238E27FC236}">
                <a16:creationId xmlns:a16="http://schemas.microsoft.com/office/drawing/2014/main" id="{A3D92E16-EC76-AF3B-4165-4BC1ABA4B22F}"/>
              </a:ext>
            </a:extLst>
          </p:cNvPr>
          <p:cNvGraphicFramePr/>
          <p:nvPr>
            <p:extLst>
              <p:ext uri="{D42A27DB-BD31-4B8C-83A1-F6EECF244321}">
                <p14:modId xmlns:p14="http://schemas.microsoft.com/office/powerpoint/2010/main" val="2408518471"/>
              </p:ext>
            </p:extLst>
          </p:nvPr>
        </p:nvGraphicFramePr>
        <p:xfrm>
          <a:off x="-294763" y="1882941"/>
          <a:ext cx="5618747" cy="423333"/>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4" name="Graphic 13" descr="Daily calendar with solid fill">
            <a:extLst>
              <a:ext uri="{FF2B5EF4-FFF2-40B4-BE49-F238E27FC236}">
                <a16:creationId xmlns:a16="http://schemas.microsoft.com/office/drawing/2014/main" id="{C8146717-3F57-AD95-A1CB-79F2764EAA97}"/>
              </a:ext>
            </a:extLst>
          </p:cNvPr>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573516" y="1882941"/>
            <a:ext cx="370974" cy="370974"/>
          </a:xfrm>
          <a:prstGeom prst="rect">
            <a:avLst/>
          </a:prstGeom>
        </p:spPr>
      </p:pic>
      <p:grpSp>
        <p:nvGrpSpPr>
          <p:cNvPr id="19" name="Group 18">
            <a:extLst>
              <a:ext uri="{FF2B5EF4-FFF2-40B4-BE49-F238E27FC236}">
                <a16:creationId xmlns:a16="http://schemas.microsoft.com/office/drawing/2014/main" id="{9403EB01-697D-A292-A9F6-74420CF96EB3}"/>
              </a:ext>
            </a:extLst>
          </p:cNvPr>
          <p:cNvGrpSpPr/>
          <p:nvPr/>
        </p:nvGrpSpPr>
        <p:grpSpPr>
          <a:xfrm>
            <a:off x="-294764" y="2439063"/>
            <a:ext cx="5618747" cy="423333"/>
            <a:chOff x="-198522" y="2607505"/>
            <a:chExt cx="5618747" cy="423333"/>
          </a:xfrm>
        </p:grpSpPr>
        <p:graphicFrame>
          <p:nvGraphicFramePr>
            <p:cNvPr id="15" name="Diagram 14">
              <a:extLst>
                <a:ext uri="{FF2B5EF4-FFF2-40B4-BE49-F238E27FC236}">
                  <a16:creationId xmlns:a16="http://schemas.microsoft.com/office/drawing/2014/main" id="{215803D9-B596-3244-F49D-7D7EEE16CD93}"/>
                </a:ext>
              </a:extLst>
            </p:cNvPr>
            <p:cNvGraphicFramePr/>
            <p:nvPr>
              <p:extLst>
                <p:ext uri="{D42A27DB-BD31-4B8C-83A1-F6EECF244321}">
                  <p14:modId xmlns:p14="http://schemas.microsoft.com/office/powerpoint/2010/main" val="2781624752"/>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pic>
          <p:nvPicPr>
            <p:cNvPr id="16" name="Graphic 15" descr="Send with solid fill">
              <a:extLst>
                <a:ext uri="{FF2B5EF4-FFF2-40B4-BE49-F238E27FC236}">
                  <a16:creationId xmlns:a16="http://schemas.microsoft.com/office/drawing/2014/main" id="{D79D0062-8196-D417-1968-816D14F0C6AE}"/>
                </a:ext>
              </a:extLst>
            </p:cNvPr>
            <p:cNvPicPr>
              <a:picLocks noChangeAspect="1"/>
            </p:cNvPicPr>
            <p:nvPr/>
          </p:nvPicPr>
          <p:blipFill>
            <a:blip>
              <a:extLst>
                <a:ext uri="{96DAC541-7B7A-43D3-8B79-37D633B846F1}">
                  <asvg:svgBlip xmlns:asvg="http://schemas.microsoft.com/office/drawing/2016/SVG/main" r:embed="rId13"/>
                </a:ext>
              </a:extLst>
            </a:blip>
            <a:srcRect/>
            <a:stretch/>
          </p:blipFill>
          <p:spPr>
            <a:xfrm>
              <a:off x="669755" y="2658868"/>
              <a:ext cx="327743" cy="327743"/>
            </a:xfrm>
            <a:prstGeom prst="rect">
              <a:avLst/>
            </a:prstGeom>
          </p:spPr>
        </p:pic>
      </p:grpSp>
      <p:grpSp>
        <p:nvGrpSpPr>
          <p:cNvPr id="20" name="Group 19">
            <a:extLst>
              <a:ext uri="{FF2B5EF4-FFF2-40B4-BE49-F238E27FC236}">
                <a16:creationId xmlns:a16="http://schemas.microsoft.com/office/drawing/2014/main" id="{9ED7041E-829F-A60A-5FB1-516238A1D2E9}"/>
              </a:ext>
            </a:extLst>
          </p:cNvPr>
          <p:cNvGrpSpPr/>
          <p:nvPr/>
        </p:nvGrpSpPr>
        <p:grpSpPr>
          <a:xfrm>
            <a:off x="-294764" y="2995185"/>
            <a:ext cx="5618747" cy="423333"/>
            <a:chOff x="-198522" y="2607505"/>
            <a:chExt cx="5618747" cy="423333"/>
          </a:xfrm>
        </p:grpSpPr>
        <p:graphicFrame>
          <p:nvGraphicFramePr>
            <p:cNvPr id="21" name="Diagram 20">
              <a:extLst>
                <a:ext uri="{FF2B5EF4-FFF2-40B4-BE49-F238E27FC236}">
                  <a16:creationId xmlns:a16="http://schemas.microsoft.com/office/drawing/2014/main" id="{36D75E83-FF5C-C935-409D-AF5AD2389FD3}"/>
                </a:ext>
              </a:extLst>
            </p:cNvPr>
            <p:cNvGraphicFramePr/>
            <p:nvPr>
              <p:extLst>
                <p:ext uri="{D42A27DB-BD31-4B8C-83A1-F6EECF244321}">
                  <p14:modId xmlns:p14="http://schemas.microsoft.com/office/powerpoint/2010/main" val="2887578255"/>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14" r:lo="rId15" r:qs="rId16" r:cs="rId17"/>
            </a:graphicData>
          </a:graphic>
        </p:graphicFrame>
        <p:pic>
          <p:nvPicPr>
            <p:cNvPr id="22" name="Graphic 21" descr="Pyramid with levels with solid fill">
              <a:extLst>
                <a:ext uri="{FF2B5EF4-FFF2-40B4-BE49-F238E27FC236}">
                  <a16:creationId xmlns:a16="http://schemas.microsoft.com/office/drawing/2014/main" id="{901A2132-0A24-016F-4F39-8DCBE09CEA02}"/>
                </a:ext>
              </a:extLst>
            </p:cNvPr>
            <p:cNvPicPr>
              <a:picLocks noChangeAspect="1"/>
            </p:cNvPicPr>
            <p:nvPr/>
          </p:nvPicPr>
          <p:blipFill>
            <a:blip>
              <a:extLst>
                <a:ext uri="{96DAC541-7B7A-43D3-8B79-37D633B846F1}">
                  <asvg:svgBlip xmlns:asvg="http://schemas.microsoft.com/office/drawing/2016/SVG/main" r:embed="rId19"/>
                </a:ext>
              </a:extLst>
            </a:blip>
            <a:srcRect/>
            <a:stretch/>
          </p:blipFill>
          <p:spPr>
            <a:xfrm>
              <a:off x="687806" y="2633794"/>
              <a:ext cx="327740" cy="327740"/>
            </a:xfrm>
            <a:prstGeom prst="rect">
              <a:avLst/>
            </a:prstGeom>
          </p:spPr>
        </p:pic>
      </p:grpSp>
      <p:grpSp>
        <p:nvGrpSpPr>
          <p:cNvPr id="23" name="Group 22">
            <a:extLst>
              <a:ext uri="{FF2B5EF4-FFF2-40B4-BE49-F238E27FC236}">
                <a16:creationId xmlns:a16="http://schemas.microsoft.com/office/drawing/2014/main" id="{03C98A91-4BED-C1B5-73AB-61FCE6631387}"/>
              </a:ext>
            </a:extLst>
          </p:cNvPr>
          <p:cNvGrpSpPr/>
          <p:nvPr/>
        </p:nvGrpSpPr>
        <p:grpSpPr>
          <a:xfrm>
            <a:off x="-294765" y="3551307"/>
            <a:ext cx="5618747" cy="423333"/>
            <a:chOff x="-198522" y="2607505"/>
            <a:chExt cx="5618747" cy="423333"/>
          </a:xfrm>
        </p:grpSpPr>
        <p:graphicFrame>
          <p:nvGraphicFramePr>
            <p:cNvPr id="24" name="Diagram 23">
              <a:extLst>
                <a:ext uri="{FF2B5EF4-FFF2-40B4-BE49-F238E27FC236}">
                  <a16:creationId xmlns:a16="http://schemas.microsoft.com/office/drawing/2014/main" id="{0F46017C-4305-F435-B93F-7045DA04DABE}"/>
                </a:ext>
              </a:extLst>
            </p:cNvPr>
            <p:cNvGraphicFramePr/>
            <p:nvPr>
              <p:extLst>
                <p:ext uri="{D42A27DB-BD31-4B8C-83A1-F6EECF244321}">
                  <p14:modId xmlns:p14="http://schemas.microsoft.com/office/powerpoint/2010/main" val="1668195523"/>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20" r:lo="rId21" r:qs="rId22" r:cs="rId23"/>
            </a:graphicData>
          </a:graphic>
        </p:graphicFrame>
        <p:pic>
          <p:nvPicPr>
            <p:cNvPr id="25" name="Graphic 24" descr="Presentation with bar chart with solid fill">
              <a:extLst>
                <a:ext uri="{FF2B5EF4-FFF2-40B4-BE49-F238E27FC236}">
                  <a16:creationId xmlns:a16="http://schemas.microsoft.com/office/drawing/2014/main" id="{656027CD-515B-A13A-2E23-BA6B85569E20}"/>
                </a:ext>
              </a:extLst>
            </p:cNvPr>
            <p:cNvPicPr>
              <a:picLocks noChangeAspect="1"/>
            </p:cNvPicPr>
            <p:nvPr/>
          </p:nvPicPr>
          <p:blipFill>
            <a:blip>
              <a:extLst>
                <a:ext uri="{96DAC541-7B7A-43D3-8B79-37D633B846F1}">
                  <asvg:svgBlip xmlns:asvg="http://schemas.microsoft.com/office/drawing/2016/SVG/main" r:embed="rId25"/>
                </a:ext>
              </a:extLst>
            </a:blip>
            <a:srcRect/>
            <a:stretch/>
          </p:blipFill>
          <p:spPr>
            <a:xfrm>
              <a:off x="669758" y="2633795"/>
              <a:ext cx="370974" cy="370974"/>
            </a:xfrm>
            <a:prstGeom prst="rect">
              <a:avLst/>
            </a:prstGeom>
          </p:spPr>
        </p:pic>
      </p:grpSp>
      <p:grpSp>
        <p:nvGrpSpPr>
          <p:cNvPr id="26" name="Group 25">
            <a:extLst>
              <a:ext uri="{FF2B5EF4-FFF2-40B4-BE49-F238E27FC236}">
                <a16:creationId xmlns:a16="http://schemas.microsoft.com/office/drawing/2014/main" id="{E19DDB43-1C05-46C4-2506-B9A3955FB434}"/>
              </a:ext>
            </a:extLst>
          </p:cNvPr>
          <p:cNvGrpSpPr/>
          <p:nvPr/>
        </p:nvGrpSpPr>
        <p:grpSpPr>
          <a:xfrm>
            <a:off x="-294766" y="4107429"/>
            <a:ext cx="5618747" cy="423333"/>
            <a:chOff x="-198522" y="2607505"/>
            <a:chExt cx="5618747" cy="423333"/>
          </a:xfrm>
        </p:grpSpPr>
        <p:graphicFrame>
          <p:nvGraphicFramePr>
            <p:cNvPr id="27" name="Diagram 26">
              <a:extLst>
                <a:ext uri="{FF2B5EF4-FFF2-40B4-BE49-F238E27FC236}">
                  <a16:creationId xmlns:a16="http://schemas.microsoft.com/office/drawing/2014/main" id="{CD6168ED-D330-82C5-9595-488FF4A5C602}"/>
                </a:ext>
              </a:extLst>
            </p:cNvPr>
            <p:cNvGraphicFramePr/>
            <p:nvPr>
              <p:extLst>
                <p:ext uri="{D42A27DB-BD31-4B8C-83A1-F6EECF244321}">
                  <p14:modId xmlns:p14="http://schemas.microsoft.com/office/powerpoint/2010/main" val="4126883254"/>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26" r:lo="rId27" r:qs="rId28" r:cs="rId29"/>
            </a:graphicData>
          </a:graphic>
        </p:graphicFrame>
        <p:pic>
          <p:nvPicPr>
            <p:cNvPr id="28" name="Graphic 27" descr="Palette with solid fill">
              <a:extLst>
                <a:ext uri="{FF2B5EF4-FFF2-40B4-BE49-F238E27FC236}">
                  <a16:creationId xmlns:a16="http://schemas.microsoft.com/office/drawing/2014/main" id="{0D4C87CC-39A2-02DB-5688-B3E35EC706FB}"/>
                </a:ext>
              </a:extLst>
            </p:cNvPr>
            <p:cNvPicPr>
              <a:picLocks noChangeAspect="1"/>
            </p:cNvPicPr>
            <p:nvPr/>
          </p:nvPicPr>
          <p:blipFill>
            <a:blip>
              <a:extLst>
                <a:ext uri="{96DAC541-7B7A-43D3-8B79-37D633B846F1}">
                  <asvg:svgBlip xmlns:asvg="http://schemas.microsoft.com/office/drawing/2016/SVG/main" r:embed="rId31"/>
                </a:ext>
              </a:extLst>
            </a:blip>
            <a:srcRect/>
            <a:stretch/>
          </p:blipFill>
          <p:spPr>
            <a:xfrm>
              <a:off x="669758" y="2633795"/>
              <a:ext cx="370974" cy="370974"/>
            </a:xfrm>
            <a:prstGeom prst="rect">
              <a:avLst/>
            </a:prstGeom>
          </p:spPr>
        </p:pic>
      </p:grpSp>
      <p:grpSp>
        <p:nvGrpSpPr>
          <p:cNvPr id="29" name="Group 28">
            <a:extLst>
              <a:ext uri="{FF2B5EF4-FFF2-40B4-BE49-F238E27FC236}">
                <a16:creationId xmlns:a16="http://schemas.microsoft.com/office/drawing/2014/main" id="{73680159-0872-84F9-ADD5-595B4B2500E6}"/>
              </a:ext>
            </a:extLst>
          </p:cNvPr>
          <p:cNvGrpSpPr/>
          <p:nvPr/>
        </p:nvGrpSpPr>
        <p:grpSpPr>
          <a:xfrm>
            <a:off x="-294767" y="4663551"/>
            <a:ext cx="5618747" cy="423333"/>
            <a:chOff x="-198522" y="2607505"/>
            <a:chExt cx="5618747" cy="423333"/>
          </a:xfrm>
        </p:grpSpPr>
        <p:graphicFrame>
          <p:nvGraphicFramePr>
            <p:cNvPr id="30" name="Diagram 29">
              <a:extLst>
                <a:ext uri="{FF2B5EF4-FFF2-40B4-BE49-F238E27FC236}">
                  <a16:creationId xmlns:a16="http://schemas.microsoft.com/office/drawing/2014/main" id="{D85177E6-BDFE-FC7D-34A8-E912E5F5422E}"/>
                </a:ext>
              </a:extLst>
            </p:cNvPr>
            <p:cNvGraphicFramePr/>
            <p:nvPr>
              <p:extLst>
                <p:ext uri="{D42A27DB-BD31-4B8C-83A1-F6EECF244321}">
                  <p14:modId xmlns:p14="http://schemas.microsoft.com/office/powerpoint/2010/main" val="3013702238"/>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32" r:lo="rId33" r:qs="rId34" r:cs="rId35"/>
            </a:graphicData>
          </a:graphic>
        </p:graphicFrame>
        <p:pic>
          <p:nvPicPr>
            <p:cNvPr id="31" name="Graphic 30" descr="Web design with solid fill">
              <a:extLst>
                <a:ext uri="{FF2B5EF4-FFF2-40B4-BE49-F238E27FC236}">
                  <a16:creationId xmlns:a16="http://schemas.microsoft.com/office/drawing/2014/main" id="{572C970A-18A6-B407-EA85-B11C67B7B760}"/>
                </a:ext>
              </a:extLst>
            </p:cNvPr>
            <p:cNvPicPr>
              <a:picLocks noChangeAspect="1"/>
            </p:cNvPicPr>
            <p:nvPr/>
          </p:nvPicPr>
          <p:blipFill>
            <a:blip>
              <a:extLst>
                <a:ext uri="{96DAC541-7B7A-43D3-8B79-37D633B846F1}">
                  <asvg:svgBlip xmlns:asvg="http://schemas.microsoft.com/office/drawing/2016/SVG/main" r:embed="rId37"/>
                </a:ext>
              </a:extLst>
            </a:blip>
            <a:srcRect/>
            <a:stretch/>
          </p:blipFill>
          <p:spPr>
            <a:xfrm>
              <a:off x="669758" y="2633795"/>
              <a:ext cx="370974" cy="370974"/>
            </a:xfrm>
            <a:prstGeom prst="rect">
              <a:avLst/>
            </a:prstGeom>
          </p:spPr>
        </p:pic>
      </p:grpSp>
      <p:grpSp>
        <p:nvGrpSpPr>
          <p:cNvPr id="32" name="Group 31">
            <a:extLst>
              <a:ext uri="{FF2B5EF4-FFF2-40B4-BE49-F238E27FC236}">
                <a16:creationId xmlns:a16="http://schemas.microsoft.com/office/drawing/2014/main" id="{72AC0E8C-A5B7-19BB-2E98-C047BD6E887E}"/>
              </a:ext>
            </a:extLst>
          </p:cNvPr>
          <p:cNvGrpSpPr/>
          <p:nvPr/>
        </p:nvGrpSpPr>
        <p:grpSpPr>
          <a:xfrm>
            <a:off x="3924310" y="1870787"/>
            <a:ext cx="5618747" cy="423333"/>
            <a:chOff x="-198522" y="2607505"/>
            <a:chExt cx="5618747" cy="423333"/>
          </a:xfrm>
        </p:grpSpPr>
        <p:graphicFrame>
          <p:nvGraphicFramePr>
            <p:cNvPr id="33" name="Diagram 32">
              <a:extLst>
                <a:ext uri="{FF2B5EF4-FFF2-40B4-BE49-F238E27FC236}">
                  <a16:creationId xmlns:a16="http://schemas.microsoft.com/office/drawing/2014/main" id="{26C6A44D-CC3F-28F1-1116-A1BF400868C3}"/>
                </a:ext>
              </a:extLst>
            </p:cNvPr>
            <p:cNvGraphicFramePr/>
            <p:nvPr>
              <p:extLst>
                <p:ext uri="{D42A27DB-BD31-4B8C-83A1-F6EECF244321}">
                  <p14:modId xmlns:p14="http://schemas.microsoft.com/office/powerpoint/2010/main" val="623320801"/>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38" r:lo="rId39" r:qs="rId40" r:cs="rId41"/>
            </a:graphicData>
          </a:graphic>
        </p:graphicFrame>
        <p:pic>
          <p:nvPicPr>
            <p:cNvPr id="34" name="Graphic 33" descr="Database with solid fill">
              <a:extLst>
                <a:ext uri="{FF2B5EF4-FFF2-40B4-BE49-F238E27FC236}">
                  <a16:creationId xmlns:a16="http://schemas.microsoft.com/office/drawing/2014/main" id="{1A84CA3C-AF60-C1B0-8C48-85EBC24ACDBE}"/>
                </a:ext>
              </a:extLst>
            </p:cNvPr>
            <p:cNvPicPr>
              <a:picLocks noChangeAspect="1"/>
            </p:cNvPicPr>
            <p:nvPr/>
          </p:nvPicPr>
          <p:blipFill>
            <a:blip>
              <a:extLst>
                <a:ext uri="{96DAC541-7B7A-43D3-8B79-37D633B846F1}">
                  <asvg:svgBlip xmlns:asvg="http://schemas.microsoft.com/office/drawing/2016/SVG/main" r:embed="rId43"/>
                </a:ext>
              </a:extLst>
            </a:blip>
            <a:srcRect/>
            <a:stretch/>
          </p:blipFill>
          <p:spPr>
            <a:xfrm>
              <a:off x="669758" y="2633795"/>
              <a:ext cx="370974" cy="370974"/>
            </a:xfrm>
            <a:prstGeom prst="rect">
              <a:avLst/>
            </a:prstGeom>
          </p:spPr>
        </p:pic>
      </p:grpSp>
      <p:grpSp>
        <p:nvGrpSpPr>
          <p:cNvPr id="35" name="Group 34">
            <a:extLst>
              <a:ext uri="{FF2B5EF4-FFF2-40B4-BE49-F238E27FC236}">
                <a16:creationId xmlns:a16="http://schemas.microsoft.com/office/drawing/2014/main" id="{4BBEC9B2-85F0-B89E-DA40-451E7117FF75}"/>
              </a:ext>
            </a:extLst>
          </p:cNvPr>
          <p:cNvGrpSpPr/>
          <p:nvPr/>
        </p:nvGrpSpPr>
        <p:grpSpPr>
          <a:xfrm>
            <a:off x="3924310" y="2427642"/>
            <a:ext cx="5618747" cy="423333"/>
            <a:chOff x="-198522" y="2607505"/>
            <a:chExt cx="5618747" cy="423333"/>
          </a:xfrm>
        </p:grpSpPr>
        <p:graphicFrame>
          <p:nvGraphicFramePr>
            <p:cNvPr id="36" name="Diagram 35">
              <a:extLst>
                <a:ext uri="{FF2B5EF4-FFF2-40B4-BE49-F238E27FC236}">
                  <a16:creationId xmlns:a16="http://schemas.microsoft.com/office/drawing/2014/main" id="{B14CE846-DDD8-315D-BA87-A312EA0016A3}"/>
                </a:ext>
              </a:extLst>
            </p:cNvPr>
            <p:cNvGraphicFramePr/>
            <p:nvPr>
              <p:extLst>
                <p:ext uri="{D42A27DB-BD31-4B8C-83A1-F6EECF244321}">
                  <p14:modId xmlns:p14="http://schemas.microsoft.com/office/powerpoint/2010/main" val="654961541"/>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44" r:lo="rId45" r:qs="rId46" r:cs="rId47"/>
            </a:graphicData>
          </a:graphic>
        </p:graphicFrame>
        <p:pic>
          <p:nvPicPr>
            <p:cNvPr id="37" name="Graphic 36" descr="Decision chart with solid fill">
              <a:extLst>
                <a:ext uri="{FF2B5EF4-FFF2-40B4-BE49-F238E27FC236}">
                  <a16:creationId xmlns:a16="http://schemas.microsoft.com/office/drawing/2014/main" id="{824B6F44-C22F-1D66-C31D-8B814AE53A8A}"/>
                </a:ext>
              </a:extLst>
            </p:cNvPr>
            <p:cNvPicPr>
              <a:picLocks noChangeAspect="1"/>
            </p:cNvPicPr>
            <p:nvPr/>
          </p:nvPicPr>
          <p:blipFill>
            <a:blip>
              <a:extLst>
                <a:ext uri="{96DAC541-7B7A-43D3-8B79-37D633B846F1}">
                  <asvg:svgBlip xmlns:asvg="http://schemas.microsoft.com/office/drawing/2016/SVG/main" r:embed="rId49"/>
                </a:ext>
              </a:extLst>
            </a:blip>
            <a:srcRect/>
            <a:stretch/>
          </p:blipFill>
          <p:spPr>
            <a:xfrm>
              <a:off x="687806" y="2639700"/>
              <a:ext cx="327741" cy="327741"/>
            </a:xfrm>
            <a:prstGeom prst="rect">
              <a:avLst/>
            </a:prstGeom>
          </p:spPr>
        </p:pic>
      </p:grpSp>
      <p:grpSp>
        <p:nvGrpSpPr>
          <p:cNvPr id="38" name="Group 37">
            <a:extLst>
              <a:ext uri="{FF2B5EF4-FFF2-40B4-BE49-F238E27FC236}">
                <a16:creationId xmlns:a16="http://schemas.microsoft.com/office/drawing/2014/main" id="{CE648182-3C1F-AF0E-77C9-E688C80A02B7}"/>
              </a:ext>
            </a:extLst>
          </p:cNvPr>
          <p:cNvGrpSpPr/>
          <p:nvPr/>
        </p:nvGrpSpPr>
        <p:grpSpPr>
          <a:xfrm>
            <a:off x="3924310" y="2984497"/>
            <a:ext cx="5618747" cy="423333"/>
            <a:chOff x="-198522" y="2607505"/>
            <a:chExt cx="5618747" cy="423333"/>
          </a:xfrm>
        </p:grpSpPr>
        <p:graphicFrame>
          <p:nvGraphicFramePr>
            <p:cNvPr id="39" name="Diagram 38">
              <a:extLst>
                <a:ext uri="{FF2B5EF4-FFF2-40B4-BE49-F238E27FC236}">
                  <a16:creationId xmlns:a16="http://schemas.microsoft.com/office/drawing/2014/main" id="{C7DC7392-CC1A-1E88-E714-DEC67BFD857F}"/>
                </a:ext>
              </a:extLst>
            </p:cNvPr>
            <p:cNvGraphicFramePr/>
            <p:nvPr>
              <p:extLst>
                <p:ext uri="{D42A27DB-BD31-4B8C-83A1-F6EECF244321}">
                  <p14:modId xmlns:p14="http://schemas.microsoft.com/office/powerpoint/2010/main" val="401020542"/>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50" r:lo="rId51" r:qs="rId52" r:cs="rId53"/>
            </a:graphicData>
          </a:graphic>
        </p:graphicFrame>
        <p:pic>
          <p:nvPicPr>
            <p:cNvPr id="40" name="Graphic 39" descr="Target Audience with solid fill">
              <a:extLst>
                <a:ext uri="{FF2B5EF4-FFF2-40B4-BE49-F238E27FC236}">
                  <a16:creationId xmlns:a16="http://schemas.microsoft.com/office/drawing/2014/main" id="{117B73B3-8972-56AD-549A-9CA188573D22}"/>
                </a:ext>
              </a:extLst>
            </p:cNvPr>
            <p:cNvPicPr>
              <a:picLocks noChangeAspect="1"/>
            </p:cNvPicPr>
            <p:nvPr/>
          </p:nvPicPr>
          <p:blipFill>
            <a:blip>
              <a:extLst>
                <a:ext uri="{96DAC541-7B7A-43D3-8B79-37D633B846F1}">
                  <asvg:svgBlip xmlns:asvg="http://schemas.microsoft.com/office/drawing/2016/SVG/main" r:embed="rId55"/>
                </a:ext>
              </a:extLst>
            </a:blip>
            <a:srcRect/>
            <a:stretch/>
          </p:blipFill>
          <p:spPr>
            <a:xfrm>
              <a:off x="669758" y="2633795"/>
              <a:ext cx="370974" cy="370974"/>
            </a:xfrm>
            <a:prstGeom prst="rect">
              <a:avLst/>
            </a:prstGeom>
          </p:spPr>
        </p:pic>
      </p:grpSp>
      <p:grpSp>
        <p:nvGrpSpPr>
          <p:cNvPr id="41" name="Group 40">
            <a:extLst>
              <a:ext uri="{FF2B5EF4-FFF2-40B4-BE49-F238E27FC236}">
                <a16:creationId xmlns:a16="http://schemas.microsoft.com/office/drawing/2014/main" id="{4D1C7DDC-9EA5-208C-0C3D-6E71148EAB9E}"/>
              </a:ext>
            </a:extLst>
          </p:cNvPr>
          <p:cNvGrpSpPr/>
          <p:nvPr/>
        </p:nvGrpSpPr>
        <p:grpSpPr>
          <a:xfrm>
            <a:off x="3924310" y="3541352"/>
            <a:ext cx="5618747" cy="423333"/>
            <a:chOff x="-198522" y="2607505"/>
            <a:chExt cx="5618747" cy="423333"/>
          </a:xfrm>
        </p:grpSpPr>
        <p:graphicFrame>
          <p:nvGraphicFramePr>
            <p:cNvPr id="42" name="Diagram 41">
              <a:extLst>
                <a:ext uri="{FF2B5EF4-FFF2-40B4-BE49-F238E27FC236}">
                  <a16:creationId xmlns:a16="http://schemas.microsoft.com/office/drawing/2014/main" id="{9CF8A7F8-633B-62D0-0610-377C06B2265B}"/>
                </a:ext>
              </a:extLst>
            </p:cNvPr>
            <p:cNvGraphicFramePr/>
            <p:nvPr>
              <p:extLst>
                <p:ext uri="{D42A27DB-BD31-4B8C-83A1-F6EECF244321}">
                  <p14:modId xmlns:p14="http://schemas.microsoft.com/office/powerpoint/2010/main" val="3499113263"/>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56" r:lo="rId57" r:qs="rId58" r:cs="rId59"/>
            </a:graphicData>
          </a:graphic>
        </p:graphicFrame>
        <p:pic>
          <p:nvPicPr>
            <p:cNvPr id="43" name="Graphic 42" descr="Call center with solid fill">
              <a:extLst>
                <a:ext uri="{FF2B5EF4-FFF2-40B4-BE49-F238E27FC236}">
                  <a16:creationId xmlns:a16="http://schemas.microsoft.com/office/drawing/2014/main" id="{C8C30ADB-706F-77A7-9913-45700DB9E556}"/>
                </a:ext>
              </a:extLst>
            </p:cNvPr>
            <p:cNvPicPr>
              <a:picLocks noChangeAspect="1"/>
            </p:cNvPicPr>
            <p:nvPr/>
          </p:nvPicPr>
          <p:blipFill>
            <a:blip>
              <a:extLst>
                <a:ext uri="{96DAC541-7B7A-43D3-8B79-37D633B846F1}">
                  <asvg:svgBlip xmlns:asvg="http://schemas.microsoft.com/office/drawing/2016/SVG/main" r:embed="rId61"/>
                </a:ext>
              </a:extLst>
            </a:blip>
            <a:srcRect/>
            <a:stretch/>
          </p:blipFill>
          <p:spPr>
            <a:xfrm>
              <a:off x="669758" y="2633795"/>
              <a:ext cx="370974" cy="370974"/>
            </a:xfrm>
            <a:prstGeom prst="rect">
              <a:avLst/>
            </a:prstGeom>
          </p:spPr>
        </p:pic>
      </p:grpSp>
      <p:grpSp>
        <p:nvGrpSpPr>
          <p:cNvPr id="44" name="Group 43">
            <a:extLst>
              <a:ext uri="{FF2B5EF4-FFF2-40B4-BE49-F238E27FC236}">
                <a16:creationId xmlns:a16="http://schemas.microsoft.com/office/drawing/2014/main" id="{E51D0BFB-3418-C433-5401-0E0DE84EC3E0}"/>
              </a:ext>
            </a:extLst>
          </p:cNvPr>
          <p:cNvGrpSpPr/>
          <p:nvPr/>
        </p:nvGrpSpPr>
        <p:grpSpPr>
          <a:xfrm>
            <a:off x="3924310" y="4098207"/>
            <a:ext cx="5618747" cy="423333"/>
            <a:chOff x="-198522" y="2607505"/>
            <a:chExt cx="5618747" cy="423333"/>
          </a:xfrm>
        </p:grpSpPr>
        <p:graphicFrame>
          <p:nvGraphicFramePr>
            <p:cNvPr id="45" name="Diagram 44">
              <a:extLst>
                <a:ext uri="{FF2B5EF4-FFF2-40B4-BE49-F238E27FC236}">
                  <a16:creationId xmlns:a16="http://schemas.microsoft.com/office/drawing/2014/main" id="{84FE5320-61E6-11C1-7032-EE5579A2956E}"/>
                </a:ext>
              </a:extLst>
            </p:cNvPr>
            <p:cNvGraphicFramePr/>
            <p:nvPr>
              <p:extLst>
                <p:ext uri="{D42A27DB-BD31-4B8C-83A1-F6EECF244321}">
                  <p14:modId xmlns:p14="http://schemas.microsoft.com/office/powerpoint/2010/main" val="1923114351"/>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62" r:lo="rId63" r:qs="rId64" r:cs="rId65"/>
            </a:graphicData>
          </a:graphic>
        </p:graphicFrame>
        <p:pic>
          <p:nvPicPr>
            <p:cNvPr id="46" name="Graphic 45" descr="Shield Tick with solid fill">
              <a:extLst>
                <a:ext uri="{FF2B5EF4-FFF2-40B4-BE49-F238E27FC236}">
                  <a16:creationId xmlns:a16="http://schemas.microsoft.com/office/drawing/2014/main" id="{4FDF0669-1352-DC9E-6515-A58672312855}"/>
                </a:ext>
              </a:extLst>
            </p:cNvPr>
            <p:cNvPicPr>
              <a:picLocks noChangeAspect="1"/>
            </p:cNvPicPr>
            <p:nvPr/>
          </p:nvPicPr>
          <p:blipFill>
            <a:blip>
              <a:extLst>
                <a:ext uri="{96DAC541-7B7A-43D3-8B79-37D633B846F1}">
                  <asvg:svgBlip xmlns:asvg="http://schemas.microsoft.com/office/drawing/2016/SVG/main" r:embed="rId67"/>
                </a:ext>
              </a:extLst>
            </a:blip>
            <a:srcRect/>
            <a:stretch/>
          </p:blipFill>
          <p:spPr>
            <a:xfrm>
              <a:off x="669758" y="2633795"/>
              <a:ext cx="370974" cy="370974"/>
            </a:xfrm>
            <a:prstGeom prst="rect">
              <a:avLst/>
            </a:prstGeom>
          </p:spPr>
        </p:pic>
      </p:grpSp>
      <p:grpSp>
        <p:nvGrpSpPr>
          <p:cNvPr id="47" name="Group 46">
            <a:extLst>
              <a:ext uri="{FF2B5EF4-FFF2-40B4-BE49-F238E27FC236}">
                <a16:creationId xmlns:a16="http://schemas.microsoft.com/office/drawing/2014/main" id="{FDCBB300-9331-123F-A227-ABD41C1C82B6}"/>
              </a:ext>
            </a:extLst>
          </p:cNvPr>
          <p:cNvGrpSpPr/>
          <p:nvPr/>
        </p:nvGrpSpPr>
        <p:grpSpPr>
          <a:xfrm>
            <a:off x="3924310" y="4655061"/>
            <a:ext cx="5618747" cy="423333"/>
            <a:chOff x="-198522" y="2607505"/>
            <a:chExt cx="5618747" cy="423333"/>
          </a:xfrm>
        </p:grpSpPr>
        <p:graphicFrame>
          <p:nvGraphicFramePr>
            <p:cNvPr id="48" name="Diagram 47">
              <a:extLst>
                <a:ext uri="{FF2B5EF4-FFF2-40B4-BE49-F238E27FC236}">
                  <a16:creationId xmlns:a16="http://schemas.microsoft.com/office/drawing/2014/main" id="{DBB2F973-F5B4-33F8-8519-6AEA1DF31CE8}"/>
                </a:ext>
              </a:extLst>
            </p:cNvPr>
            <p:cNvGraphicFramePr/>
            <p:nvPr>
              <p:extLst>
                <p:ext uri="{D42A27DB-BD31-4B8C-83A1-F6EECF244321}">
                  <p14:modId xmlns:p14="http://schemas.microsoft.com/office/powerpoint/2010/main" val="2022197821"/>
                </p:ext>
              </p:extLst>
            </p:nvPr>
          </p:nvGraphicFramePr>
          <p:xfrm>
            <a:off x="-198522" y="2607505"/>
            <a:ext cx="5618747" cy="423333"/>
          </p:xfrm>
          <a:graphic>
            <a:graphicData uri="http://schemas.openxmlformats.org/drawingml/2006/diagram">
              <dgm:relIds xmlns:dgm="http://schemas.openxmlformats.org/drawingml/2006/diagram" xmlns:r="http://schemas.openxmlformats.org/officeDocument/2006/relationships" r:dm="rId68" r:lo="rId69" r:qs="rId70" r:cs="rId71"/>
            </a:graphicData>
          </a:graphic>
        </p:graphicFrame>
        <p:pic>
          <p:nvPicPr>
            <p:cNvPr id="49" name="Graphic 48" descr="Chat bubble with solid fill">
              <a:extLst>
                <a:ext uri="{FF2B5EF4-FFF2-40B4-BE49-F238E27FC236}">
                  <a16:creationId xmlns:a16="http://schemas.microsoft.com/office/drawing/2014/main" id="{7A0E47B6-6852-D1D7-A56A-FA011398AC14}"/>
                </a:ext>
              </a:extLst>
            </p:cNvPr>
            <p:cNvPicPr>
              <a:picLocks noChangeAspect="1"/>
            </p:cNvPicPr>
            <p:nvPr/>
          </p:nvPicPr>
          <p:blipFill>
            <a:blip>
              <a:extLst>
                <a:ext uri="{96DAC541-7B7A-43D3-8B79-37D633B846F1}">
                  <asvg:svgBlip xmlns:asvg="http://schemas.microsoft.com/office/drawing/2016/SVG/main" r:embed="rId73"/>
                </a:ext>
              </a:extLst>
            </a:blip>
            <a:srcRect/>
            <a:stretch/>
          </p:blipFill>
          <p:spPr>
            <a:xfrm>
              <a:off x="669758" y="2633795"/>
              <a:ext cx="370974" cy="370974"/>
            </a:xfrm>
            <a:prstGeom prst="rect">
              <a:avLst/>
            </a:prstGeom>
          </p:spPr>
        </p:pic>
      </p:grpSp>
      <p:sp>
        <p:nvSpPr>
          <p:cNvPr id="50" name="TextBox 49">
            <a:extLst>
              <a:ext uri="{FF2B5EF4-FFF2-40B4-BE49-F238E27FC236}">
                <a16:creationId xmlns:a16="http://schemas.microsoft.com/office/drawing/2014/main" id="{64C2C7F5-267C-B233-24FC-7483DD4AEEAD}"/>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5</a:t>
            </a:r>
          </a:p>
        </p:txBody>
      </p:sp>
    </p:spTree>
    <p:extLst>
      <p:ext uri="{BB962C8B-B14F-4D97-AF65-F5344CB8AC3E}">
        <p14:creationId xmlns:p14="http://schemas.microsoft.com/office/powerpoint/2010/main" val="271208674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384F17-9EBE-39FB-0E54-A25D009C0127}"/>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2F5E7C9A-9B37-6462-5487-B2B4062DC83D}"/>
              </a:ext>
            </a:extLst>
          </p:cNvPr>
          <p:cNvPicPr>
            <a:picLocks noChangeAspect="1"/>
          </p:cNvPicPr>
          <p:nvPr/>
        </p:nvPicPr>
        <p:blipFill>
          <a:blip r:embed="rId2"/>
          <a:stretch>
            <a:fillRect/>
          </a:stretch>
        </p:blipFill>
        <p:spPr>
          <a:xfrm>
            <a:off x="931934" y="2027083"/>
            <a:ext cx="2023313" cy="3223522"/>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pic>
        <p:nvPicPr>
          <p:cNvPr id="10" name="Picture 9">
            <a:extLst>
              <a:ext uri="{FF2B5EF4-FFF2-40B4-BE49-F238E27FC236}">
                <a16:creationId xmlns:a16="http://schemas.microsoft.com/office/drawing/2014/main" id="{FEBAF2BF-1520-A294-914D-EF0860820B03}"/>
              </a:ext>
            </a:extLst>
          </p:cNvPr>
          <p:cNvPicPr>
            <a:picLocks noChangeAspect="1"/>
          </p:cNvPicPr>
          <p:nvPr/>
        </p:nvPicPr>
        <p:blipFill>
          <a:blip r:embed="rId3"/>
          <a:stretch>
            <a:fillRect/>
          </a:stretch>
        </p:blipFill>
        <p:spPr>
          <a:xfrm>
            <a:off x="3676179" y="2025739"/>
            <a:ext cx="2089023" cy="3224866"/>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
        <p:nvSpPr>
          <p:cNvPr id="13" name="TextBox 12">
            <a:extLst>
              <a:ext uri="{FF2B5EF4-FFF2-40B4-BE49-F238E27FC236}">
                <a16:creationId xmlns:a16="http://schemas.microsoft.com/office/drawing/2014/main" id="{76F51D43-9E89-A9F2-2546-C7BE2C6C2BD0}"/>
              </a:ext>
            </a:extLst>
          </p:cNvPr>
          <p:cNvSpPr txBox="1"/>
          <p:nvPr/>
        </p:nvSpPr>
        <p:spPr>
          <a:xfrm>
            <a:off x="416611" y="1187484"/>
            <a:ext cx="10968684" cy="938719"/>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Custom Email Template </a:t>
            </a:r>
            <a:r>
              <a:rPr lang="en-US" sz="1400" dirty="0">
                <a:solidFill>
                  <a:srgbClr val="3C8394"/>
                </a:solidFill>
                <a:latin typeface="Montserrat SemiBold" panose="00000700000000000000" pitchFamily="2" charset="0"/>
              </a:rPr>
              <a:t>Design</a:t>
            </a:r>
            <a:r>
              <a:rPr lang="en-US" sz="1400" dirty="0">
                <a:solidFill>
                  <a:srgbClr val="002060"/>
                </a:solidFill>
                <a:latin typeface="Montserrat SemiBold" panose="00000700000000000000" pitchFamily="2" charset="0"/>
              </a:rPr>
              <a:t> Examples</a:t>
            </a:r>
            <a:endParaRPr lang="en-US" sz="1400" dirty="0">
              <a:solidFill>
                <a:srgbClr val="3C8394"/>
              </a:solidFill>
              <a:latin typeface="Montserrat SemiBold" panose="00000700000000000000" pitchFamily="2" charset="0"/>
            </a:endParaRPr>
          </a:p>
          <a:p>
            <a:pPr>
              <a:spcAft>
                <a:spcPts val="1200"/>
              </a:spcAft>
            </a:pPr>
            <a:r>
              <a:rPr lang="en-US" sz="900" dirty="0">
                <a:latin typeface="Montserrat SemiBold" panose="00000700000000000000" pitchFamily="2" charset="0"/>
              </a:rPr>
              <a:t>Professionally designed templates that align with your brand and drive results.</a:t>
            </a:r>
            <a:endParaRPr lang="en-US" sz="900" dirty="0">
              <a:latin typeface="Montserrat" panose="00000500000000000000" pitchFamily="2" charset="0"/>
            </a:endParaRPr>
          </a:p>
          <a:p>
            <a:pPr marL="628650" lvl="1" indent="-171450">
              <a:buFont typeface="Arial" panose="020B0604020202020204" pitchFamily="34" charset="0"/>
              <a:buChar char="•"/>
            </a:pPr>
            <a:endParaRPr lang="en-US" sz="1200" dirty="0">
              <a:latin typeface="Montserrat SemiBold" panose="00000700000000000000" pitchFamily="2" charset="0"/>
            </a:endParaRPr>
          </a:p>
        </p:txBody>
      </p:sp>
      <p:grpSp>
        <p:nvGrpSpPr>
          <p:cNvPr id="23" name="Group 22">
            <a:extLst>
              <a:ext uri="{FF2B5EF4-FFF2-40B4-BE49-F238E27FC236}">
                <a16:creationId xmlns:a16="http://schemas.microsoft.com/office/drawing/2014/main" id="{8B49F389-50E7-7C52-C1A6-211778C9564A}"/>
              </a:ext>
            </a:extLst>
          </p:cNvPr>
          <p:cNvGrpSpPr/>
          <p:nvPr/>
        </p:nvGrpSpPr>
        <p:grpSpPr>
          <a:xfrm>
            <a:off x="5825192" y="2505198"/>
            <a:ext cx="5618747" cy="2143851"/>
            <a:chOff x="5837223" y="2126203"/>
            <a:chExt cx="5618747" cy="2143851"/>
          </a:xfrm>
        </p:grpSpPr>
        <p:graphicFrame>
          <p:nvGraphicFramePr>
            <p:cNvPr id="14" name="Diagram 13">
              <a:extLst>
                <a:ext uri="{FF2B5EF4-FFF2-40B4-BE49-F238E27FC236}">
                  <a16:creationId xmlns:a16="http://schemas.microsoft.com/office/drawing/2014/main" id="{0E4DC6DE-18E6-D58B-3FAE-7219BC4BC8FE}"/>
                </a:ext>
              </a:extLst>
            </p:cNvPr>
            <p:cNvGraphicFramePr/>
            <p:nvPr>
              <p:extLst>
                <p:ext uri="{D42A27DB-BD31-4B8C-83A1-F6EECF244321}">
                  <p14:modId xmlns:p14="http://schemas.microsoft.com/office/powerpoint/2010/main" val="1127120187"/>
                </p:ext>
              </p:extLst>
            </p:nvPr>
          </p:nvGraphicFramePr>
          <p:xfrm>
            <a:off x="5837223" y="2126203"/>
            <a:ext cx="5618747" cy="42333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5" name="Graphic 14" descr="Star with solid fill">
              <a:extLst>
                <a:ext uri="{FF2B5EF4-FFF2-40B4-BE49-F238E27FC236}">
                  <a16:creationId xmlns:a16="http://schemas.microsoft.com/office/drawing/2014/main" id="{B497117A-9C94-8267-9715-BC67800AAB6C}"/>
                </a:ext>
              </a:extLst>
            </p:cNvPr>
            <p:cNvPicPr>
              <a:picLocks noChangeAspect="1"/>
            </p:cNvPicPr>
            <p:nvPr/>
          </p:nvPicPr>
          <p:blipFill>
            <a:blip>
              <a:extLst>
                <a:ext uri="{96DAC541-7B7A-43D3-8B79-37D633B846F1}">
                  <asvg:svgBlip xmlns:asvg="http://schemas.microsoft.com/office/drawing/2016/SVG/main" r:embed="rId9"/>
                </a:ext>
              </a:extLst>
            </a:blip>
            <a:srcRect/>
            <a:stretch/>
          </p:blipFill>
          <p:spPr>
            <a:xfrm>
              <a:off x="6697320" y="2156283"/>
              <a:ext cx="370974" cy="370974"/>
            </a:xfrm>
            <a:prstGeom prst="rect">
              <a:avLst/>
            </a:prstGeom>
          </p:spPr>
        </p:pic>
        <p:graphicFrame>
          <p:nvGraphicFramePr>
            <p:cNvPr id="16" name="Diagram 15">
              <a:extLst>
                <a:ext uri="{FF2B5EF4-FFF2-40B4-BE49-F238E27FC236}">
                  <a16:creationId xmlns:a16="http://schemas.microsoft.com/office/drawing/2014/main" id="{3A6F4B33-E486-6EC5-5D6B-C97990DBE221}"/>
                </a:ext>
              </a:extLst>
            </p:cNvPr>
            <p:cNvGraphicFramePr/>
            <p:nvPr>
              <p:extLst>
                <p:ext uri="{D42A27DB-BD31-4B8C-83A1-F6EECF244321}">
                  <p14:modId xmlns:p14="http://schemas.microsoft.com/office/powerpoint/2010/main" val="2066418936"/>
                </p:ext>
              </p:extLst>
            </p:nvPr>
          </p:nvGraphicFramePr>
          <p:xfrm>
            <a:off x="5837223" y="2699709"/>
            <a:ext cx="5618747" cy="423333"/>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pic>
          <p:nvPicPr>
            <p:cNvPr id="17" name="Graphic 16" descr="Smart Phone with solid fill">
              <a:extLst>
                <a:ext uri="{FF2B5EF4-FFF2-40B4-BE49-F238E27FC236}">
                  <a16:creationId xmlns:a16="http://schemas.microsoft.com/office/drawing/2014/main" id="{DBC0698C-C382-C075-EB9B-DA8D49150BF0}"/>
                </a:ext>
              </a:extLst>
            </p:cNvPr>
            <p:cNvPicPr>
              <a:picLocks noChangeAspect="1"/>
            </p:cNvPicPr>
            <p:nvPr/>
          </p:nvPicPr>
          <p:blipFill>
            <a:blip>
              <a:extLst>
                <a:ext uri="{96DAC541-7B7A-43D3-8B79-37D633B846F1}">
                  <asvg:svgBlip xmlns:asvg="http://schemas.microsoft.com/office/drawing/2016/SVG/main" r:embed="rId15"/>
                </a:ext>
              </a:extLst>
            </a:blip>
            <a:srcRect/>
            <a:stretch/>
          </p:blipFill>
          <p:spPr>
            <a:xfrm>
              <a:off x="6733416" y="2765623"/>
              <a:ext cx="299043" cy="299043"/>
            </a:xfrm>
            <a:prstGeom prst="rect">
              <a:avLst/>
            </a:prstGeom>
          </p:spPr>
        </p:pic>
        <p:graphicFrame>
          <p:nvGraphicFramePr>
            <p:cNvPr id="19" name="Diagram 18">
              <a:extLst>
                <a:ext uri="{FF2B5EF4-FFF2-40B4-BE49-F238E27FC236}">
                  <a16:creationId xmlns:a16="http://schemas.microsoft.com/office/drawing/2014/main" id="{5E8BA861-9125-6FF8-DA04-797BBB47EC0F}"/>
                </a:ext>
              </a:extLst>
            </p:cNvPr>
            <p:cNvGraphicFramePr/>
            <p:nvPr>
              <p:extLst>
                <p:ext uri="{D42A27DB-BD31-4B8C-83A1-F6EECF244321}">
                  <p14:modId xmlns:p14="http://schemas.microsoft.com/office/powerpoint/2010/main" val="3642683996"/>
                </p:ext>
              </p:extLst>
            </p:nvPr>
          </p:nvGraphicFramePr>
          <p:xfrm>
            <a:off x="5837223" y="3273215"/>
            <a:ext cx="5618747" cy="423333"/>
          </p:xfrm>
          <a:graphic>
            <a:graphicData uri="http://schemas.openxmlformats.org/drawingml/2006/diagram">
              <dgm:relIds xmlns:dgm="http://schemas.openxmlformats.org/drawingml/2006/diagram" xmlns:r="http://schemas.openxmlformats.org/officeDocument/2006/relationships" r:dm="rId16" r:lo="rId17" r:qs="rId18" r:cs="rId19"/>
            </a:graphicData>
          </a:graphic>
        </p:graphicFrame>
        <p:pic>
          <p:nvPicPr>
            <p:cNvPr id="20" name="Graphic 19" descr="Web design with solid fill">
              <a:extLst>
                <a:ext uri="{FF2B5EF4-FFF2-40B4-BE49-F238E27FC236}">
                  <a16:creationId xmlns:a16="http://schemas.microsoft.com/office/drawing/2014/main" id="{0D5FD779-7956-5EDE-268D-BE5BEEEF2FA3}"/>
                </a:ext>
              </a:extLst>
            </p:cNvPr>
            <p:cNvPicPr>
              <a:picLocks noChangeAspect="1"/>
            </p:cNvPicPr>
            <p:nvPr/>
          </p:nvPicPr>
          <p:blipFill>
            <a:blip>
              <a:extLst>
                <a:ext uri="{96DAC541-7B7A-43D3-8B79-37D633B846F1}">
                  <asvg:svgBlip xmlns:asvg="http://schemas.microsoft.com/office/drawing/2016/SVG/main" r:embed="rId21"/>
                </a:ext>
              </a:extLst>
            </a:blip>
            <a:srcRect/>
            <a:stretch/>
          </p:blipFill>
          <p:spPr>
            <a:xfrm>
              <a:off x="6733416" y="3339129"/>
              <a:ext cx="299043" cy="299043"/>
            </a:xfrm>
            <a:prstGeom prst="rect">
              <a:avLst/>
            </a:prstGeom>
          </p:spPr>
        </p:pic>
        <p:graphicFrame>
          <p:nvGraphicFramePr>
            <p:cNvPr id="21" name="Diagram 20">
              <a:extLst>
                <a:ext uri="{FF2B5EF4-FFF2-40B4-BE49-F238E27FC236}">
                  <a16:creationId xmlns:a16="http://schemas.microsoft.com/office/drawing/2014/main" id="{736FBC6C-5345-F7C7-AA31-56DB684EE5F7}"/>
                </a:ext>
              </a:extLst>
            </p:cNvPr>
            <p:cNvGraphicFramePr/>
            <p:nvPr>
              <p:extLst>
                <p:ext uri="{D42A27DB-BD31-4B8C-83A1-F6EECF244321}">
                  <p14:modId xmlns:p14="http://schemas.microsoft.com/office/powerpoint/2010/main" val="1845141519"/>
                </p:ext>
              </p:extLst>
            </p:nvPr>
          </p:nvGraphicFramePr>
          <p:xfrm>
            <a:off x="5837223" y="3846721"/>
            <a:ext cx="5618747" cy="423333"/>
          </p:xfrm>
          <a:graphic>
            <a:graphicData uri="http://schemas.openxmlformats.org/drawingml/2006/diagram">
              <dgm:relIds xmlns:dgm="http://schemas.openxmlformats.org/drawingml/2006/diagram" xmlns:r="http://schemas.openxmlformats.org/officeDocument/2006/relationships" r:dm="rId22" r:lo="rId23" r:qs="rId24" r:cs="rId25"/>
            </a:graphicData>
          </a:graphic>
        </p:graphicFrame>
        <p:pic>
          <p:nvPicPr>
            <p:cNvPr id="22" name="Graphic 21" descr="Ui Ux with solid fill">
              <a:extLst>
                <a:ext uri="{FF2B5EF4-FFF2-40B4-BE49-F238E27FC236}">
                  <a16:creationId xmlns:a16="http://schemas.microsoft.com/office/drawing/2014/main" id="{82ACEC62-B61A-2960-EF03-9B33BDEB4B00}"/>
                </a:ext>
              </a:extLst>
            </p:cNvPr>
            <p:cNvPicPr>
              <a:picLocks noChangeAspect="1"/>
            </p:cNvPicPr>
            <p:nvPr/>
          </p:nvPicPr>
          <p:blipFill>
            <a:blip>
              <a:extLst>
                <a:ext uri="{96DAC541-7B7A-43D3-8B79-37D633B846F1}">
                  <asvg:svgBlip xmlns:asvg="http://schemas.microsoft.com/office/drawing/2016/SVG/main" r:embed="rId27"/>
                </a:ext>
              </a:extLst>
            </a:blip>
            <a:srcRect/>
            <a:stretch/>
          </p:blipFill>
          <p:spPr>
            <a:xfrm>
              <a:off x="6733416" y="3912635"/>
              <a:ext cx="299043" cy="299043"/>
            </a:xfrm>
            <a:prstGeom prst="rect">
              <a:avLst/>
            </a:prstGeom>
          </p:spPr>
        </p:pic>
      </p:grpSp>
      <p:sp>
        <p:nvSpPr>
          <p:cNvPr id="24" name="TextBox 23">
            <a:extLst>
              <a:ext uri="{FF2B5EF4-FFF2-40B4-BE49-F238E27FC236}">
                <a16:creationId xmlns:a16="http://schemas.microsoft.com/office/drawing/2014/main" id="{58E38CE3-BDB0-91CE-793D-0267613C408B}"/>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6</a:t>
            </a:r>
          </a:p>
        </p:txBody>
      </p:sp>
    </p:spTree>
    <p:extLst>
      <p:ext uri="{BB962C8B-B14F-4D97-AF65-F5344CB8AC3E}">
        <p14:creationId xmlns:p14="http://schemas.microsoft.com/office/powerpoint/2010/main" val="69317587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E03A34-9087-B143-3C15-DA6CA5C6F0A4}"/>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4C0DF6CB-F35A-1198-2F40-2EB5A26618B5}"/>
              </a:ext>
            </a:extLst>
          </p:cNvPr>
          <p:cNvSpPr txBox="1"/>
          <p:nvPr/>
        </p:nvSpPr>
        <p:spPr>
          <a:xfrm>
            <a:off x="416611" y="1187484"/>
            <a:ext cx="10968684" cy="307777"/>
          </a:xfrm>
          <a:prstGeom prst="rect">
            <a:avLst/>
          </a:prstGeom>
          <a:noFill/>
        </p:spPr>
        <p:txBody>
          <a:bodyPr wrap="square" rtlCol="0">
            <a:spAutoFit/>
          </a:bodyPr>
          <a:lstStyle/>
          <a:p>
            <a:pPr>
              <a:spcAft>
                <a:spcPts val="1200"/>
              </a:spcAft>
            </a:pPr>
            <a:r>
              <a:rPr lang="en-US" sz="1400" dirty="0">
                <a:solidFill>
                  <a:srgbClr val="3C8394"/>
                </a:solidFill>
                <a:latin typeface="Montserrat SemiBold" panose="00000700000000000000" pitchFamily="2" charset="0"/>
              </a:rPr>
              <a:t>Custom Field </a:t>
            </a:r>
            <a:r>
              <a:rPr lang="en-US" sz="1400" dirty="0">
                <a:solidFill>
                  <a:srgbClr val="002060"/>
                </a:solidFill>
                <a:latin typeface="Montserrat SemiBold" panose="00000700000000000000" pitchFamily="2" charset="0"/>
              </a:rPr>
              <a:t>&amp; Automated Journey Examples</a:t>
            </a:r>
            <a:endParaRPr lang="en-US" sz="1400" dirty="0">
              <a:solidFill>
                <a:srgbClr val="3C8394"/>
              </a:solidFill>
              <a:latin typeface="Montserrat SemiBold" panose="00000700000000000000" pitchFamily="2" charset="0"/>
            </a:endParaRPr>
          </a:p>
        </p:txBody>
      </p:sp>
      <p:sp>
        <p:nvSpPr>
          <p:cNvPr id="2" name="TextBox 1">
            <a:extLst>
              <a:ext uri="{FF2B5EF4-FFF2-40B4-BE49-F238E27FC236}">
                <a16:creationId xmlns:a16="http://schemas.microsoft.com/office/drawing/2014/main" id="{3680D828-7D93-5FDA-1DFD-8BA36D467796}"/>
              </a:ext>
            </a:extLst>
          </p:cNvPr>
          <p:cNvSpPr txBox="1"/>
          <p:nvPr/>
        </p:nvSpPr>
        <p:spPr>
          <a:xfrm>
            <a:off x="470754" y="1613251"/>
            <a:ext cx="4492272" cy="261610"/>
          </a:xfrm>
          <a:prstGeom prst="rect">
            <a:avLst/>
          </a:prstGeom>
          <a:noFill/>
        </p:spPr>
        <p:txBody>
          <a:bodyPr wrap="square" numCol="1" rtlCol="0">
            <a:spAutoFit/>
          </a:bodyPr>
          <a:lstStyle/>
          <a:p>
            <a:pPr>
              <a:spcAft>
                <a:spcPts val="1200"/>
              </a:spcAft>
            </a:pPr>
            <a:r>
              <a:rPr lang="en-US" sz="1100" dirty="0">
                <a:solidFill>
                  <a:srgbClr val="002060"/>
                </a:solidFill>
                <a:latin typeface="Montserrat SemiBold" panose="00000700000000000000" pitchFamily="2" charset="0"/>
              </a:rPr>
              <a:t>Custom Field Examples:</a:t>
            </a:r>
          </a:p>
        </p:txBody>
      </p:sp>
      <p:sp>
        <p:nvSpPr>
          <p:cNvPr id="3" name="TextBox 2">
            <a:extLst>
              <a:ext uri="{FF2B5EF4-FFF2-40B4-BE49-F238E27FC236}">
                <a16:creationId xmlns:a16="http://schemas.microsoft.com/office/drawing/2014/main" id="{22D1234B-0148-5D01-96A9-BF8A04202130}"/>
              </a:ext>
            </a:extLst>
          </p:cNvPr>
          <p:cNvSpPr txBox="1"/>
          <p:nvPr/>
        </p:nvSpPr>
        <p:spPr>
          <a:xfrm>
            <a:off x="779805" y="1997956"/>
            <a:ext cx="2442411" cy="2881173"/>
          </a:xfrm>
          <a:prstGeom prst="rect">
            <a:avLst/>
          </a:prstGeom>
          <a:noFill/>
        </p:spPr>
        <p:txBody>
          <a:bodyPr wrap="square" rtlCol="0">
            <a:spAutoFit/>
          </a:bodyPr>
          <a:lstStyle/>
          <a:p>
            <a:pPr>
              <a:lnSpc>
                <a:spcPts val="2000"/>
              </a:lnSpc>
            </a:pPr>
            <a:r>
              <a:rPr lang="en-US" sz="1000" dirty="0">
                <a:latin typeface="Montserrat SemiBold" panose="00000700000000000000" pitchFamily="2" charset="0"/>
              </a:rPr>
              <a:t>Account Open Date</a:t>
            </a:r>
          </a:p>
          <a:p>
            <a:pPr>
              <a:lnSpc>
                <a:spcPts val="2000"/>
              </a:lnSpc>
            </a:pPr>
            <a:r>
              <a:rPr lang="en-US" sz="1000" dirty="0">
                <a:latin typeface="Montserrat SemiBold" panose="00000700000000000000" pitchFamily="2" charset="0"/>
              </a:rPr>
              <a:t>Age</a:t>
            </a:r>
          </a:p>
          <a:p>
            <a:pPr>
              <a:lnSpc>
                <a:spcPts val="2000"/>
              </a:lnSpc>
            </a:pPr>
            <a:r>
              <a:rPr lang="en-US" sz="1000" dirty="0">
                <a:latin typeface="Montserrat SemiBold" panose="00000700000000000000" pitchFamily="2" charset="0"/>
              </a:rPr>
              <a:t>Birthday</a:t>
            </a:r>
          </a:p>
          <a:p>
            <a:pPr>
              <a:lnSpc>
                <a:spcPts val="2000"/>
              </a:lnSpc>
            </a:pPr>
            <a:r>
              <a:rPr lang="en-US" sz="1000" dirty="0">
                <a:latin typeface="Montserrat SemiBold" panose="00000700000000000000" pitchFamily="2" charset="0"/>
              </a:rPr>
              <a:t>Branch</a:t>
            </a:r>
          </a:p>
          <a:p>
            <a:pPr>
              <a:lnSpc>
                <a:spcPts val="2000"/>
              </a:lnSpc>
            </a:pPr>
            <a:r>
              <a:rPr lang="en-US" sz="1000" dirty="0">
                <a:latin typeface="Montserrat SemiBold" panose="00000700000000000000" pitchFamily="2" charset="0"/>
              </a:rPr>
              <a:t>Days until next loan maturity date</a:t>
            </a:r>
          </a:p>
          <a:p>
            <a:pPr>
              <a:lnSpc>
                <a:spcPts val="2000"/>
              </a:lnSpc>
            </a:pPr>
            <a:r>
              <a:rPr lang="en-US" sz="1000" dirty="0">
                <a:latin typeface="Montserrat SemiBold" panose="00000700000000000000" pitchFamily="2" charset="0"/>
              </a:rPr>
              <a:t>Debit card days inactive</a:t>
            </a:r>
          </a:p>
          <a:p>
            <a:pPr>
              <a:lnSpc>
                <a:spcPts val="2000"/>
              </a:lnSpc>
            </a:pPr>
            <a:r>
              <a:rPr lang="en-US" sz="1000" dirty="0">
                <a:latin typeface="Montserrat SemiBold" panose="00000700000000000000" pitchFamily="2" charset="0"/>
              </a:rPr>
              <a:t>Has Auto Loan</a:t>
            </a:r>
          </a:p>
          <a:p>
            <a:pPr>
              <a:lnSpc>
                <a:spcPts val="2000"/>
              </a:lnSpc>
            </a:pPr>
            <a:r>
              <a:rPr lang="en-US" sz="1000" dirty="0">
                <a:latin typeface="Montserrat SemiBold" panose="00000700000000000000" pitchFamily="2" charset="0"/>
              </a:rPr>
              <a:t>Has Checking Account</a:t>
            </a:r>
          </a:p>
          <a:p>
            <a:pPr>
              <a:lnSpc>
                <a:spcPts val="2000"/>
              </a:lnSpc>
            </a:pPr>
            <a:r>
              <a:rPr lang="en-US" sz="1000" dirty="0">
                <a:latin typeface="Montserrat SemiBold" panose="00000700000000000000" pitchFamily="2" charset="0"/>
              </a:rPr>
              <a:t>Has Credit Card</a:t>
            </a:r>
          </a:p>
          <a:p>
            <a:pPr>
              <a:lnSpc>
                <a:spcPts val="2000"/>
              </a:lnSpc>
            </a:pPr>
            <a:r>
              <a:rPr lang="en-US" sz="1000" dirty="0">
                <a:latin typeface="Montserrat SemiBold" panose="00000700000000000000" pitchFamily="2" charset="0"/>
              </a:rPr>
              <a:t>Has Debit Card</a:t>
            </a:r>
          </a:p>
          <a:p>
            <a:pPr>
              <a:lnSpc>
                <a:spcPts val="2000"/>
              </a:lnSpc>
            </a:pPr>
            <a:r>
              <a:rPr lang="en-US" sz="1000" dirty="0">
                <a:latin typeface="Montserrat SemiBold" panose="00000700000000000000" pitchFamily="2" charset="0"/>
              </a:rPr>
              <a:t>Has eStatements</a:t>
            </a:r>
          </a:p>
        </p:txBody>
      </p:sp>
      <p:sp>
        <p:nvSpPr>
          <p:cNvPr id="4" name="TextBox 3">
            <a:extLst>
              <a:ext uri="{FF2B5EF4-FFF2-40B4-BE49-F238E27FC236}">
                <a16:creationId xmlns:a16="http://schemas.microsoft.com/office/drawing/2014/main" id="{EF09FE58-A200-D301-F761-5F2FF52D6E51}"/>
              </a:ext>
            </a:extLst>
          </p:cNvPr>
          <p:cNvSpPr txBox="1"/>
          <p:nvPr/>
        </p:nvSpPr>
        <p:spPr>
          <a:xfrm>
            <a:off x="3531267" y="1997956"/>
            <a:ext cx="1927531" cy="3308598"/>
          </a:xfrm>
          <a:prstGeom prst="rect">
            <a:avLst/>
          </a:prstGeom>
          <a:noFill/>
        </p:spPr>
        <p:txBody>
          <a:bodyPr wrap="square" rtlCol="0">
            <a:spAutoFit/>
          </a:bodyPr>
          <a:lstStyle/>
          <a:p>
            <a:pPr>
              <a:lnSpc>
                <a:spcPts val="2000"/>
              </a:lnSpc>
            </a:pPr>
            <a:r>
              <a:rPr lang="en-US" sz="1000" dirty="0">
                <a:latin typeface="Montserrat SemiBold" panose="00000700000000000000" pitchFamily="2" charset="0"/>
              </a:rPr>
              <a:t>Has Lending</a:t>
            </a:r>
          </a:p>
          <a:p>
            <a:pPr>
              <a:lnSpc>
                <a:spcPts val="2000"/>
              </a:lnSpc>
            </a:pPr>
            <a:r>
              <a:rPr lang="en-US" sz="1000" dirty="0">
                <a:latin typeface="Montserrat SemiBold" panose="00000700000000000000" pitchFamily="2" charset="0"/>
              </a:rPr>
              <a:t>Recent Branch Visit</a:t>
            </a:r>
          </a:p>
          <a:p>
            <a:pPr>
              <a:lnSpc>
                <a:spcPts val="2000"/>
              </a:lnSpc>
            </a:pPr>
            <a:r>
              <a:rPr lang="en-US" sz="1000" dirty="0">
                <a:latin typeface="Montserrat SemiBold" panose="00000700000000000000" pitchFamily="2" charset="0"/>
              </a:rPr>
              <a:t>Credit Score</a:t>
            </a:r>
          </a:p>
          <a:p>
            <a:pPr>
              <a:lnSpc>
                <a:spcPts val="2000"/>
              </a:lnSpc>
            </a:pPr>
            <a:r>
              <a:rPr lang="en-US" sz="1000" dirty="0">
                <a:latin typeface="Montserrat SemiBold" panose="00000700000000000000" pitchFamily="2" charset="0"/>
              </a:rPr>
              <a:t>Total Available Credit</a:t>
            </a:r>
          </a:p>
          <a:p>
            <a:pPr>
              <a:lnSpc>
                <a:spcPts val="2000"/>
              </a:lnSpc>
            </a:pPr>
            <a:r>
              <a:rPr lang="en-US" sz="1000" dirty="0">
                <a:latin typeface="Montserrat SemiBold" panose="00000700000000000000" pitchFamily="2" charset="0"/>
              </a:rPr>
              <a:t>Aggregate Share Balance </a:t>
            </a:r>
          </a:p>
          <a:p>
            <a:pPr>
              <a:lnSpc>
                <a:spcPts val="2000"/>
              </a:lnSpc>
            </a:pPr>
            <a:r>
              <a:rPr lang="en-US" sz="1000" dirty="0">
                <a:latin typeface="Montserrat SemiBold" panose="00000700000000000000" pitchFamily="2" charset="0"/>
              </a:rPr>
              <a:t>Has Digital Banking</a:t>
            </a:r>
          </a:p>
          <a:p>
            <a:pPr>
              <a:lnSpc>
                <a:spcPts val="2000"/>
              </a:lnSpc>
            </a:pPr>
            <a:r>
              <a:rPr lang="en-US" sz="1000" dirty="0">
                <a:latin typeface="Montserrat SemiBold" panose="00000700000000000000" pitchFamily="2" charset="0"/>
              </a:rPr>
              <a:t>Next Loan Due Date</a:t>
            </a:r>
          </a:p>
          <a:p>
            <a:pPr>
              <a:lnSpc>
                <a:spcPts val="2000"/>
              </a:lnSpc>
            </a:pPr>
            <a:r>
              <a:rPr lang="en-US" sz="1000" dirty="0">
                <a:latin typeface="Montserrat SemiBold" panose="00000700000000000000" pitchFamily="2" charset="0"/>
              </a:rPr>
              <a:t>New Member</a:t>
            </a:r>
          </a:p>
          <a:p>
            <a:pPr>
              <a:lnSpc>
                <a:spcPts val="2000"/>
              </a:lnSpc>
            </a:pPr>
            <a:r>
              <a:rPr lang="en-US" sz="1000" dirty="0">
                <a:latin typeface="Montserrat SemiBold" panose="00000700000000000000" pitchFamily="2" charset="0"/>
              </a:rPr>
              <a:t>Years of Membership</a:t>
            </a:r>
          </a:p>
          <a:p>
            <a:pPr>
              <a:lnSpc>
                <a:spcPts val="2000"/>
              </a:lnSpc>
            </a:pPr>
            <a:r>
              <a:rPr lang="en-US" sz="1000" dirty="0">
                <a:latin typeface="Montserrat SemiBold" panose="00000700000000000000" pitchFamily="2" charset="0"/>
              </a:rPr>
              <a:t>Zip Code</a:t>
            </a:r>
          </a:p>
          <a:p>
            <a:pPr>
              <a:lnSpc>
                <a:spcPts val="2000"/>
              </a:lnSpc>
            </a:pPr>
            <a:r>
              <a:rPr lang="en-US" sz="1000" dirty="0">
                <a:latin typeface="Montserrat SemiBold" panose="00000700000000000000" pitchFamily="2" charset="0"/>
              </a:rPr>
              <a:t>Days loan past due</a:t>
            </a:r>
          </a:p>
          <a:p>
            <a:pPr>
              <a:lnSpc>
                <a:spcPts val="2000"/>
              </a:lnSpc>
            </a:pPr>
            <a:r>
              <a:rPr lang="en-US" sz="1000" dirty="0">
                <a:latin typeface="Montserrat SemiBold" panose="00000700000000000000" pitchFamily="2" charset="0"/>
              </a:rPr>
              <a:t>… and more</a:t>
            </a:r>
          </a:p>
          <a:p>
            <a:endParaRPr lang="en-US" sz="900" dirty="0">
              <a:latin typeface="Montserrat SemiBold" panose="00000700000000000000" pitchFamily="2" charset="0"/>
            </a:endParaRPr>
          </a:p>
        </p:txBody>
      </p:sp>
      <p:pic>
        <p:nvPicPr>
          <p:cNvPr id="7" name="Graphic 6" descr="Checkmark with solid fill">
            <a:extLst>
              <a:ext uri="{FF2B5EF4-FFF2-40B4-BE49-F238E27FC236}">
                <a16:creationId xmlns:a16="http://schemas.microsoft.com/office/drawing/2014/main" id="{B60C143D-D54A-E9EB-2943-61E0D052F0D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2128691"/>
            <a:ext cx="135478" cy="135478"/>
          </a:xfrm>
          <a:prstGeom prst="rect">
            <a:avLst/>
          </a:prstGeom>
        </p:spPr>
      </p:pic>
      <p:pic>
        <p:nvPicPr>
          <p:cNvPr id="18" name="Graphic 17" descr="Checkmark with solid fill">
            <a:extLst>
              <a:ext uri="{FF2B5EF4-FFF2-40B4-BE49-F238E27FC236}">
                <a16:creationId xmlns:a16="http://schemas.microsoft.com/office/drawing/2014/main" id="{40155BE9-6C14-2EAE-2C35-51CFEECD433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2382159"/>
            <a:ext cx="135478" cy="135478"/>
          </a:xfrm>
          <a:prstGeom prst="rect">
            <a:avLst/>
          </a:prstGeom>
        </p:spPr>
      </p:pic>
      <p:pic>
        <p:nvPicPr>
          <p:cNvPr id="24" name="Graphic 23" descr="Checkmark with solid fill">
            <a:extLst>
              <a:ext uri="{FF2B5EF4-FFF2-40B4-BE49-F238E27FC236}">
                <a16:creationId xmlns:a16="http://schemas.microsoft.com/office/drawing/2014/main" id="{56EEC83B-AC36-2481-08E8-6C4D18F95F13}"/>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2635627"/>
            <a:ext cx="135478" cy="135478"/>
          </a:xfrm>
          <a:prstGeom prst="rect">
            <a:avLst/>
          </a:prstGeom>
        </p:spPr>
      </p:pic>
      <p:pic>
        <p:nvPicPr>
          <p:cNvPr id="25" name="Graphic 24" descr="Checkmark with solid fill">
            <a:extLst>
              <a:ext uri="{FF2B5EF4-FFF2-40B4-BE49-F238E27FC236}">
                <a16:creationId xmlns:a16="http://schemas.microsoft.com/office/drawing/2014/main" id="{5EAB4E64-87BD-04F6-6FE6-9EF8EBDEA4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2873036"/>
            <a:ext cx="135478" cy="135478"/>
          </a:xfrm>
          <a:prstGeom prst="rect">
            <a:avLst/>
          </a:prstGeom>
        </p:spPr>
      </p:pic>
      <p:pic>
        <p:nvPicPr>
          <p:cNvPr id="26" name="Graphic 25" descr="Checkmark with solid fill">
            <a:extLst>
              <a:ext uri="{FF2B5EF4-FFF2-40B4-BE49-F238E27FC236}">
                <a16:creationId xmlns:a16="http://schemas.microsoft.com/office/drawing/2014/main" id="{75BDE1B2-EFB6-7009-55DD-A23DD9262EC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3131737"/>
            <a:ext cx="135478" cy="135478"/>
          </a:xfrm>
          <a:prstGeom prst="rect">
            <a:avLst/>
          </a:prstGeom>
        </p:spPr>
      </p:pic>
      <p:pic>
        <p:nvPicPr>
          <p:cNvPr id="27" name="Graphic 26" descr="Checkmark with solid fill">
            <a:extLst>
              <a:ext uri="{FF2B5EF4-FFF2-40B4-BE49-F238E27FC236}">
                <a16:creationId xmlns:a16="http://schemas.microsoft.com/office/drawing/2014/main" id="{4D02D18D-C665-FAA7-E709-9F54891BE99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3394169"/>
            <a:ext cx="135478" cy="135478"/>
          </a:xfrm>
          <a:prstGeom prst="rect">
            <a:avLst/>
          </a:prstGeom>
        </p:spPr>
      </p:pic>
      <p:pic>
        <p:nvPicPr>
          <p:cNvPr id="28" name="Graphic 27" descr="Checkmark with solid fill">
            <a:extLst>
              <a:ext uri="{FF2B5EF4-FFF2-40B4-BE49-F238E27FC236}">
                <a16:creationId xmlns:a16="http://schemas.microsoft.com/office/drawing/2014/main" id="{3F609B6F-4FB7-AE6E-C8F7-9BC2FC89898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3641856"/>
            <a:ext cx="135478" cy="135478"/>
          </a:xfrm>
          <a:prstGeom prst="rect">
            <a:avLst/>
          </a:prstGeom>
        </p:spPr>
      </p:pic>
      <p:pic>
        <p:nvPicPr>
          <p:cNvPr id="29" name="Graphic 28" descr="Checkmark with solid fill">
            <a:extLst>
              <a:ext uri="{FF2B5EF4-FFF2-40B4-BE49-F238E27FC236}">
                <a16:creationId xmlns:a16="http://schemas.microsoft.com/office/drawing/2014/main" id="{4B637E5C-86FE-071A-448C-626C9657813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3889543"/>
            <a:ext cx="135478" cy="135478"/>
          </a:xfrm>
          <a:prstGeom prst="rect">
            <a:avLst/>
          </a:prstGeom>
        </p:spPr>
      </p:pic>
      <p:pic>
        <p:nvPicPr>
          <p:cNvPr id="30" name="Graphic 29" descr="Checkmark with solid fill">
            <a:extLst>
              <a:ext uri="{FF2B5EF4-FFF2-40B4-BE49-F238E27FC236}">
                <a16:creationId xmlns:a16="http://schemas.microsoft.com/office/drawing/2014/main" id="{6A0963E6-84F1-BBC6-15B0-2383F50F7B27}"/>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4156973"/>
            <a:ext cx="135478" cy="135478"/>
          </a:xfrm>
          <a:prstGeom prst="rect">
            <a:avLst/>
          </a:prstGeom>
        </p:spPr>
      </p:pic>
      <p:pic>
        <p:nvPicPr>
          <p:cNvPr id="31" name="Graphic 30" descr="Checkmark with solid fill">
            <a:extLst>
              <a:ext uri="{FF2B5EF4-FFF2-40B4-BE49-F238E27FC236}">
                <a16:creationId xmlns:a16="http://schemas.microsoft.com/office/drawing/2014/main" id="{697FEDC3-0639-27A0-D353-8798B7790E4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4424403"/>
            <a:ext cx="135478" cy="135478"/>
          </a:xfrm>
          <a:prstGeom prst="rect">
            <a:avLst/>
          </a:prstGeom>
        </p:spPr>
      </p:pic>
      <p:pic>
        <p:nvPicPr>
          <p:cNvPr id="32" name="Graphic 31" descr="Checkmark with solid fill">
            <a:extLst>
              <a:ext uri="{FF2B5EF4-FFF2-40B4-BE49-F238E27FC236}">
                <a16:creationId xmlns:a16="http://schemas.microsoft.com/office/drawing/2014/main" id="{DA067DE2-6DC7-F755-AE7F-2572C49F9E4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683313" y="4668481"/>
            <a:ext cx="135478" cy="135478"/>
          </a:xfrm>
          <a:prstGeom prst="rect">
            <a:avLst/>
          </a:prstGeom>
        </p:spPr>
      </p:pic>
      <p:pic>
        <p:nvPicPr>
          <p:cNvPr id="33" name="Graphic 32" descr="Checkmark with solid fill">
            <a:extLst>
              <a:ext uri="{FF2B5EF4-FFF2-40B4-BE49-F238E27FC236}">
                <a16:creationId xmlns:a16="http://schemas.microsoft.com/office/drawing/2014/main" id="{5C804FD2-F0BE-3998-8EA3-1F3E2265E12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2134707"/>
            <a:ext cx="135478" cy="135478"/>
          </a:xfrm>
          <a:prstGeom prst="rect">
            <a:avLst/>
          </a:prstGeom>
        </p:spPr>
      </p:pic>
      <p:pic>
        <p:nvPicPr>
          <p:cNvPr id="34" name="Graphic 33" descr="Checkmark with solid fill">
            <a:extLst>
              <a:ext uri="{FF2B5EF4-FFF2-40B4-BE49-F238E27FC236}">
                <a16:creationId xmlns:a16="http://schemas.microsoft.com/office/drawing/2014/main" id="{BB6534AA-5B04-DF44-15E1-4A302977B815}"/>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2388175"/>
            <a:ext cx="135478" cy="135478"/>
          </a:xfrm>
          <a:prstGeom prst="rect">
            <a:avLst/>
          </a:prstGeom>
        </p:spPr>
      </p:pic>
      <p:pic>
        <p:nvPicPr>
          <p:cNvPr id="35" name="Graphic 34" descr="Checkmark with solid fill">
            <a:extLst>
              <a:ext uri="{FF2B5EF4-FFF2-40B4-BE49-F238E27FC236}">
                <a16:creationId xmlns:a16="http://schemas.microsoft.com/office/drawing/2014/main" id="{9009B733-468B-CA70-D845-317CD7842CEB}"/>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2641643"/>
            <a:ext cx="135478" cy="135478"/>
          </a:xfrm>
          <a:prstGeom prst="rect">
            <a:avLst/>
          </a:prstGeom>
        </p:spPr>
      </p:pic>
      <p:pic>
        <p:nvPicPr>
          <p:cNvPr id="36" name="Graphic 35" descr="Checkmark with solid fill">
            <a:extLst>
              <a:ext uri="{FF2B5EF4-FFF2-40B4-BE49-F238E27FC236}">
                <a16:creationId xmlns:a16="http://schemas.microsoft.com/office/drawing/2014/main" id="{04D35F1D-7CB1-2DDA-E476-9F811699CBC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2879052"/>
            <a:ext cx="135478" cy="135478"/>
          </a:xfrm>
          <a:prstGeom prst="rect">
            <a:avLst/>
          </a:prstGeom>
        </p:spPr>
      </p:pic>
      <p:pic>
        <p:nvPicPr>
          <p:cNvPr id="37" name="Graphic 36" descr="Checkmark with solid fill">
            <a:extLst>
              <a:ext uri="{FF2B5EF4-FFF2-40B4-BE49-F238E27FC236}">
                <a16:creationId xmlns:a16="http://schemas.microsoft.com/office/drawing/2014/main" id="{87531AD0-C217-CBAF-C6C8-9051561EADB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3137753"/>
            <a:ext cx="135478" cy="135478"/>
          </a:xfrm>
          <a:prstGeom prst="rect">
            <a:avLst/>
          </a:prstGeom>
        </p:spPr>
      </p:pic>
      <p:pic>
        <p:nvPicPr>
          <p:cNvPr id="38" name="Graphic 37" descr="Checkmark with solid fill">
            <a:extLst>
              <a:ext uri="{FF2B5EF4-FFF2-40B4-BE49-F238E27FC236}">
                <a16:creationId xmlns:a16="http://schemas.microsoft.com/office/drawing/2014/main" id="{C6660166-EB05-E855-7B3E-D58A670A373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3400185"/>
            <a:ext cx="135478" cy="135478"/>
          </a:xfrm>
          <a:prstGeom prst="rect">
            <a:avLst/>
          </a:prstGeom>
        </p:spPr>
      </p:pic>
      <p:pic>
        <p:nvPicPr>
          <p:cNvPr id="39" name="Graphic 38" descr="Checkmark with solid fill">
            <a:extLst>
              <a:ext uri="{FF2B5EF4-FFF2-40B4-BE49-F238E27FC236}">
                <a16:creationId xmlns:a16="http://schemas.microsoft.com/office/drawing/2014/main" id="{8F972908-DA68-5C57-40EF-2CC4D9E1316A}"/>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3647872"/>
            <a:ext cx="135478" cy="135478"/>
          </a:xfrm>
          <a:prstGeom prst="rect">
            <a:avLst/>
          </a:prstGeom>
        </p:spPr>
      </p:pic>
      <p:pic>
        <p:nvPicPr>
          <p:cNvPr id="40" name="Graphic 39" descr="Checkmark with solid fill">
            <a:extLst>
              <a:ext uri="{FF2B5EF4-FFF2-40B4-BE49-F238E27FC236}">
                <a16:creationId xmlns:a16="http://schemas.microsoft.com/office/drawing/2014/main" id="{3B463FEF-15C8-8E2D-BB9F-73232D6897EC}"/>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3895559"/>
            <a:ext cx="135478" cy="135478"/>
          </a:xfrm>
          <a:prstGeom prst="rect">
            <a:avLst/>
          </a:prstGeom>
        </p:spPr>
      </p:pic>
      <p:pic>
        <p:nvPicPr>
          <p:cNvPr id="41" name="Graphic 40" descr="Checkmark with solid fill">
            <a:extLst>
              <a:ext uri="{FF2B5EF4-FFF2-40B4-BE49-F238E27FC236}">
                <a16:creationId xmlns:a16="http://schemas.microsoft.com/office/drawing/2014/main" id="{0D6DD828-B244-4134-A5C0-3AFE68554A0D}"/>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4162989"/>
            <a:ext cx="135478" cy="135478"/>
          </a:xfrm>
          <a:prstGeom prst="rect">
            <a:avLst/>
          </a:prstGeom>
        </p:spPr>
      </p:pic>
      <p:pic>
        <p:nvPicPr>
          <p:cNvPr id="42" name="Graphic 41" descr="Checkmark with solid fill">
            <a:extLst>
              <a:ext uri="{FF2B5EF4-FFF2-40B4-BE49-F238E27FC236}">
                <a16:creationId xmlns:a16="http://schemas.microsoft.com/office/drawing/2014/main" id="{1740B645-8D4C-B406-01E9-A99B271D336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4430419"/>
            <a:ext cx="135478" cy="135478"/>
          </a:xfrm>
          <a:prstGeom prst="rect">
            <a:avLst/>
          </a:prstGeom>
        </p:spPr>
      </p:pic>
      <p:pic>
        <p:nvPicPr>
          <p:cNvPr id="43" name="Graphic 42" descr="Checkmark with solid fill">
            <a:extLst>
              <a:ext uri="{FF2B5EF4-FFF2-40B4-BE49-F238E27FC236}">
                <a16:creationId xmlns:a16="http://schemas.microsoft.com/office/drawing/2014/main" id="{98D0B298-864A-6A73-C217-107F9D6DFB1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3425869" y="4674497"/>
            <a:ext cx="135478" cy="135478"/>
          </a:xfrm>
          <a:prstGeom prst="rect">
            <a:avLst/>
          </a:prstGeom>
        </p:spPr>
      </p:pic>
      <p:cxnSp>
        <p:nvCxnSpPr>
          <p:cNvPr id="44" name="Straight Connector 43">
            <a:extLst>
              <a:ext uri="{FF2B5EF4-FFF2-40B4-BE49-F238E27FC236}">
                <a16:creationId xmlns:a16="http://schemas.microsoft.com/office/drawing/2014/main" id="{526111E0-EC03-6826-8662-C3552ABB0026}"/>
              </a:ext>
            </a:extLst>
          </p:cNvPr>
          <p:cNvCxnSpPr>
            <a:cxnSpLocks/>
          </p:cNvCxnSpPr>
          <p:nvPr/>
        </p:nvCxnSpPr>
        <p:spPr>
          <a:xfrm>
            <a:off x="5787189" y="1786689"/>
            <a:ext cx="0" cy="3970422"/>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47" name="TextBox 46">
            <a:extLst>
              <a:ext uri="{FF2B5EF4-FFF2-40B4-BE49-F238E27FC236}">
                <a16:creationId xmlns:a16="http://schemas.microsoft.com/office/drawing/2014/main" id="{06FB9604-93AD-7C04-C3F9-9A63588B93D0}"/>
              </a:ext>
            </a:extLst>
          </p:cNvPr>
          <p:cNvSpPr txBox="1"/>
          <p:nvPr/>
        </p:nvSpPr>
        <p:spPr>
          <a:xfrm>
            <a:off x="6043381" y="1613251"/>
            <a:ext cx="4492272" cy="261610"/>
          </a:xfrm>
          <a:prstGeom prst="rect">
            <a:avLst/>
          </a:prstGeom>
          <a:noFill/>
        </p:spPr>
        <p:txBody>
          <a:bodyPr wrap="square" numCol="1" rtlCol="0">
            <a:spAutoFit/>
          </a:bodyPr>
          <a:lstStyle/>
          <a:p>
            <a:pPr>
              <a:spcAft>
                <a:spcPts val="1200"/>
              </a:spcAft>
            </a:pPr>
            <a:r>
              <a:rPr lang="en-US" sz="1100" dirty="0">
                <a:solidFill>
                  <a:srgbClr val="002060"/>
                </a:solidFill>
                <a:latin typeface="Montserrat SemiBold" panose="00000700000000000000" pitchFamily="2" charset="0"/>
              </a:rPr>
              <a:t>Automated Journey Examples:</a:t>
            </a:r>
          </a:p>
        </p:txBody>
      </p:sp>
      <p:sp>
        <p:nvSpPr>
          <p:cNvPr id="48" name="TextBox 47">
            <a:extLst>
              <a:ext uri="{FF2B5EF4-FFF2-40B4-BE49-F238E27FC236}">
                <a16:creationId xmlns:a16="http://schemas.microsoft.com/office/drawing/2014/main" id="{ACF2E1EF-464A-DF76-79B1-E901D5717E35}"/>
              </a:ext>
            </a:extLst>
          </p:cNvPr>
          <p:cNvSpPr txBox="1"/>
          <p:nvPr/>
        </p:nvSpPr>
        <p:spPr>
          <a:xfrm>
            <a:off x="6043381" y="1940835"/>
            <a:ext cx="4492272" cy="1246495"/>
          </a:xfrm>
          <a:prstGeom prst="rect">
            <a:avLst/>
          </a:prstGeom>
          <a:noFill/>
        </p:spPr>
        <p:txBody>
          <a:bodyPr wrap="square" numCol="1" rtlCol="0">
            <a:spAutoFit/>
          </a:bodyPr>
          <a:lstStyle/>
          <a:p>
            <a:pPr>
              <a:spcAft>
                <a:spcPts val="1200"/>
              </a:spcAft>
            </a:pPr>
            <a:r>
              <a:rPr lang="en-US" sz="1000" dirty="0">
                <a:solidFill>
                  <a:srgbClr val="3C8394"/>
                </a:solidFill>
                <a:latin typeface="Montserrat SemiBold" panose="00000700000000000000" pitchFamily="2" charset="0"/>
              </a:rPr>
              <a:t>Basic Journeys (one email + trigger)</a:t>
            </a:r>
          </a:p>
          <a:p>
            <a:pPr marL="171450" indent="-171450">
              <a:spcAft>
                <a:spcPts val="300"/>
              </a:spcAft>
              <a:buFont typeface="Arial" panose="020B0604020202020204" pitchFamily="34" charset="0"/>
              <a:buChar char="•"/>
            </a:pPr>
            <a:r>
              <a:rPr lang="en-US" sz="900" dirty="0">
                <a:latin typeface="Montserrat SemiBold" panose="00000700000000000000" pitchFamily="2" charset="0"/>
              </a:rPr>
              <a:t>New member welcome email</a:t>
            </a:r>
          </a:p>
          <a:p>
            <a:pPr marL="171450" indent="-171450">
              <a:spcAft>
                <a:spcPts val="300"/>
              </a:spcAft>
              <a:buFont typeface="Arial" panose="020B0604020202020204" pitchFamily="34" charset="0"/>
              <a:buChar char="•"/>
            </a:pPr>
            <a:r>
              <a:rPr lang="en-US" sz="900" dirty="0">
                <a:latin typeface="Montserrat SemiBold" panose="00000700000000000000" pitchFamily="2" charset="0"/>
              </a:rPr>
              <a:t>Birthday wishes</a:t>
            </a:r>
          </a:p>
          <a:p>
            <a:pPr marL="171450" indent="-171450">
              <a:spcAft>
                <a:spcPts val="300"/>
              </a:spcAft>
              <a:buFont typeface="Arial" panose="020B0604020202020204" pitchFamily="34" charset="0"/>
              <a:buChar char="•"/>
            </a:pPr>
            <a:r>
              <a:rPr lang="en-US" sz="900" dirty="0">
                <a:latin typeface="Montserrat SemiBold" panose="00000700000000000000" pitchFamily="2" charset="0"/>
              </a:rPr>
              <a:t>Member Anniversary </a:t>
            </a:r>
          </a:p>
          <a:p>
            <a:pPr marL="171450" indent="-171450">
              <a:spcAft>
                <a:spcPts val="300"/>
              </a:spcAft>
              <a:buFont typeface="Arial" panose="020B0604020202020204" pitchFamily="34" charset="0"/>
              <a:buChar char="•"/>
            </a:pPr>
            <a:r>
              <a:rPr lang="en-US" sz="900" dirty="0">
                <a:latin typeface="Montserrat SemiBold" panose="00000700000000000000" pitchFamily="2" charset="0"/>
              </a:rPr>
              <a:t>eStatement enrollment reminder</a:t>
            </a:r>
          </a:p>
          <a:p>
            <a:pPr marL="171450" indent="-171450">
              <a:spcAft>
                <a:spcPts val="300"/>
              </a:spcAft>
              <a:buFont typeface="Arial" panose="020B0604020202020204" pitchFamily="34" charset="0"/>
              <a:buChar char="•"/>
            </a:pPr>
            <a:r>
              <a:rPr lang="en-US" sz="900" dirty="0">
                <a:latin typeface="Montserrat SemiBold" panose="00000700000000000000" pitchFamily="2" charset="0"/>
              </a:rPr>
              <a:t>Debit/credit card activation reminder</a:t>
            </a:r>
          </a:p>
        </p:txBody>
      </p:sp>
      <p:sp>
        <p:nvSpPr>
          <p:cNvPr id="49" name="TextBox 48">
            <a:extLst>
              <a:ext uri="{FF2B5EF4-FFF2-40B4-BE49-F238E27FC236}">
                <a16:creationId xmlns:a16="http://schemas.microsoft.com/office/drawing/2014/main" id="{8C566592-339A-ED84-9434-87FBD5CC0AAF}"/>
              </a:ext>
            </a:extLst>
          </p:cNvPr>
          <p:cNvSpPr txBox="1"/>
          <p:nvPr/>
        </p:nvSpPr>
        <p:spPr>
          <a:xfrm>
            <a:off x="6043381" y="3334034"/>
            <a:ext cx="5097861" cy="1246495"/>
          </a:xfrm>
          <a:prstGeom prst="rect">
            <a:avLst/>
          </a:prstGeom>
          <a:noFill/>
        </p:spPr>
        <p:txBody>
          <a:bodyPr wrap="square" numCol="1" rtlCol="0">
            <a:spAutoFit/>
          </a:bodyPr>
          <a:lstStyle/>
          <a:p>
            <a:pPr>
              <a:spcAft>
                <a:spcPts val="1200"/>
              </a:spcAft>
            </a:pPr>
            <a:r>
              <a:rPr lang="en-US" sz="1000" dirty="0">
                <a:solidFill>
                  <a:srgbClr val="3C8394"/>
                </a:solidFill>
                <a:latin typeface="Montserrat SemiBold" panose="00000700000000000000" pitchFamily="2" charset="0"/>
              </a:rPr>
              <a:t>Advanced Journeys (multi-step + variable logic + multiple variable fields)</a:t>
            </a:r>
          </a:p>
          <a:p>
            <a:pPr marL="171450" indent="-171450">
              <a:spcAft>
                <a:spcPts val="300"/>
              </a:spcAft>
              <a:buFont typeface="Arial" panose="020B0604020202020204" pitchFamily="34" charset="0"/>
              <a:buChar char="•"/>
            </a:pPr>
            <a:r>
              <a:rPr lang="en-US" sz="900" dirty="0">
                <a:latin typeface="Montserrat SemiBold" panose="00000700000000000000" pitchFamily="2" charset="0"/>
              </a:rPr>
              <a:t>New member onboarding drip campaign</a:t>
            </a:r>
          </a:p>
          <a:p>
            <a:pPr marL="171450" indent="-171450">
              <a:spcAft>
                <a:spcPts val="300"/>
              </a:spcAft>
              <a:buFont typeface="Arial" panose="020B0604020202020204" pitchFamily="34" charset="0"/>
              <a:buChar char="•"/>
            </a:pPr>
            <a:r>
              <a:rPr lang="en-US" sz="900" dirty="0">
                <a:latin typeface="Montserrat SemiBold" panose="00000700000000000000" pitchFamily="2" charset="0"/>
              </a:rPr>
              <a:t>Loan payment reminders with due date, payment amount etc.</a:t>
            </a:r>
          </a:p>
          <a:p>
            <a:pPr marL="171450" indent="-171450">
              <a:spcAft>
                <a:spcPts val="300"/>
              </a:spcAft>
              <a:buFont typeface="Arial" panose="020B0604020202020204" pitchFamily="34" charset="0"/>
              <a:buChar char="•"/>
            </a:pPr>
            <a:r>
              <a:rPr lang="en-US" sz="900" dirty="0">
                <a:latin typeface="Montserrat SemiBold" panose="00000700000000000000" pitchFamily="2" charset="0"/>
              </a:rPr>
              <a:t>New product journeys with next-best product logic</a:t>
            </a:r>
          </a:p>
          <a:p>
            <a:pPr marL="171450" indent="-171450">
              <a:spcAft>
                <a:spcPts val="300"/>
              </a:spcAft>
              <a:buFont typeface="Arial" panose="020B0604020202020204" pitchFamily="34" charset="0"/>
              <a:buChar char="•"/>
            </a:pPr>
            <a:r>
              <a:rPr lang="en-US" sz="900" dirty="0">
                <a:latin typeface="Montserrat SemiBold" panose="00000700000000000000" pitchFamily="2" charset="0"/>
              </a:rPr>
              <a:t>Member educational series</a:t>
            </a:r>
          </a:p>
          <a:p>
            <a:pPr marL="171450" indent="-171450">
              <a:spcAft>
                <a:spcPts val="300"/>
              </a:spcAft>
              <a:buFont typeface="Arial" panose="020B0604020202020204" pitchFamily="34" charset="0"/>
              <a:buChar char="•"/>
            </a:pPr>
            <a:r>
              <a:rPr lang="en-US" sz="900" dirty="0">
                <a:latin typeface="Montserrat SemiBold" panose="00000700000000000000" pitchFamily="2" charset="0"/>
              </a:rPr>
              <a:t>Auto loan maturity communications</a:t>
            </a:r>
          </a:p>
        </p:txBody>
      </p:sp>
      <p:graphicFrame>
        <p:nvGraphicFramePr>
          <p:cNvPr id="50" name="Diagram 49">
            <a:extLst>
              <a:ext uri="{FF2B5EF4-FFF2-40B4-BE49-F238E27FC236}">
                <a16:creationId xmlns:a16="http://schemas.microsoft.com/office/drawing/2014/main" id="{A3305B25-CDCA-D554-6737-39E838E954D3}"/>
              </a:ext>
            </a:extLst>
          </p:cNvPr>
          <p:cNvGraphicFramePr/>
          <p:nvPr>
            <p:extLst>
              <p:ext uri="{D42A27DB-BD31-4B8C-83A1-F6EECF244321}">
                <p14:modId xmlns:p14="http://schemas.microsoft.com/office/powerpoint/2010/main" val="1972032027"/>
              </p:ext>
            </p:extLst>
          </p:nvPr>
        </p:nvGraphicFramePr>
        <p:xfrm>
          <a:off x="-545724" y="5306554"/>
          <a:ext cx="7283407" cy="42333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4" name="Graphic 53" descr="Star with solid fill">
            <a:extLst>
              <a:ext uri="{FF2B5EF4-FFF2-40B4-BE49-F238E27FC236}">
                <a16:creationId xmlns:a16="http://schemas.microsoft.com/office/drawing/2014/main" id="{51186985-CDD5-04A8-5F23-BCDD4F8F6732}"/>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4632" y="5335809"/>
            <a:ext cx="350345" cy="350345"/>
          </a:xfrm>
          <a:prstGeom prst="rect">
            <a:avLst/>
          </a:prstGeom>
        </p:spPr>
      </p:pic>
      <p:graphicFrame>
        <p:nvGraphicFramePr>
          <p:cNvPr id="55" name="Diagram 54">
            <a:extLst>
              <a:ext uri="{FF2B5EF4-FFF2-40B4-BE49-F238E27FC236}">
                <a16:creationId xmlns:a16="http://schemas.microsoft.com/office/drawing/2014/main" id="{27E45D5E-DC3D-61B0-6980-11D8F6FE28D9}"/>
              </a:ext>
            </a:extLst>
          </p:cNvPr>
          <p:cNvGraphicFramePr/>
          <p:nvPr>
            <p:extLst>
              <p:ext uri="{D42A27DB-BD31-4B8C-83A1-F6EECF244321}">
                <p14:modId xmlns:p14="http://schemas.microsoft.com/office/powerpoint/2010/main" val="2878468191"/>
              </p:ext>
            </p:extLst>
          </p:nvPr>
        </p:nvGraphicFramePr>
        <p:xfrm>
          <a:off x="4908593" y="5267687"/>
          <a:ext cx="7283407" cy="423333"/>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pic>
        <p:nvPicPr>
          <p:cNvPr id="56" name="Graphic 55" descr="Star with solid fill">
            <a:extLst>
              <a:ext uri="{FF2B5EF4-FFF2-40B4-BE49-F238E27FC236}">
                <a16:creationId xmlns:a16="http://schemas.microsoft.com/office/drawing/2014/main" id="{C9CB5C44-0E9F-ECAE-C358-7B81D4BDBA06}"/>
              </a:ext>
            </a:extLst>
          </p:cNvPr>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6058949" y="5296942"/>
            <a:ext cx="350345" cy="350345"/>
          </a:xfrm>
          <a:prstGeom prst="rect">
            <a:avLst/>
          </a:prstGeom>
        </p:spPr>
      </p:pic>
      <p:sp>
        <p:nvSpPr>
          <p:cNvPr id="57" name="TextBox 56">
            <a:extLst>
              <a:ext uri="{FF2B5EF4-FFF2-40B4-BE49-F238E27FC236}">
                <a16:creationId xmlns:a16="http://schemas.microsoft.com/office/drawing/2014/main" id="{6E829AB0-2402-E9B5-D17E-2D69BA6EE3C9}"/>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7</a:t>
            </a:r>
          </a:p>
        </p:txBody>
      </p:sp>
    </p:spTree>
    <p:extLst>
      <p:ext uri="{BB962C8B-B14F-4D97-AF65-F5344CB8AC3E}">
        <p14:creationId xmlns:p14="http://schemas.microsoft.com/office/powerpoint/2010/main" val="179317065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E918EC-4F4C-D579-E9EC-820E72BDEAD7}"/>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2CB6631C-2657-4942-F86F-FB775BB6788B}"/>
              </a:ext>
            </a:extLst>
          </p:cNvPr>
          <p:cNvSpPr txBox="1"/>
          <p:nvPr/>
        </p:nvSpPr>
        <p:spPr>
          <a:xfrm>
            <a:off x="416611" y="1187484"/>
            <a:ext cx="10968684" cy="307777"/>
          </a:xfrm>
          <a:prstGeom prst="rect">
            <a:avLst/>
          </a:prstGeom>
          <a:noFill/>
        </p:spPr>
        <p:txBody>
          <a:bodyPr wrap="square" rtlCol="0">
            <a:spAutoFit/>
          </a:bodyPr>
          <a:lstStyle/>
          <a:p>
            <a:pPr>
              <a:spcAft>
                <a:spcPts val="1200"/>
              </a:spcAft>
            </a:pPr>
            <a:r>
              <a:rPr lang="en-US" sz="1400" dirty="0">
                <a:solidFill>
                  <a:srgbClr val="3C8394"/>
                </a:solidFill>
                <a:latin typeface="Montserrat SemiBold" panose="00000700000000000000" pitchFamily="2" charset="0"/>
              </a:rPr>
              <a:t>Subscription Pricing </a:t>
            </a:r>
            <a:r>
              <a:rPr lang="en-US" sz="1400" dirty="0">
                <a:solidFill>
                  <a:srgbClr val="002060"/>
                </a:solidFill>
                <a:latin typeface="Montserrat SemiBold" panose="00000700000000000000" pitchFamily="2" charset="0"/>
              </a:rPr>
              <a:t>&amp; Optional Professional Services</a:t>
            </a:r>
            <a:endParaRPr lang="en-US" sz="1400" dirty="0">
              <a:solidFill>
                <a:srgbClr val="3C8394"/>
              </a:solidFill>
              <a:latin typeface="Montserrat SemiBold" panose="00000700000000000000" pitchFamily="2" charset="0"/>
            </a:endParaRPr>
          </a:p>
        </p:txBody>
      </p:sp>
      <p:grpSp>
        <p:nvGrpSpPr>
          <p:cNvPr id="8" name="Group 7">
            <a:extLst>
              <a:ext uri="{FF2B5EF4-FFF2-40B4-BE49-F238E27FC236}">
                <a16:creationId xmlns:a16="http://schemas.microsoft.com/office/drawing/2014/main" id="{B2EB06FE-A122-F561-8B12-AA23E745F501}"/>
              </a:ext>
            </a:extLst>
          </p:cNvPr>
          <p:cNvGrpSpPr/>
          <p:nvPr/>
        </p:nvGrpSpPr>
        <p:grpSpPr>
          <a:xfrm>
            <a:off x="6096000" y="2205574"/>
            <a:ext cx="1987808" cy="1596406"/>
            <a:chOff x="6470392" y="1606214"/>
            <a:chExt cx="3146261" cy="3170320"/>
          </a:xfrm>
        </p:grpSpPr>
        <p:sp>
          <p:nvSpPr>
            <p:cNvPr id="17" name="Rectangle: Rounded Corners 16">
              <a:extLst>
                <a:ext uri="{FF2B5EF4-FFF2-40B4-BE49-F238E27FC236}">
                  <a16:creationId xmlns:a16="http://schemas.microsoft.com/office/drawing/2014/main" id="{CB9149A3-ADCE-0440-F46D-D23729F135AC}"/>
                </a:ext>
              </a:extLst>
            </p:cNvPr>
            <p:cNvSpPr/>
            <p:nvPr/>
          </p:nvSpPr>
          <p:spPr>
            <a:xfrm>
              <a:off x="6470394" y="1606215"/>
              <a:ext cx="3146259" cy="317031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Top Corners Rounded 18">
              <a:extLst>
                <a:ext uri="{FF2B5EF4-FFF2-40B4-BE49-F238E27FC236}">
                  <a16:creationId xmlns:a16="http://schemas.microsoft.com/office/drawing/2014/main" id="{6BBA7AE7-AA43-C85C-AFFC-1CD4F6B2AC80}"/>
                </a:ext>
              </a:extLst>
            </p:cNvPr>
            <p:cNvSpPr/>
            <p:nvPr/>
          </p:nvSpPr>
          <p:spPr>
            <a:xfrm>
              <a:off x="6470392" y="1606214"/>
              <a:ext cx="3146260" cy="555343"/>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aphicFrame>
        <p:nvGraphicFramePr>
          <p:cNvPr id="5" name="Table 4">
            <a:extLst>
              <a:ext uri="{FF2B5EF4-FFF2-40B4-BE49-F238E27FC236}">
                <a16:creationId xmlns:a16="http://schemas.microsoft.com/office/drawing/2014/main" id="{4510CB28-46A2-AA7F-D846-2986AC349C96}"/>
              </a:ext>
            </a:extLst>
          </p:cNvPr>
          <p:cNvGraphicFramePr>
            <a:graphicFrameLocks noGrp="1"/>
          </p:cNvGraphicFramePr>
          <p:nvPr>
            <p:extLst>
              <p:ext uri="{D42A27DB-BD31-4B8C-83A1-F6EECF244321}">
                <p14:modId xmlns:p14="http://schemas.microsoft.com/office/powerpoint/2010/main" val="2019996736"/>
              </p:ext>
            </p:extLst>
          </p:nvPr>
        </p:nvGraphicFramePr>
        <p:xfrm>
          <a:off x="555424" y="2161462"/>
          <a:ext cx="3775911" cy="2166366"/>
        </p:xfrm>
        <a:graphic>
          <a:graphicData uri="http://schemas.openxmlformats.org/drawingml/2006/table">
            <a:tbl>
              <a:tblPr firstRow="1" firstCol="1" bandRow="1">
                <a:tableStyleId>{5C22544A-7EE6-4342-B048-85BDC9FD1C3A}</a:tableStyleId>
              </a:tblPr>
              <a:tblGrid>
                <a:gridCol w="966539">
                  <a:extLst>
                    <a:ext uri="{9D8B030D-6E8A-4147-A177-3AD203B41FA5}">
                      <a16:colId xmlns:a16="http://schemas.microsoft.com/office/drawing/2014/main" val="4173986757"/>
                    </a:ext>
                  </a:extLst>
                </a:gridCol>
                <a:gridCol w="1465403">
                  <a:extLst>
                    <a:ext uri="{9D8B030D-6E8A-4147-A177-3AD203B41FA5}">
                      <a16:colId xmlns:a16="http://schemas.microsoft.com/office/drawing/2014/main" val="2554188998"/>
                    </a:ext>
                  </a:extLst>
                </a:gridCol>
                <a:gridCol w="1343969">
                  <a:extLst>
                    <a:ext uri="{9D8B030D-6E8A-4147-A177-3AD203B41FA5}">
                      <a16:colId xmlns:a16="http://schemas.microsoft.com/office/drawing/2014/main" val="315922129"/>
                    </a:ext>
                  </a:extLst>
                </a:gridCol>
              </a:tblGrid>
              <a:tr h="0">
                <a:tc>
                  <a:txBody>
                    <a:bodyPr/>
                    <a:lstStyle/>
                    <a:p>
                      <a:pPr marL="0" marR="0" algn="ctr">
                        <a:lnSpc>
                          <a:spcPct val="115000"/>
                        </a:lnSpc>
                        <a:spcAft>
                          <a:spcPts val="800"/>
                        </a:spcAft>
                        <a:buNone/>
                      </a:pPr>
                      <a:r>
                        <a:rPr lang="en-US" sz="900" kern="100" dirty="0">
                          <a:effectLst/>
                          <a:latin typeface="Montserrat SemiBold" panose="00000700000000000000" pitchFamily="2" charset="0"/>
                          <a:ea typeface="Aptos" panose="020B0004020202020204" pitchFamily="34" charset="0"/>
                          <a:cs typeface="Times New Roman" panose="02020603050405020304" pitchFamily="18" charset="0"/>
                        </a:rPr>
                        <a:t>Tier</a:t>
                      </a:r>
                    </a:p>
                  </a:txBody>
                  <a:tcPr marL="45720" marR="45720" marB="73025" anchor="ctr">
                    <a:solidFill>
                      <a:srgbClr val="2F6673"/>
                    </a:solidFill>
                  </a:tcPr>
                </a:tc>
                <a:tc>
                  <a:txBody>
                    <a:bodyPr/>
                    <a:lstStyle/>
                    <a:p>
                      <a:pPr marL="0" marR="0" algn="ctr">
                        <a:lnSpc>
                          <a:spcPct val="115000"/>
                        </a:lnSpc>
                        <a:spcAft>
                          <a:spcPts val="0"/>
                        </a:spcAft>
                        <a:buNone/>
                      </a:pPr>
                      <a:r>
                        <a:rPr lang="en-US" sz="900" kern="100" dirty="0">
                          <a:effectLst/>
                          <a:latin typeface="Montserrat SemiBold" panose="00000700000000000000" pitchFamily="2" charset="0"/>
                        </a:rPr>
                        <a:t>Total  </a:t>
                      </a:r>
                    </a:p>
                    <a:p>
                      <a:pPr marL="0" marR="0" algn="ctr">
                        <a:lnSpc>
                          <a:spcPct val="115000"/>
                        </a:lnSpc>
                        <a:spcAft>
                          <a:spcPts val="0"/>
                        </a:spcAft>
                        <a:buNone/>
                      </a:pPr>
                      <a:r>
                        <a:rPr lang="en-US" sz="900" kern="100" dirty="0">
                          <a:effectLst/>
                          <a:latin typeface="Montserrat SemiBold" panose="00000700000000000000" pitchFamily="2" charset="0"/>
                        </a:rPr>
                        <a:t>Subscriber Count</a:t>
                      </a:r>
                      <a:endParaRPr lang="en-US" sz="9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rgbClr val="2F6673"/>
                    </a:solidFill>
                  </a:tcPr>
                </a:tc>
                <a:tc>
                  <a:txBody>
                    <a:bodyPr/>
                    <a:lstStyle/>
                    <a:p>
                      <a:pPr marL="0" marR="0" algn="ctr">
                        <a:lnSpc>
                          <a:spcPct val="115000"/>
                        </a:lnSpc>
                        <a:spcAft>
                          <a:spcPts val="800"/>
                        </a:spcAft>
                        <a:buNone/>
                      </a:pPr>
                      <a:r>
                        <a:rPr lang="en-US" sz="900" kern="100" dirty="0">
                          <a:effectLst/>
                          <a:latin typeface="Montserrat SemiBold" panose="00000700000000000000" pitchFamily="2" charset="0"/>
                        </a:rPr>
                        <a:t>Monthly Subscription Cost</a:t>
                      </a:r>
                      <a:endParaRPr lang="en-US" sz="9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rgbClr val="2F6673"/>
                    </a:solidFill>
                  </a:tcPr>
                </a:tc>
                <a:extLst>
                  <a:ext uri="{0D108BD9-81ED-4DB2-BD59-A6C34878D82A}">
                    <a16:rowId xmlns:a16="http://schemas.microsoft.com/office/drawing/2014/main" val="3270986749"/>
                  </a:ext>
                </a:extLst>
              </a:tr>
              <a:tr h="0">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1</a:t>
                      </a: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rPr>
                        <a:t>2,500 – 4,999</a:t>
                      </a: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rPr>
                        <a:t>$59.54</a:t>
                      </a: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extLst>
                  <a:ext uri="{0D108BD9-81ED-4DB2-BD59-A6C34878D82A}">
                    <a16:rowId xmlns:a16="http://schemas.microsoft.com/office/drawing/2014/main" val="740673673"/>
                  </a:ext>
                </a:extLst>
              </a:tr>
              <a:tr h="0">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2</a:t>
                      </a: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rPr>
                        <a:t>5,000 – 9,999</a:t>
                      </a: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rPr>
                        <a:t>$108.14</a:t>
                      </a: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extLst>
                  <a:ext uri="{0D108BD9-81ED-4DB2-BD59-A6C34878D82A}">
                    <a16:rowId xmlns:a16="http://schemas.microsoft.com/office/drawing/2014/main" val="887897822"/>
                  </a:ext>
                </a:extLst>
              </a:tr>
              <a:tr h="0">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3</a:t>
                      </a: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rPr>
                        <a:t>10,000 – 14,999</a:t>
                      </a: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rPr>
                        <a:t>$156.74</a:t>
                      </a: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extLst>
                  <a:ext uri="{0D108BD9-81ED-4DB2-BD59-A6C34878D82A}">
                    <a16:rowId xmlns:a16="http://schemas.microsoft.com/office/drawing/2014/main" val="4143186684"/>
                  </a:ext>
                </a:extLst>
              </a:tr>
              <a:tr h="0">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4</a:t>
                      </a: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rPr>
                        <a:t>15,000 – 24,999</a:t>
                      </a: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rPr>
                        <a:t>$241.79</a:t>
                      </a: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extLst>
                  <a:ext uri="{0D108BD9-81ED-4DB2-BD59-A6C34878D82A}">
                    <a16:rowId xmlns:a16="http://schemas.microsoft.com/office/drawing/2014/main" val="3794730557"/>
                  </a:ext>
                </a:extLst>
              </a:tr>
              <a:tr h="0">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5</a:t>
                      </a: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rPr>
                        <a:t>25,000 – 49,999</a:t>
                      </a: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rPr>
                        <a:t>$363.29</a:t>
                      </a: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extLst>
                  <a:ext uri="{0D108BD9-81ED-4DB2-BD59-A6C34878D82A}">
                    <a16:rowId xmlns:a16="http://schemas.microsoft.com/office/drawing/2014/main" val="1476358126"/>
                  </a:ext>
                </a:extLst>
              </a:tr>
              <a:tr h="0">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6</a:t>
                      </a: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rPr>
                        <a:t>50,000 – 74,999</a:t>
                      </a: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rPr>
                        <a:t>$545.54</a:t>
                      </a: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extLst>
                  <a:ext uri="{0D108BD9-81ED-4DB2-BD59-A6C34878D82A}">
                    <a16:rowId xmlns:a16="http://schemas.microsoft.com/office/drawing/2014/main" val="4199312584"/>
                  </a:ext>
                </a:extLst>
              </a:tr>
              <a:tr h="0">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7</a:t>
                      </a: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rPr>
                        <a:t>75,000+</a:t>
                      </a: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rPr>
                        <a:t>Ask for custom pricing</a:t>
                      </a: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accent3">
                        <a:lumMod val="20000"/>
                        <a:lumOff val="80000"/>
                      </a:schemeClr>
                    </a:solidFill>
                  </a:tcPr>
                </a:tc>
                <a:extLst>
                  <a:ext uri="{0D108BD9-81ED-4DB2-BD59-A6C34878D82A}">
                    <a16:rowId xmlns:a16="http://schemas.microsoft.com/office/drawing/2014/main" val="2073593134"/>
                  </a:ext>
                </a:extLst>
              </a:tr>
            </a:tbl>
          </a:graphicData>
        </a:graphic>
      </p:graphicFrame>
      <p:sp>
        <p:nvSpPr>
          <p:cNvPr id="6" name="Rectangle 5">
            <a:extLst>
              <a:ext uri="{FF2B5EF4-FFF2-40B4-BE49-F238E27FC236}">
                <a16:creationId xmlns:a16="http://schemas.microsoft.com/office/drawing/2014/main" id="{99C0DBD4-D91F-7C4F-8722-39ACC538EC35}"/>
              </a:ext>
            </a:extLst>
          </p:cNvPr>
          <p:cNvSpPr/>
          <p:nvPr/>
        </p:nvSpPr>
        <p:spPr>
          <a:xfrm>
            <a:off x="528112" y="4403219"/>
            <a:ext cx="3830533" cy="947119"/>
          </a:xfrm>
          <a:prstGeom prst="rect">
            <a:avLst/>
          </a:prstGeom>
        </p:spPr>
        <p:txBody>
          <a:bodyPr wrap="square">
            <a:spAutoFit/>
          </a:bodyPr>
          <a:lstStyle/>
          <a:p>
            <a:pPr>
              <a:lnSpc>
                <a:spcPts val="1700"/>
              </a:lnSpc>
            </a:pPr>
            <a:r>
              <a:rPr lang="en-US" sz="1000" b="1" dirty="0">
                <a:latin typeface="Montserrat SemiBold" panose="00000700000000000000" pitchFamily="2" charset="0"/>
              </a:rPr>
              <a:t>Email Platform Subscription:</a:t>
            </a:r>
          </a:p>
          <a:p>
            <a:pPr>
              <a:lnSpc>
                <a:spcPts val="1700"/>
              </a:lnSpc>
            </a:pPr>
            <a:r>
              <a:rPr lang="en-US" sz="900" b="1" dirty="0">
                <a:solidFill>
                  <a:srgbClr val="76BD22"/>
                </a:solidFill>
                <a:latin typeface="Montserrat" panose="00000500000000000000" pitchFamily="50" charset="0"/>
              </a:rPr>
              <a:t>{{</a:t>
            </a:r>
            <a:r>
              <a:rPr lang="en-US" sz="900" b="1" dirty="0" err="1">
                <a:solidFill>
                  <a:srgbClr val="76BD22"/>
                </a:solidFill>
                <a:latin typeface="Montserrat" panose="00000500000000000000" pitchFamily="50" charset="0"/>
              </a:rPr>
              <a:t>total_subscribers</a:t>
            </a:r>
            <a:r>
              <a:rPr lang="en-US" sz="900" b="1" dirty="0">
                <a:solidFill>
                  <a:srgbClr val="76BD22"/>
                </a:solidFill>
                <a:latin typeface="Montserrat" panose="00000500000000000000" pitchFamily="50" charset="0"/>
              </a:rPr>
              <a:t>}}</a:t>
            </a:r>
            <a:r>
              <a:rPr lang="en-US" sz="900" dirty="0">
                <a:solidFill>
                  <a:srgbClr val="76BD22"/>
                </a:solidFill>
                <a:latin typeface="Montserrat" panose="00000500000000000000" pitchFamily="50" charset="0"/>
              </a:rPr>
              <a:t> </a:t>
            </a:r>
            <a:r>
              <a:rPr lang="en-US" sz="900" dirty="0">
                <a:latin typeface="Montserrat" panose="00000500000000000000" pitchFamily="50" charset="0"/>
              </a:rPr>
              <a:t>total subscribers @ </a:t>
            </a:r>
            <a:r>
              <a:rPr lang="en-US" sz="900" b="1" dirty="0">
                <a:solidFill>
                  <a:srgbClr val="76BD22"/>
                </a:solidFill>
                <a:latin typeface="Montserrat" panose="00000500000000000000" pitchFamily="50" charset="0"/>
              </a:rPr>
              <a:t>{{</a:t>
            </a:r>
            <a:r>
              <a:rPr lang="en-US" sz="900" b="1" dirty="0" err="1">
                <a:solidFill>
                  <a:srgbClr val="76BD22"/>
                </a:solidFill>
                <a:latin typeface="Montserrat" panose="00000500000000000000" pitchFamily="50" charset="0"/>
              </a:rPr>
              <a:t>tier_cost</a:t>
            </a:r>
            <a:r>
              <a:rPr lang="en-US" sz="900" b="1" dirty="0">
                <a:solidFill>
                  <a:srgbClr val="76BD22"/>
                </a:solidFill>
                <a:latin typeface="Montserrat" panose="00000500000000000000" pitchFamily="50" charset="0"/>
              </a:rPr>
              <a:t>}}</a:t>
            </a:r>
            <a:r>
              <a:rPr lang="en-US" sz="900" dirty="0">
                <a:latin typeface="Montserrat" panose="00000500000000000000" pitchFamily="50" charset="0"/>
              </a:rPr>
              <a:t>/month*</a:t>
            </a:r>
          </a:p>
          <a:p>
            <a:pPr marL="171450" indent="-171450">
              <a:lnSpc>
                <a:spcPts val="1700"/>
              </a:lnSpc>
              <a:buFont typeface="Wingdings" pitchFamily="2" charset="2"/>
              <a:buChar char="ü"/>
            </a:pPr>
            <a:endParaRPr lang="en-US" sz="900" dirty="0">
              <a:latin typeface="Montserrat" panose="00000500000000000000" pitchFamily="50" charset="0"/>
            </a:endParaRPr>
          </a:p>
          <a:p>
            <a:pPr>
              <a:lnSpc>
                <a:spcPts val="1700"/>
              </a:lnSpc>
            </a:pPr>
            <a:endParaRPr lang="en-US" sz="1100" dirty="0">
              <a:latin typeface="Avenir LT Std 55 Roman" panose="020B0503020203020204" pitchFamily="34" charset="0"/>
            </a:endParaRPr>
          </a:p>
        </p:txBody>
      </p:sp>
      <p:sp>
        <p:nvSpPr>
          <p:cNvPr id="9" name="TextBox 8">
            <a:extLst>
              <a:ext uri="{FF2B5EF4-FFF2-40B4-BE49-F238E27FC236}">
                <a16:creationId xmlns:a16="http://schemas.microsoft.com/office/drawing/2014/main" id="{B1578A3B-49B7-3DD0-24D6-AE8E0FAC9C31}"/>
              </a:ext>
            </a:extLst>
          </p:cNvPr>
          <p:cNvSpPr txBox="1"/>
          <p:nvPr/>
        </p:nvSpPr>
        <p:spPr>
          <a:xfrm>
            <a:off x="5997258" y="1719612"/>
            <a:ext cx="4492272" cy="261610"/>
          </a:xfrm>
          <a:prstGeom prst="rect">
            <a:avLst/>
          </a:prstGeom>
          <a:noFill/>
        </p:spPr>
        <p:txBody>
          <a:bodyPr wrap="square" numCol="1" rtlCol="0">
            <a:spAutoFit/>
          </a:bodyPr>
          <a:lstStyle/>
          <a:p>
            <a:pPr>
              <a:spcAft>
                <a:spcPts val="1200"/>
              </a:spcAft>
            </a:pPr>
            <a:r>
              <a:rPr lang="en-US" sz="1100" dirty="0">
                <a:solidFill>
                  <a:srgbClr val="002060"/>
                </a:solidFill>
                <a:latin typeface="Montserrat SemiBold" panose="00000700000000000000" pitchFamily="2" charset="0"/>
              </a:rPr>
              <a:t>Optional Professional Services:</a:t>
            </a:r>
          </a:p>
        </p:txBody>
      </p:sp>
      <p:cxnSp>
        <p:nvCxnSpPr>
          <p:cNvPr id="10" name="Straight Connector 9">
            <a:extLst>
              <a:ext uri="{FF2B5EF4-FFF2-40B4-BE49-F238E27FC236}">
                <a16:creationId xmlns:a16="http://schemas.microsoft.com/office/drawing/2014/main" id="{0AD8AFBE-BAD6-3E02-ED93-B74BE35CBD1B}"/>
              </a:ext>
            </a:extLst>
          </p:cNvPr>
          <p:cNvCxnSpPr>
            <a:cxnSpLocks/>
          </p:cNvCxnSpPr>
          <p:nvPr/>
        </p:nvCxnSpPr>
        <p:spPr>
          <a:xfrm>
            <a:off x="5787189" y="1786689"/>
            <a:ext cx="0" cy="3970422"/>
          </a:xfrm>
          <a:prstGeom prst="line">
            <a:avLst/>
          </a:prstGeom>
          <a:ln w="9525">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1B340DD8-AB08-4680-E7ED-08F2173C1A71}"/>
              </a:ext>
            </a:extLst>
          </p:cNvPr>
          <p:cNvSpPr txBox="1"/>
          <p:nvPr/>
        </p:nvSpPr>
        <p:spPr>
          <a:xfrm>
            <a:off x="500802" y="1719612"/>
            <a:ext cx="4492272" cy="261610"/>
          </a:xfrm>
          <a:prstGeom prst="rect">
            <a:avLst/>
          </a:prstGeom>
          <a:noFill/>
        </p:spPr>
        <p:txBody>
          <a:bodyPr wrap="square" numCol="1" rtlCol="0">
            <a:spAutoFit/>
          </a:bodyPr>
          <a:lstStyle/>
          <a:p>
            <a:pPr>
              <a:spcAft>
                <a:spcPts val="1200"/>
              </a:spcAft>
            </a:pPr>
            <a:r>
              <a:rPr lang="en-US" sz="1100" dirty="0">
                <a:solidFill>
                  <a:srgbClr val="002060"/>
                </a:solidFill>
                <a:latin typeface="Montserrat SemiBold" panose="00000700000000000000" pitchFamily="2" charset="0"/>
              </a:rPr>
              <a:t>Monthly Subscription Pricing Tiers:</a:t>
            </a:r>
          </a:p>
        </p:txBody>
      </p:sp>
      <p:grpSp>
        <p:nvGrpSpPr>
          <p:cNvPr id="22" name="Group 21">
            <a:extLst>
              <a:ext uri="{FF2B5EF4-FFF2-40B4-BE49-F238E27FC236}">
                <a16:creationId xmlns:a16="http://schemas.microsoft.com/office/drawing/2014/main" id="{334F805A-36A4-DF3F-A152-21BACA6DA8BB}"/>
              </a:ext>
            </a:extLst>
          </p:cNvPr>
          <p:cNvGrpSpPr/>
          <p:nvPr/>
        </p:nvGrpSpPr>
        <p:grpSpPr>
          <a:xfrm>
            <a:off x="8570495" y="2205574"/>
            <a:ext cx="1987808" cy="1596406"/>
            <a:chOff x="6470392" y="1606214"/>
            <a:chExt cx="3146261" cy="3170320"/>
          </a:xfrm>
        </p:grpSpPr>
        <p:sp>
          <p:nvSpPr>
            <p:cNvPr id="23" name="Rectangle: Rounded Corners 22">
              <a:extLst>
                <a:ext uri="{FF2B5EF4-FFF2-40B4-BE49-F238E27FC236}">
                  <a16:creationId xmlns:a16="http://schemas.microsoft.com/office/drawing/2014/main" id="{1D52B587-12AB-F4F7-E163-ACBD71FA3899}"/>
                </a:ext>
              </a:extLst>
            </p:cNvPr>
            <p:cNvSpPr/>
            <p:nvPr/>
          </p:nvSpPr>
          <p:spPr>
            <a:xfrm>
              <a:off x="6470394" y="1606215"/>
              <a:ext cx="3146259" cy="317031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Top Corners Rounded 44">
              <a:extLst>
                <a:ext uri="{FF2B5EF4-FFF2-40B4-BE49-F238E27FC236}">
                  <a16:creationId xmlns:a16="http://schemas.microsoft.com/office/drawing/2014/main" id="{90108867-F298-E63C-3A0E-BB8C1221EE35}"/>
                </a:ext>
              </a:extLst>
            </p:cNvPr>
            <p:cNvSpPr/>
            <p:nvPr/>
          </p:nvSpPr>
          <p:spPr>
            <a:xfrm>
              <a:off x="6470392" y="1606214"/>
              <a:ext cx="3146260" cy="555343"/>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46" name="Group 45">
            <a:extLst>
              <a:ext uri="{FF2B5EF4-FFF2-40B4-BE49-F238E27FC236}">
                <a16:creationId xmlns:a16="http://schemas.microsoft.com/office/drawing/2014/main" id="{B250F472-E5FB-72B9-1CB5-0ED1625A3C45}"/>
              </a:ext>
            </a:extLst>
          </p:cNvPr>
          <p:cNvGrpSpPr/>
          <p:nvPr/>
        </p:nvGrpSpPr>
        <p:grpSpPr>
          <a:xfrm>
            <a:off x="6095999" y="4026333"/>
            <a:ext cx="1987808" cy="1596406"/>
            <a:chOff x="6470392" y="1606214"/>
            <a:chExt cx="3146261" cy="3170320"/>
          </a:xfrm>
        </p:grpSpPr>
        <p:sp>
          <p:nvSpPr>
            <p:cNvPr id="51" name="Rectangle: Rounded Corners 50">
              <a:extLst>
                <a:ext uri="{FF2B5EF4-FFF2-40B4-BE49-F238E27FC236}">
                  <a16:creationId xmlns:a16="http://schemas.microsoft.com/office/drawing/2014/main" id="{31F72DCF-B4E4-E5C5-2274-C4155D2D330A}"/>
                </a:ext>
              </a:extLst>
            </p:cNvPr>
            <p:cNvSpPr/>
            <p:nvPr/>
          </p:nvSpPr>
          <p:spPr>
            <a:xfrm>
              <a:off x="6470394" y="1606215"/>
              <a:ext cx="3146259" cy="317031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Top Corners Rounded 51">
              <a:extLst>
                <a:ext uri="{FF2B5EF4-FFF2-40B4-BE49-F238E27FC236}">
                  <a16:creationId xmlns:a16="http://schemas.microsoft.com/office/drawing/2014/main" id="{DEDC26A4-3002-B3CF-8D37-4466C2B0F220}"/>
                </a:ext>
              </a:extLst>
            </p:cNvPr>
            <p:cNvSpPr/>
            <p:nvPr/>
          </p:nvSpPr>
          <p:spPr>
            <a:xfrm>
              <a:off x="6470392" y="1606214"/>
              <a:ext cx="3146260" cy="555343"/>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53" name="Group 52">
            <a:extLst>
              <a:ext uri="{FF2B5EF4-FFF2-40B4-BE49-F238E27FC236}">
                <a16:creationId xmlns:a16="http://schemas.microsoft.com/office/drawing/2014/main" id="{67D1A59A-A04D-1DB5-3811-35BAF0EC3CE4}"/>
              </a:ext>
            </a:extLst>
          </p:cNvPr>
          <p:cNvGrpSpPr/>
          <p:nvPr/>
        </p:nvGrpSpPr>
        <p:grpSpPr>
          <a:xfrm>
            <a:off x="8596321" y="4026333"/>
            <a:ext cx="1987808" cy="1596406"/>
            <a:chOff x="6470392" y="1606214"/>
            <a:chExt cx="3146261" cy="3170320"/>
          </a:xfrm>
        </p:grpSpPr>
        <p:sp>
          <p:nvSpPr>
            <p:cNvPr id="57" name="Rectangle: Rounded Corners 56">
              <a:extLst>
                <a:ext uri="{FF2B5EF4-FFF2-40B4-BE49-F238E27FC236}">
                  <a16:creationId xmlns:a16="http://schemas.microsoft.com/office/drawing/2014/main" id="{5B3F9A08-CE79-4622-0714-9005889C2D8E}"/>
                </a:ext>
              </a:extLst>
            </p:cNvPr>
            <p:cNvSpPr/>
            <p:nvPr/>
          </p:nvSpPr>
          <p:spPr>
            <a:xfrm>
              <a:off x="6470394" y="1606215"/>
              <a:ext cx="3146259" cy="317031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8" name="Rectangle: Top Corners Rounded 57">
              <a:extLst>
                <a:ext uri="{FF2B5EF4-FFF2-40B4-BE49-F238E27FC236}">
                  <a16:creationId xmlns:a16="http://schemas.microsoft.com/office/drawing/2014/main" id="{DAFA3883-A982-B8A7-1DE0-57B94B1DDB38}"/>
                </a:ext>
              </a:extLst>
            </p:cNvPr>
            <p:cNvSpPr/>
            <p:nvPr/>
          </p:nvSpPr>
          <p:spPr>
            <a:xfrm>
              <a:off x="6470392" y="1606214"/>
              <a:ext cx="3146260" cy="555343"/>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9" name="TextBox 58">
            <a:extLst>
              <a:ext uri="{FF2B5EF4-FFF2-40B4-BE49-F238E27FC236}">
                <a16:creationId xmlns:a16="http://schemas.microsoft.com/office/drawing/2014/main" id="{B5B4D3F4-81FE-AFD5-0FA7-CFC8FDB36009}"/>
              </a:ext>
            </a:extLst>
          </p:cNvPr>
          <p:cNvSpPr txBox="1"/>
          <p:nvPr/>
        </p:nvSpPr>
        <p:spPr>
          <a:xfrm>
            <a:off x="6095998" y="2237672"/>
            <a:ext cx="1987808"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Custom Fields Programming</a:t>
            </a:r>
          </a:p>
        </p:txBody>
      </p:sp>
      <p:sp>
        <p:nvSpPr>
          <p:cNvPr id="60" name="TextBox 59">
            <a:extLst>
              <a:ext uri="{FF2B5EF4-FFF2-40B4-BE49-F238E27FC236}">
                <a16:creationId xmlns:a16="http://schemas.microsoft.com/office/drawing/2014/main" id="{069C8712-FE3B-A3ED-D364-F21C98277C92}"/>
              </a:ext>
            </a:extLst>
          </p:cNvPr>
          <p:cNvSpPr txBox="1"/>
          <p:nvPr/>
        </p:nvSpPr>
        <p:spPr>
          <a:xfrm>
            <a:off x="8570492" y="2237672"/>
            <a:ext cx="2013635"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Automated Journey Configuration</a:t>
            </a:r>
          </a:p>
        </p:txBody>
      </p:sp>
      <p:sp>
        <p:nvSpPr>
          <p:cNvPr id="61" name="TextBox 60">
            <a:extLst>
              <a:ext uri="{FF2B5EF4-FFF2-40B4-BE49-F238E27FC236}">
                <a16:creationId xmlns:a16="http://schemas.microsoft.com/office/drawing/2014/main" id="{860333EB-D1BD-3DFD-98DA-101142E6B31D}"/>
              </a:ext>
            </a:extLst>
          </p:cNvPr>
          <p:cNvSpPr txBox="1"/>
          <p:nvPr/>
        </p:nvSpPr>
        <p:spPr>
          <a:xfrm>
            <a:off x="6070171" y="4058430"/>
            <a:ext cx="2013635"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API Connection to Core Data</a:t>
            </a:r>
          </a:p>
        </p:txBody>
      </p:sp>
      <p:sp>
        <p:nvSpPr>
          <p:cNvPr id="62" name="TextBox 61">
            <a:extLst>
              <a:ext uri="{FF2B5EF4-FFF2-40B4-BE49-F238E27FC236}">
                <a16:creationId xmlns:a16="http://schemas.microsoft.com/office/drawing/2014/main" id="{05D18C31-9B64-8D2C-EEE9-0CEC1549DAC3}"/>
              </a:ext>
            </a:extLst>
          </p:cNvPr>
          <p:cNvSpPr txBox="1"/>
          <p:nvPr/>
        </p:nvSpPr>
        <p:spPr>
          <a:xfrm>
            <a:off x="8583406" y="4061093"/>
            <a:ext cx="2013635" cy="215444"/>
          </a:xfrm>
          <a:prstGeom prst="rect">
            <a:avLst/>
          </a:prstGeom>
          <a:noFill/>
        </p:spPr>
        <p:txBody>
          <a:bodyPr wrap="square" numCol="1" rtlCol="0">
            <a:spAutoFit/>
          </a:bodyPr>
          <a:lstStyle/>
          <a:p>
            <a:pPr algn="ctr">
              <a:spcAft>
                <a:spcPts val="1200"/>
              </a:spcAft>
            </a:pPr>
            <a:r>
              <a:rPr lang="en-US" sz="800" dirty="0">
                <a:solidFill>
                  <a:schemeClr val="bg1"/>
                </a:solidFill>
                <a:latin typeface="Montserrat SemiBold" panose="00000700000000000000" pitchFamily="2" charset="0"/>
              </a:rPr>
              <a:t>Custom Email Template Design</a:t>
            </a:r>
          </a:p>
        </p:txBody>
      </p:sp>
      <p:sp>
        <p:nvSpPr>
          <p:cNvPr id="63" name="TextBox 62">
            <a:extLst>
              <a:ext uri="{FF2B5EF4-FFF2-40B4-BE49-F238E27FC236}">
                <a16:creationId xmlns:a16="http://schemas.microsoft.com/office/drawing/2014/main" id="{3D52BC9C-B1A7-303E-481D-20A8175DF6D1}"/>
              </a:ext>
            </a:extLst>
          </p:cNvPr>
          <p:cNvSpPr txBox="1"/>
          <p:nvPr/>
        </p:nvSpPr>
        <p:spPr>
          <a:xfrm>
            <a:off x="6095997" y="2566516"/>
            <a:ext cx="1987809" cy="1154162"/>
          </a:xfrm>
          <a:prstGeom prst="rect">
            <a:avLst/>
          </a:prstGeom>
          <a:noFill/>
        </p:spPr>
        <p:txBody>
          <a:bodyPr wrap="square" numCol="1" rtlCol="0">
            <a:spAutoFit/>
          </a:bodyPr>
          <a:lstStyle/>
          <a:p>
            <a:pPr marL="171450" indent="-171450">
              <a:spcAft>
                <a:spcPts val="300"/>
              </a:spcAft>
              <a:buFont typeface="Arial" panose="020B0604020202020204" pitchFamily="34" charset="0"/>
              <a:buChar char="•"/>
            </a:pPr>
            <a:r>
              <a:rPr lang="en-US" sz="800" dirty="0">
                <a:latin typeface="Montserrat SemiBold" panose="00000700000000000000" pitchFamily="2" charset="0"/>
              </a:rPr>
              <a:t>Add or calculate fields from core data to personalize your communications.</a:t>
            </a:r>
          </a:p>
          <a:p>
            <a:pPr marL="171450" indent="-171450">
              <a:spcAft>
                <a:spcPts val="300"/>
              </a:spcAft>
              <a:buFont typeface="Arial" panose="020B0604020202020204" pitchFamily="34" charset="0"/>
              <a:buChar char="•"/>
            </a:pPr>
            <a:r>
              <a:rPr lang="en-US" sz="800" dirty="0">
                <a:latin typeface="Montserrat SemiBold" panose="00000700000000000000" pitchFamily="2" charset="0"/>
              </a:rPr>
              <a:t>API connection to core required to populate fields.</a:t>
            </a:r>
          </a:p>
          <a:p>
            <a:pPr marL="171450" indent="-171450">
              <a:spcAft>
                <a:spcPts val="300"/>
              </a:spcAft>
              <a:buFont typeface="Arial" panose="020B0604020202020204" pitchFamily="34" charset="0"/>
              <a:buChar char="•"/>
            </a:pPr>
            <a:r>
              <a:rPr lang="en-US" sz="800" dirty="0">
                <a:latin typeface="Montserrat SemiBold" panose="00000700000000000000" pitchFamily="2" charset="0"/>
              </a:rPr>
              <a:t>Priced at $100 per field or as part of bundled pricing (see page 9)</a:t>
            </a:r>
          </a:p>
        </p:txBody>
      </p:sp>
      <p:sp>
        <p:nvSpPr>
          <p:cNvPr id="64" name="TextBox 63">
            <a:extLst>
              <a:ext uri="{FF2B5EF4-FFF2-40B4-BE49-F238E27FC236}">
                <a16:creationId xmlns:a16="http://schemas.microsoft.com/office/drawing/2014/main" id="{D31B9900-951F-F3E1-30F8-5FA4725059AD}"/>
              </a:ext>
            </a:extLst>
          </p:cNvPr>
          <p:cNvSpPr txBox="1"/>
          <p:nvPr/>
        </p:nvSpPr>
        <p:spPr>
          <a:xfrm>
            <a:off x="8583406" y="2560013"/>
            <a:ext cx="1987809" cy="1115690"/>
          </a:xfrm>
          <a:prstGeom prst="rect">
            <a:avLst/>
          </a:prstGeom>
          <a:noFill/>
        </p:spPr>
        <p:txBody>
          <a:bodyPr wrap="square" numCol="1" rtlCol="0">
            <a:spAutoFit/>
          </a:bodyPr>
          <a:lstStyle/>
          <a:p>
            <a:pPr marL="171450" indent="-171450">
              <a:spcAft>
                <a:spcPts val="300"/>
              </a:spcAft>
              <a:buFont typeface="Arial" panose="020B0604020202020204" pitchFamily="34" charset="0"/>
              <a:buChar char="•"/>
            </a:pPr>
            <a:r>
              <a:rPr lang="en-US" sz="800" dirty="0">
                <a:latin typeface="Montserrat SemiBold" panose="00000700000000000000" pitchFamily="2" charset="0"/>
              </a:rPr>
              <a:t>Automated journey workflows customized to enhance the member experience.</a:t>
            </a:r>
          </a:p>
          <a:p>
            <a:pPr marL="171450" indent="-171450">
              <a:spcAft>
                <a:spcPts val="300"/>
              </a:spcAft>
              <a:buFont typeface="Arial" panose="020B0604020202020204" pitchFamily="34" charset="0"/>
              <a:buChar char="•"/>
            </a:pPr>
            <a:r>
              <a:rPr lang="en-US" sz="800" dirty="0">
                <a:latin typeface="Montserrat SemiBold" panose="00000700000000000000" pitchFamily="2" charset="0"/>
              </a:rPr>
              <a:t>Basic journeys are priced starting at $200, and Advanced journeys are priced starting at $600 or as part of bundled pricing (see page 9)</a:t>
            </a:r>
          </a:p>
        </p:txBody>
      </p:sp>
      <p:sp>
        <p:nvSpPr>
          <p:cNvPr id="65" name="TextBox 64">
            <a:extLst>
              <a:ext uri="{FF2B5EF4-FFF2-40B4-BE49-F238E27FC236}">
                <a16:creationId xmlns:a16="http://schemas.microsoft.com/office/drawing/2014/main" id="{87B82F5C-D976-B6B6-8465-C05709D21190}"/>
              </a:ext>
            </a:extLst>
          </p:cNvPr>
          <p:cNvSpPr txBox="1"/>
          <p:nvPr/>
        </p:nvSpPr>
        <p:spPr>
          <a:xfrm>
            <a:off x="6083083" y="4379579"/>
            <a:ext cx="1987809" cy="1231106"/>
          </a:xfrm>
          <a:prstGeom prst="rect">
            <a:avLst/>
          </a:prstGeom>
          <a:noFill/>
        </p:spPr>
        <p:txBody>
          <a:bodyPr wrap="square" numCol="1" rtlCol="0">
            <a:spAutoFit/>
          </a:bodyPr>
          <a:lstStyle/>
          <a:p>
            <a:pPr marL="171450" indent="-171450">
              <a:spcAft>
                <a:spcPts val="300"/>
              </a:spcAft>
              <a:buFont typeface="Arial" panose="020B0604020202020204" pitchFamily="34" charset="0"/>
              <a:buChar char="•"/>
            </a:pPr>
            <a:r>
              <a:rPr lang="en-US" sz="800" dirty="0">
                <a:latin typeface="Montserrat SemiBold" panose="00000700000000000000" pitchFamily="2" charset="0"/>
              </a:rPr>
              <a:t>Monthly refresh - $50/month</a:t>
            </a:r>
          </a:p>
          <a:p>
            <a:pPr marL="171450" indent="-171450">
              <a:spcAft>
                <a:spcPts val="300"/>
              </a:spcAft>
              <a:buFont typeface="Arial" panose="020B0604020202020204" pitchFamily="34" charset="0"/>
              <a:buChar char="•"/>
            </a:pPr>
            <a:r>
              <a:rPr lang="en-US" sz="800" dirty="0">
                <a:latin typeface="Montserrat SemiBold" panose="00000700000000000000" pitchFamily="2" charset="0"/>
              </a:rPr>
              <a:t>Weekly refresh - $100/month</a:t>
            </a:r>
          </a:p>
          <a:p>
            <a:pPr marL="171450" indent="-171450">
              <a:spcAft>
                <a:spcPts val="300"/>
              </a:spcAft>
              <a:buFont typeface="Arial" panose="020B0604020202020204" pitchFamily="34" charset="0"/>
              <a:buChar char="•"/>
            </a:pPr>
            <a:r>
              <a:rPr lang="en-US" sz="800" dirty="0">
                <a:latin typeface="Montserrat SemiBold" panose="00000700000000000000" pitchFamily="2" charset="0"/>
              </a:rPr>
              <a:t>Daily refresh - $200/month</a:t>
            </a:r>
          </a:p>
          <a:p>
            <a:pPr marL="171450" indent="-171450">
              <a:spcAft>
                <a:spcPts val="300"/>
              </a:spcAft>
              <a:buFont typeface="Arial" panose="020B0604020202020204" pitchFamily="34" charset="0"/>
              <a:buChar char="•"/>
            </a:pPr>
            <a:r>
              <a:rPr lang="en-US" sz="800" dirty="0">
                <a:latin typeface="Montserrat SemiBold" panose="00000700000000000000" pitchFamily="2" charset="0"/>
              </a:rPr>
              <a:t>Daily or weekly refresh frequency recommended for most automations.</a:t>
            </a:r>
          </a:p>
          <a:p>
            <a:pPr marL="171450" indent="-171450">
              <a:spcAft>
                <a:spcPts val="300"/>
              </a:spcAft>
              <a:buFont typeface="Arial" panose="020B0604020202020204" pitchFamily="34" charset="0"/>
              <a:buChar char="•"/>
            </a:pPr>
            <a:r>
              <a:rPr lang="en-US" sz="800" dirty="0">
                <a:latin typeface="Montserrat SemiBold" panose="00000700000000000000" pitchFamily="2" charset="0"/>
              </a:rPr>
              <a:t>API connection Fee: $2,500 (one-time)</a:t>
            </a:r>
          </a:p>
        </p:txBody>
      </p:sp>
      <p:sp>
        <p:nvSpPr>
          <p:cNvPr id="66" name="TextBox 65">
            <a:extLst>
              <a:ext uri="{FF2B5EF4-FFF2-40B4-BE49-F238E27FC236}">
                <a16:creationId xmlns:a16="http://schemas.microsoft.com/office/drawing/2014/main" id="{66A311C8-0C64-9C8B-17AA-0070CDC1E255}"/>
              </a:ext>
            </a:extLst>
          </p:cNvPr>
          <p:cNvSpPr txBox="1"/>
          <p:nvPr/>
        </p:nvSpPr>
        <p:spPr>
          <a:xfrm>
            <a:off x="8602776" y="4363522"/>
            <a:ext cx="1987809" cy="746358"/>
          </a:xfrm>
          <a:prstGeom prst="rect">
            <a:avLst/>
          </a:prstGeom>
          <a:noFill/>
        </p:spPr>
        <p:txBody>
          <a:bodyPr wrap="square" numCol="1" rtlCol="0">
            <a:spAutoFit/>
          </a:bodyPr>
          <a:lstStyle/>
          <a:p>
            <a:pPr marL="171450" indent="-171450">
              <a:spcAft>
                <a:spcPts val="300"/>
              </a:spcAft>
              <a:buFont typeface="Arial" panose="020B0604020202020204" pitchFamily="34" charset="0"/>
              <a:buChar char="•"/>
            </a:pPr>
            <a:r>
              <a:rPr lang="en-US" sz="800" dirty="0">
                <a:latin typeface="Montserrat SemiBold" panose="00000700000000000000" pitchFamily="2" charset="0"/>
              </a:rPr>
              <a:t>Professionally designed custom templates that reflect your brand.</a:t>
            </a:r>
          </a:p>
          <a:p>
            <a:pPr marL="171450" indent="-171450">
              <a:spcAft>
                <a:spcPts val="300"/>
              </a:spcAft>
              <a:buFont typeface="Arial" panose="020B0604020202020204" pitchFamily="34" charset="0"/>
              <a:buChar char="•"/>
            </a:pPr>
            <a:r>
              <a:rPr lang="en-US" sz="800" dirty="0">
                <a:latin typeface="Montserrat SemiBold" panose="00000700000000000000" pitchFamily="2" charset="0"/>
              </a:rPr>
              <a:t>Priced at $1,545 per template design.</a:t>
            </a:r>
          </a:p>
        </p:txBody>
      </p:sp>
      <p:sp>
        <p:nvSpPr>
          <p:cNvPr id="68" name="TextBox 67">
            <a:extLst>
              <a:ext uri="{FF2B5EF4-FFF2-40B4-BE49-F238E27FC236}">
                <a16:creationId xmlns:a16="http://schemas.microsoft.com/office/drawing/2014/main" id="{7032CE7D-081F-F577-95A4-6AAB498E9980}"/>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8</a:t>
            </a:r>
          </a:p>
        </p:txBody>
      </p:sp>
    </p:spTree>
    <p:extLst>
      <p:ext uri="{BB962C8B-B14F-4D97-AF65-F5344CB8AC3E}">
        <p14:creationId xmlns:p14="http://schemas.microsoft.com/office/powerpoint/2010/main" val="59730169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0DE8F1-4C1C-EAB4-8603-E49B42CDBAA7}"/>
            </a:ext>
          </a:extLst>
        </p:cNvPr>
        <p:cNvGrpSpPr/>
        <p:nvPr/>
      </p:nvGrpSpPr>
      <p:grpSpPr>
        <a:xfrm>
          <a:off x="0" y="0"/>
          <a:ext cx="0" cy="0"/>
          <a:chOff x="0" y="0"/>
          <a:chExt cx="0" cy="0"/>
        </a:xfrm>
      </p:grpSpPr>
      <p:graphicFrame>
        <p:nvGraphicFramePr>
          <p:cNvPr id="14" name="Table 13">
            <a:extLst>
              <a:ext uri="{FF2B5EF4-FFF2-40B4-BE49-F238E27FC236}">
                <a16:creationId xmlns:a16="http://schemas.microsoft.com/office/drawing/2014/main" id="{45FAB0C7-3FC4-35A8-E379-76AC350E6E74}"/>
              </a:ext>
            </a:extLst>
          </p:cNvPr>
          <p:cNvGraphicFramePr>
            <a:graphicFrameLocks noGrp="1"/>
          </p:cNvGraphicFramePr>
          <p:nvPr>
            <p:extLst>
              <p:ext uri="{D42A27DB-BD31-4B8C-83A1-F6EECF244321}">
                <p14:modId xmlns:p14="http://schemas.microsoft.com/office/powerpoint/2010/main" val="1739604324"/>
              </p:ext>
            </p:extLst>
          </p:nvPr>
        </p:nvGraphicFramePr>
        <p:xfrm>
          <a:off x="558638" y="2126203"/>
          <a:ext cx="10826657" cy="3372332"/>
        </p:xfrm>
        <a:graphic>
          <a:graphicData uri="http://schemas.openxmlformats.org/drawingml/2006/table">
            <a:tbl>
              <a:tblPr firstRow="1" firstCol="1" bandRow="1">
                <a:tableStyleId>{5C22544A-7EE6-4342-B048-85BDC9FD1C3A}</a:tableStyleId>
              </a:tblPr>
              <a:tblGrid>
                <a:gridCol w="3168557">
                  <a:extLst>
                    <a:ext uri="{9D8B030D-6E8A-4147-A177-3AD203B41FA5}">
                      <a16:colId xmlns:a16="http://schemas.microsoft.com/office/drawing/2014/main" val="4173986757"/>
                    </a:ext>
                  </a:extLst>
                </a:gridCol>
                <a:gridCol w="1984114">
                  <a:extLst>
                    <a:ext uri="{9D8B030D-6E8A-4147-A177-3AD203B41FA5}">
                      <a16:colId xmlns:a16="http://schemas.microsoft.com/office/drawing/2014/main" val="2554188998"/>
                    </a:ext>
                  </a:extLst>
                </a:gridCol>
                <a:gridCol w="1857853">
                  <a:extLst>
                    <a:ext uri="{9D8B030D-6E8A-4147-A177-3AD203B41FA5}">
                      <a16:colId xmlns:a16="http://schemas.microsoft.com/office/drawing/2014/main" val="315922129"/>
                    </a:ext>
                  </a:extLst>
                </a:gridCol>
                <a:gridCol w="1916435">
                  <a:extLst>
                    <a:ext uri="{9D8B030D-6E8A-4147-A177-3AD203B41FA5}">
                      <a16:colId xmlns:a16="http://schemas.microsoft.com/office/drawing/2014/main" val="321627814"/>
                    </a:ext>
                  </a:extLst>
                </a:gridCol>
                <a:gridCol w="1899698">
                  <a:extLst>
                    <a:ext uri="{9D8B030D-6E8A-4147-A177-3AD203B41FA5}">
                      <a16:colId xmlns:a16="http://schemas.microsoft.com/office/drawing/2014/main" val="2809724527"/>
                    </a:ext>
                  </a:extLst>
                </a:gridCol>
              </a:tblGrid>
              <a:tr h="604143">
                <a:tc>
                  <a:txBody>
                    <a:bodyPr/>
                    <a:lstStyle/>
                    <a:p>
                      <a:pPr marL="0" marR="0" algn="ctr">
                        <a:lnSpc>
                          <a:spcPct val="115000"/>
                        </a:lnSpc>
                        <a:spcAft>
                          <a:spcPts val="800"/>
                        </a:spcAft>
                        <a:buNone/>
                      </a:pPr>
                      <a:endParaRPr lang="en-US" sz="9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noFill/>
                  </a:tcPr>
                </a:tc>
                <a:tc>
                  <a:txBody>
                    <a:bodyPr/>
                    <a:lstStyle/>
                    <a:p>
                      <a:pPr marL="0" marR="0" algn="ctr">
                        <a:lnSpc>
                          <a:spcPct val="115000"/>
                        </a:lnSpc>
                        <a:spcAft>
                          <a:spcPts val="800"/>
                        </a:spcAft>
                        <a:buNone/>
                      </a:pPr>
                      <a:endParaRPr lang="en-US" sz="900" kern="100" dirty="0">
                        <a:effectLst/>
                        <a:latin typeface="Montserrat SemiBold" panose="00000700000000000000" pitchFamily="2" charset="0"/>
                      </a:endParaRPr>
                    </a:p>
                    <a:p>
                      <a:pPr marL="0" marR="0" algn="ctr">
                        <a:lnSpc>
                          <a:spcPct val="115000"/>
                        </a:lnSpc>
                        <a:spcAft>
                          <a:spcPts val="800"/>
                        </a:spcAft>
                        <a:buNone/>
                      </a:pPr>
                      <a:r>
                        <a:rPr lang="en-US" sz="900" kern="100" dirty="0">
                          <a:effectLst/>
                          <a:latin typeface="Montserrat SemiBold" panose="00000700000000000000" pitchFamily="2" charset="0"/>
                        </a:rPr>
                        <a:t>Base Package</a:t>
                      </a:r>
                      <a:endParaRPr lang="en-US" sz="9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rgbClr val="3C8394"/>
                    </a:solidFill>
                  </a:tcPr>
                </a:tc>
                <a:tc>
                  <a:txBody>
                    <a:bodyPr/>
                    <a:lstStyle/>
                    <a:p>
                      <a:pPr marL="0" marR="0" algn="ctr">
                        <a:lnSpc>
                          <a:spcPct val="115000"/>
                        </a:lnSpc>
                        <a:spcAft>
                          <a:spcPts val="800"/>
                        </a:spcAft>
                        <a:buNone/>
                      </a:pPr>
                      <a:endParaRPr lang="en-US" sz="900" kern="100" dirty="0">
                        <a:effectLst/>
                        <a:latin typeface="Montserrat SemiBold" panose="00000700000000000000" pitchFamily="2" charset="0"/>
                      </a:endParaRPr>
                    </a:p>
                    <a:p>
                      <a:pPr marL="0" marR="0" algn="ctr">
                        <a:lnSpc>
                          <a:spcPct val="115000"/>
                        </a:lnSpc>
                        <a:spcAft>
                          <a:spcPts val="800"/>
                        </a:spcAft>
                        <a:buNone/>
                      </a:pPr>
                      <a:r>
                        <a:rPr lang="en-US" sz="900" kern="100" dirty="0">
                          <a:effectLst/>
                          <a:latin typeface="Montserrat SemiBold" panose="00000700000000000000" pitchFamily="2" charset="0"/>
                        </a:rPr>
                        <a:t>Essentials Package</a:t>
                      </a:r>
                      <a:endParaRPr lang="en-US" sz="9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rgbClr val="76BD22"/>
                    </a:solidFill>
                  </a:tcPr>
                </a:tc>
                <a:tc>
                  <a:txBody>
                    <a:bodyPr/>
                    <a:lstStyle/>
                    <a:p>
                      <a:pPr marL="0" marR="0" algn="ctr">
                        <a:lnSpc>
                          <a:spcPct val="115000"/>
                        </a:lnSpc>
                        <a:spcAft>
                          <a:spcPts val="800"/>
                        </a:spcAft>
                        <a:buNone/>
                      </a:pPr>
                      <a:endParaRPr lang="en-US" sz="900" kern="100" dirty="0">
                        <a:effectLst/>
                        <a:latin typeface="Montserrat SemiBold" panose="00000700000000000000" pitchFamily="2"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900" kern="100" dirty="0">
                          <a:effectLst/>
                          <a:latin typeface="Montserrat SemiBold" panose="00000700000000000000" pitchFamily="2" charset="0"/>
                          <a:ea typeface="Aptos" panose="020B0004020202020204" pitchFamily="34" charset="0"/>
                          <a:cs typeface="Times New Roman" panose="02020603050405020304" pitchFamily="18" charset="0"/>
                        </a:rPr>
                        <a:t>Premium Package</a:t>
                      </a:r>
                    </a:p>
                  </a:txBody>
                  <a:tcPr marL="45720" marR="45720" marB="73025" anchor="ctr">
                    <a:solidFill>
                      <a:srgbClr val="3555BD"/>
                    </a:solidFill>
                  </a:tcPr>
                </a:tc>
                <a:tc>
                  <a:txBody>
                    <a:bodyPr/>
                    <a:lstStyle/>
                    <a:p>
                      <a:pPr marL="0" marR="0" algn="ctr">
                        <a:lnSpc>
                          <a:spcPct val="115000"/>
                        </a:lnSpc>
                        <a:spcAft>
                          <a:spcPts val="800"/>
                        </a:spcAft>
                        <a:buNone/>
                      </a:pPr>
                      <a:endParaRPr lang="en-US" sz="900" kern="100" dirty="0">
                        <a:effectLst/>
                        <a:latin typeface="Montserrat SemiBold" panose="00000700000000000000" pitchFamily="2" charset="0"/>
                        <a:ea typeface="Aptos" panose="020B0004020202020204" pitchFamily="34" charset="0"/>
                        <a:cs typeface="Times New Roman" panose="02020603050405020304" pitchFamily="18" charset="0"/>
                      </a:endParaRPr>
                    </a:p>
                    <a:p>
                      <a:pPr marL="0" marR="0" algn="ctr">
                        <a:lnSpc>
                          <a:spcPct val="115000"/>
                        </a:lnSpc>
                        <a:spcAft>
                          <a:spcPts val="800"/>
                        </a:spcAft>
                        <a:buNone/>
                      </a:pPr>
                      <a:r>
                        <a:rPr lang="en-US" sz="900" kern="100" dirty="0">
                          <a:effectLst/>
                          <a:latin typeface="Montserrat SemiBold" panose="00000700000000000000" pitchFamily="2" charset="0"/>
                          <a:ea typeface="Aptos" panose="020B0004020202020204" pitchFamily="34" charset="0"/>
                          <a:cs typeface="Times New Roman" panose="02020603050405020304" pitchFamily="18" charset="0"/>
                        </a:rPr>
                        <a:t>Elite Package</a:t>
                      </a:r>
                    </a:p>
                  </a:txBody>
                  <a:tcPr marL="45720" marR="45720" marB="73025" anchor="ctr">
                    <a:solidFill>
                      <a:srgbClr val="002060"/>
                    </a:solidFill>
                  </a:tcPr>
                </a:tc>
                <a:extLst>
                  <a:ext uri="{0D108BD9-81ED-4DB2-BD59-A6C34878D82A}">
                    <a16:rowId xmlns:a16="http://schemas.microsoft.com/office/drawing/2014/main" val="3270986749"/>
                  </a:ext>
                </a:extLst>
              </a:tr>
              <a:tr h="377176">
                <a:tc>
                  <a:txBody>
                    <a:bodyPr/>
                    <a:lstStyle/>
                    <a:p>
                      <a:pPr marL="0" marR="0" algn="ctr">
                        <a:lnSpc>
                          <a:spcPct val="100000"/>
                        </a:lnSpc>
                        <a:spcAft>
                          <a:spcPts val="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Unlimited monthly email sends</a:t>
                      </a: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extLst>
                  <a:ext uri="{0D108BD9-81ED-4DB2-BD59-A6C34878D82A}">
                    <a16:rowId xmlns:a16="http://schemas.microsoft.com/office/drawing/2014/main" val="740673673"/>
                  </a:ext>
                </a:extLst>
              </a:tr>
              <a:tr h="259069">
                <a:tc>
                  <a:txBody>
                    <a:bodyPr/>
                    <a:lstStyle/>
                    <a:p>
                      <a:pPr marL="0" marR="0" algn="ctr">
                        <a:lnSpc>
                          <a:spcPct val="100000"/>
                        </a:lnSpc>
                        <a:spcAft>
                          <a:spcPts val="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Email Builder Access</a:t>
                      </a: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extLst>
                  <a:ext uri="{0D108BD9-81ED-4DB2-BD59-A6C34878D82A}">
                    <a16:rowId xmlns:a16="http://schemas.microsoft.com/office/drawing/2014/main" val="2036530767"/>
                  </a:ext>
                </a:extLst>
              </a:tr>
              <a:tr h="259069">
                <a:tc>
                  <a:txBody>
                    <a:bodyPr/>
                    <a:lstStyle/>
                    <a:p>
                      <a:pPr marL="0" marR="0" algn="ctr">
                        <a:lnSpc>
                          <a:spcPct val="100000"/>
                        </a:lnSpc>
                        <a:spcAft>
                          <a:spcPts val="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Integrated Reporting &amp; Analytics</a:t>
                      </a: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extLst>
                  <a:ext uri="{0D108BD9-81ED-4DB2-BD59-A6C34878D82A}">
                    <a16:rowId xmlns:a16="http://schemas.microsoft.com/office/drawing/2014/main" val="3964394242"/>
                  </a:ext>
                </a:extLst>
              </a:tr>
              <a:tr h="259069">
                <a:tc>
                  <a:txBody>
                    <a:bodyPr/>
                    <a:lstStyle/>
                    <a:p>
                      <a:pPr marL="0" marR="0" algn="ctr">
                        <a:lnSpc>
                          <a:spcPct val="100000"/>
                        </a:lnSpc>
                        <a:spcAft>
                          <a:spcPts val="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Automated Data Refresh</a:t>
                      </a:r>
                    </a:p>
                  </a:txBody>
                  <a:tcPr marL="45720" marR="45720" marB="73025" anchor="ctr">
                    <a:solidFill>
                      <a:schemeClr val="bg2"/>
                    </a:solidFill>
                  </a:tcPr>
                </a:tc>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Manual list uploads</a:t>
                      </a:r>
                    </a:p>
                  </a:txBody>
                  <a:tcPr marL="45720" marR="45720" marB="73025" anchor="ctr">
                    <a:solidFill>
                      <a:schemeClr val="bg2"/>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Weekly</a:t>
                      </a:r>
                    </a:p>
                  </a:txBody>
                  <a:tcPr marL="45720" marR="45720" marB="73025" anchor="ctr">
                    <a:solidFill>
                      <a:schemeClr val="bg2"/>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Daily</a:t>
                      </a:r>
                    </a:p>
                  </a:txBody>
                  <a:tcPr marL="45720" marR="45720" marB="73025" anchor="ctr">
                    <a:solidFill>
                      <a:schemeClr val="bg2"/>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Daily</a:t>
                      </a:r>
                    </a:p>
                  </a:txBody>
                  <a:tcPr marL="45720" marR="45720" marB="73025" anchor="ctr">
                    <a:solidFill>
                      <a:schemeClr val="bg2"/>
                    </a:solidFill>
                  </a:tcPr>
                </a:tc>
                <a:extLst>
                  <a:ext uri="{0D108BD9-81ED-4DB2-BD59-A6C34878D82A}">
                    <a16:rowId xmlns:a16="http://schemas.microsoft.com/office/drawing/2014/main" val="964722979"/>
                  </a:ext>
                </a:extLst>
              </a:tr>
              <a:tr h="259069">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Custom Fields Programmed</a:t>
                      </a: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20</a:t>
                      </a:r>
                    </a:p>
                  </a:txBody>
                  <a:tcPr marL="45720" marR="45720" marB="73025" anchor="ctr">
                    <a:solidFill>
                      <a:schemeClr val="bg2"/>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35</a:t>
                      </a:r>
                    </a:p>
                  </a:txBody>
                  <a:tcPr marL="45720" marR="45720" marB="73025" anchor="ctr">
                    <a:solidFill>
                      <a:schemeClr val="bg2"/>
                    </a:solidFill>
                  </a:tcPr>
                </a:tc>
                <a:tc>
                  <a:txBody>
                    <a:bodyPr/>
                    <a:lstStyle/>
                    <a:p>
                      <a:pPr marL="0" marR="0" algn="ctr">
                        <a:lnSpc>
                          <a:spcPct val="115000"/>
                        </a:lnSpc>
                        <a:spcAft>
                          <a:spcPts val="80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50</a:t>
                      </a:r>
                    </a:p>
                  </a:txBody>
                  <a:tcPr marL="45720" marR="45720" marB="73025" anchor="ctr">
                    <a:solidFill>
                      <a:schemeClr val="bg2"/>
                    </a:solidFill>
                  </a:tcPr>
                </a:tc>
                <a:extLst>
                  <a:ext uri="{0D108BD9-81ED-4DB2-BD59-A6C34878D82A}">
                    <a16:rowId xmlns:a16="http://schemas.microsoft.com/office/drawing/2014/main" val="4143186684"/>
                  </a:ext>
                </a:extLst>
              </a:tr>
              <a:tr h="614976">
                <a:tc>
                  <a:txBody>
                    <a:bodyPr/>
                    <a:lstStyle/>
                    <a:p>
                      <a:pPr marL="0" marR="0" algn="ctr">
                        <a:lnSpc>
                          <a:spcPct val="115000"/>
                        </a:lnSpc>
                        <a:spcAft>
                          <a:spcPts val="800"/>
                        </a:spcAft>
                        <a:buNone/>
                      </a:pPr>
                      <a:r>
                        <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rPr>
                        <a:t>Journey Configuration and Set-up</a:t>
                      </a:r>
                    </a:p>
                  </a:txBody>
                  <a:tcPr marL="45720" marR="45720" marB="73025" anchor="ctr">
                    <a:solidFill>
                      <a:schemeClr val="bg2"/>
                    </a:solidFill>
                  </a:tcPr>
                </a:tc>
                <a:tc>
                  <a:txBody>
                    <a:bodyPr/>
                    <a:lstStyle/>
                    <a:p>
                      <a:pPr marL="0" marR="0" algn="ctr">
                        <a:lnSpc>
                          <a:spcPct val="115000"/>
                        </a:lnSpc>
                        <a:spcAft>
                          <a:spcPts val="800"/>
                        </a:spcAft>
                        <a:buNone/>
                      </a:pPr>
                      <a:endParaRPr lang="en-US" sz="800" kern="100" dirty="0">
                        <a:solidFill>
                          <a:schemeClr val="tx1"/>
                        </a:solidFill>
                        <a:effectLst/>
                        <a:latin typeface="Montserrat SemiBold" panose="00000700000000000000" pitchFamily="2" charset="0"/>
                        <a:ea typeface="Aptos" panose="020B0004020202020204" pitchFamily="34" charset="0"/>
                        <a:cs typeface="Times New Roman" panose="02020603050405020304" pitchFamily="18" charset="0"/>
                      </a:endParaRPr>
                    </a:p>
                  </a:txBody>
                  <a:tcPr marL="45720" marR="45720" marB="73025" anchor="ctr">
                    <a:solidFill>
                      <a:schemeClr val="bg2"/>
                    </a:solidFill>
                  </a:tcPr>
                </a:tc>
                <a:tc>
                  <a:txBody>
                    <a:bodyPr/>
                    <a:lstStyle/>
                    <a:p>
                      <a:pPr marL="0" marR="0" algn="ctr">
                        <a:lnSpc>
                          <a:spcPct val="100000"/>
                        </a:lnSpc>
                        <a:spcAft>
                          <a:spcPts val="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2 Simple Automated Journeys </a:t>
                      </a:r>
                    </a:p>
                    <a:p>
                      <a:pPr marL="0" marR="0" algn="ctr">
                        <a:lnSpc>
                          <a:spcPct val="100000"/>
                        </a:lnSpc>
                        <a:spcAft>
                          <a:spcPts val="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and </a:t>
                      </a:r>
                    </a:p>
                    <a:p>
                      <a:pPr marL="0" marR="0" algn="ctr">
                        <a:lnSpc>
                          <a:spcPct val="100000"/>
                        </a:lnSpc>
                        <a:spcAft>
                          <a:spcPts val="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1 Advanced Automated Journey</a:t>
                      </a:r>
                    </a:p>
                    <a:p>
                      <a:pPr marL="0" marR="0" algn="ctr">
                        <a:lnSpc>
                          <a:spcPct val="100000"/>
                        </a:lnSpc>
                        <a:spcAft>
                          <a:spcPts val="0"/>
                        </a:spcAft>
                        <a:buNone/>
                      </a:pPr>
                      <a:r>
                        <a:rPr lang="en-US" sz="700" kern="100" dirty="0">
                          <a:effectLst/>
                          <a:latin typeface="Montserrat SemiBold" panose="00000700000000000000" pitchFamily="2" charset="0"/>
                          <a:ea typeface="Aptos" panose="020B0004020202020204" pitchFamily="34" charset="0"/>
                          <a:cs typeface="Times New Roman" panose="02020603050405020304" pitchFamily="18" charset="0"/>
                        </a:rPr>
                        <a:t>(see page 7 for journey details)</a:t>
                      </a:r>
                    </a:p>
                  </a:txBody>
                  <a:tcPr marL="45720" marR="45720" marB="73025" anchor="ctr">
                    <a:solidFill>
                      <a:schemeClr val="bg2"/>
                    </a:solidFill>
                  </a:tcPr>
                </a:tc>
                <a:tc>
                  <a:txBody>
                    <a:bodyPr/>
                    <a:lstStyle/>
                    <a:p>
                      <a:pPr marL="0" marR="0" algn="ctr">
                        <a:lnSpc>
                          <a:spcPct val="100000"/>
                        </a:lnSpc>
                        <a:spcAft>
                          <a:spcPts val="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4 Simple Automated Journeys </a:t>
                      </a:r>
                    </a:p>
                    <a:p>
                      <a:pPr marL="0" marR="0" algn="ctr">
                        <a:lnSpc>
                          <a:spcPct val="100000"/>
                        </a:lnSpc>
                        <a:spcAft>
                          <a:spcPts val="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and</a:t>
                      </a:r>
                    </a:p>
                    <a:p>
                      <a:pPr marL="0" marR="0" algn="ctr">
                        <a:lnSpc>
                          <a:spcPct val="100000"/>
                        </a:lnSpc>
                        <a:spcAft>
                          <a:spcPts val="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2 Advanced Automated Journeys</a:t>
                      </a:r>
                    </a:p>
                    <a:p>
                      <a:pPr marL="0" marR="0" algn="ctr">
                        <a:lnSpc>
                          <a:spcPct val="100000"/>
                        </a:lnSpc>
                        <a:spcAft>
                          <a:spcPts val="0"/>
                        </a:spcAft>
                        <a:buNone/>
                      </a:pPr>
                      <a:r>
                        <a:rPr lang="en-US" sz="700" kern="100" dirty="0">
                          <a:effectLst/>
                          <a:latin typeface="Montserrat SemiBold" panose="00000700000000000000" pitchFamily="2" charset="0"/>
                          <a:ea typeface="Aptos" panose="020B0004020202020204" pitchFamily="34" charset="0"/>
                          <a:cs typeface="Times New Roman" panose="02020603050405020304" pitchFamily="18" charset="0"/>
                        </a:rPr>
                        <a:t>(see page 7 for journey details)</a:t>
                      </a:r>
                    </a:p>
                  </a:txBody>
                  <a:tcPr marL="45720" marR="45720" marB="73025" anchor="ctr">
                    <a:solidFill>
                      <a:schemeClr val="bg2"/>
                    </a:solidFill>
                  </a:tcPr>
                </a:tc>
                <a:tc>
                  <a:txBody>
                    <a:bodyPr/>
                    <a:lstStyle/>
                    <a:p>
                      <a:pPr marL="0" marR="0" algn="ctr">
                        <a:lnSpc>
                          <a:spcPct val="100000"/>
                        </a:lnSpc>
                        <a:spcAft>
                          <a:spcPts val="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6 Simple Automated Journeys </a:t>
                      </a:r>
                    </a:p>
                    <a:p>
                      <a:pPr marL="0" marR="0" algn="ctr">
                        <a:lnSpc>
                          <a:spcPct val="100000"/>
                        </a:lnSpc>
                        <a:spcAft>
                          <a:spcPts val="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and </a:t>
                      </a:r>
                    </a:p>
                    <a:p>
                      <a:pPr marL="0" marR="0" algn="ctr">
                        <a:lnSpc>
                          <a:spcPct val="100000"/>
                        </a:lnSpc>
                        <a:spcAft>
                          <a:spcPts val="0"/>
                        </a:spcAft>
                        <a:buNone/>
                      </a:pPr>
                      <a:r>
                        <a:rPr lang="en-US" sz="800" kern="100" dirty="0">
                          <a:effectLst/>
                          <a:latin typeface="Montserrat SemiBold" panose="00000700000000000000" pitchFamily="2" charset="0"/>
                          <a:ea typeface="Aptos" panose="020B0004020202020204" pitchFamily="34" charset="0"/>
                          <a:cs typeface="Times New Roman" panose="02020603050405020304" pitchFamily="18" charset="0"/>
                        </a:rPr>
                        <a:t>3 Advanced Automated Journeys</a:t>
                      </a:r>
                    </a:p>
                    <a:p>
                      <a:pPr marL="0" marR="0" algn="ctr">
                        <a:lnSpc>
                          <a:spcPct val="100000"/>
                        </a:lnSpc>
                        <a:spcAft>
                          <a:spcPts val="0"/>
                        </a:spcAft>
                        <a:buNone/>
                      </a:pPr>
                      <a:r>
                        <a:rPr lang="en-US" sz="700" kern="100" dirty="0">
                          <a:effectLst/>
                          <a:latin typeface="Montserrat SemiBold" panose="00000700000000000000" pitchFamily="2" charset="0"/>
                          <a:ea typeface="Aptos" panose="020B0004020202020204" pitchFamily="34" charset="0"/>
                          <a:cs typeface="Times New Roman" panose="02020603050405020304" pitchFamily="18" charset="0"/>
                        </a:rPr>
                        <a:t>(see page 7 for journey details)</a:t>
                      </a:r>
                    </a:p>
                  </a:txBody>
                  <a:tcPr marL="45720" marR="45720" marB="73025" anchor="ctr">
                    <a:solidFill>
                      <a:schemeClr val="bg2"/>
                    </a:solidFill>
                  </a:tcPr>
                </a:tc>
                <a:extLst>
                  <a:ext uri="{0D108BD9-81ED-4DB2-BD59-A6C34878D82A}">
                    <a16:rowId xmlns:a16="http://schemas.microsoft.com/office/drawing/2014/main" val="3794730557"/>
                  </a:ext>
                </a:extLst>
              </a:tr>
              <a:tr h="275980">
                <a:tc>
                  <a:txBody>
                    <a:bodyPr/>
                    <a:lstStyle/>
                    <a:p>
                      <a:pPr marL="0" marR="0" algn="ctr">
                        <a:lnSpc>
                          <a:spcPct val="100000"/>
                        </a:lnSpc>
                        <a:spcAft>
                          <a:spcPts val="0"/>
                        </a:spcAft>
                        <a:buNone/>
                      </a:pPr>
                      <a:r>
                        <a:rPr lang="en-US" sz="8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Implementation Costs </a:t>
                      </a:r>
                    </a:p>
                    <a:p>
                      <a:pPr marL="0" marR="0" algn="ctr">
                        <a:lnSpc>
                          <a:spcPct val="100000"/>
                        </a:lnSpc>
                        <a:spcAft>
                          <a:spcPts val="0"/>
                        </a:spcAft>
                        <a:buNone/>
                      </a:pPr>
                      <a:r>
                        <a:rPr lang="en-US" sz="8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(one-time, includes API connection fee of $2,500)</a:t>
                      </a:r>
                    </a:p>
                  </a:txBody>
                  <a:tcPr marL="45720" marR="45720" marB="73025" anchor="ctr">
                    <a:solidFill>
                      <a:srgbClr val="3C8394"/>
                    </a:solidFill>
                  </a:tcPr>
                </a:tc>
                <a:tc>
                  <a:txBody>
                    <a:bodyPr/>
                    <a:lstStyle/>
                    <a:p>
                      <a:pPr marL="0" marR="0" algn="ctr">
                        <a:lnSpc>
                          <a:spcPct val="115000"/>
                        </a:lnSpc>
                        <a:spcAft>
                          <a:spcPts val="800"/>
                        </a:spcAft>
                        <a:buNone/>
                      </a:pP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N/A</a:t>
                      </a:r>
                    </a:p>
                  </a:txBody>
                  <a:tcPr marL="45720" marR="45720" marB="73025" anchor="ctr">
                    <a:solidFill>
                      <a:srgbClr val="3C8394"/>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$5,500</a:t>
                      </a:r>
                    </a:p>
                  </a:txBody>
                  <a:tcPr marL="45720" marR="45720" marB="73025" anchor="ctr">
                    <a:solidFill>
                      <a:srgbClr val="76BD22"/>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$8,000</a:t>
                      </a:r>
                    </a:p>
                  </a:txBody>
                  <a:tcPr marL="45720" marR="45720" marB="73025" anchor="ctr">
                    <a:solidFill>
                      <a:srgbClr val="3555BD"/>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$10,500</a:t>
                      </a:r>
                    </a:p>
                  </a:txBody>
                  <a:tcPr marL="45720" marR="45720" marB="73025" anchor="ctr">
                    <a:solidFill>
                      <a:srgbClr val="002060"/>
                    </a:solidFill>
                  </a:tcPr>
                </a:tc>
                <a:extLst>
                  <a:ext uri="{0D108BD9-81ED-4DB2-BD59-A6C34878D82A}">
                    <a16:rowId xmlns:a16="http://schemas.microsoft.com/office/drawing/2014/main" val="1476358126"/>
                  </a:ext>
                </a:extLst>
              </a:tr>
              <a:tr h="377176">
                <a:tc>
                  <a:txBody>
                    <a:bodyPr/>
                    <a:lstStyle/>
                    <a:p>
                      <a:pPr marL="0" marR="0" algn="ctr">
                        <a:lnSpc>
                          <a:spcPct val="100000"/>
                        </a:lnSpc>
                        <a:spcAft>
                          <a:spcPts val="0"/>
                        </a:spcAft>
                        <a:buNone/>
                      </a:pPr>
                      <a:r>
                        <a:rPr lang="en-US" sz="8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Monthly Costs </a:t>
                      </a:r>
                    </a:p>
                    <a:p>
                      <a:pPr marL="0" marR="0" algn="ctr">
                        <a:lnSpc>
                          <a:spcPct val="100000"/>
                        </a:lnSpc>
                        <a:spcAft>
                          <a:spcPts val="0"/>
                        </a:spcAft>
                        <a:buNone/>
                      </a:pPr>
                      <a:r>
                        <a:rPr lang="en-US" sz="8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(including monthly refresh fees if applicable)</a:t>
                      </a:r>
                    </a:p>
                  </a:txBody>
                  <a:tcPr marL="45720" marR="45720" marB="73025" anchor="ctr">
                    <a:solidFill>
                      <a:srgbClr val="3C8394"/>
                    </a:solidFill>
                  </a:tcPr>
                </a:tc>
                <a:tc>
                  <a:txBody>
                    <a:bodyPr/>
                    <a:lstStyle/>
                    <a:p>
                      <a:pPr marL="0" marR="0" algn="ctr">
                        <a:lnSpc>
                          <a:spcPct val="115000"/>
                        </a:lnSpc>
                        <a:spcAft>
                          <a:spcPts val="800"/>
                        </a:spcAft>
                        <a:buNone/>
                      </a:pP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a:t>
                      </a:r>
                      <a:r>
                        <a:rPr lang="en-US" sz="900" kern="100" dirty="0" err="1">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tier_cost</a:t>
                      </a: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a:t>
                      </a:r>
                    </a:p>
                  </a:txBody>
                  <a:tcPr marL="45720" marR="45720" marB="73025" anchor="ctr">
                    <a:solidFill>
                      <a:srgbClr val="3C8394"/>
                    </a:solidFill>
                  </a:tcPr>
                </a:tc>
                <a:tc>
                  <a:txBody>
                    <a:bodyPr/>
                    <a:lstStyle/>
                    <a:p>
                      <a:pPr marL="0" marR="0" algn="ctr">
                        <a:lnSpc>
                          <a:spcPct val="115000"/>
                        </a:lnSpc>
                        <a:spcAft>
                          <a:spcPts val="800"/>
                        </a:spcAft>
                        <a:buNone/>
                      </a:pP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a:t>
                      </a:r>
                      <a:r>
                        <a:rPr lang="en-US" sz="900" kern="100" dirty="0" err="1">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essentials_cost</a:t>
                      </a: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a:t>
                      </a:r>
                    </a:p>
                  </a:txBody>
                  <a:tcPr marL="45720" marR="45720" marB="73025" anchor="ctr">
                    <a:solidFill>
                      <a:srgbClr val="76BD22"/>
                    </a:solidFill>
                  </a:tcPr>
                </a:tc>
                <a:tc>
                  <a:txBody>
                    <a:bodyPr/>
                    <a:lstStyle/>
                    <a:p>
                      <a:pPr marL="0" marR="0" algn="ctr">
                        <a:lnSpc>
                          <a:spcPct val="115000"/>
                        </a:lnSpc>
                        <a:spcAft>
                          <a:spcPts val="800"/>
                        </a:spcAft>
                        <a:buNone/>
                      </a:pP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a:t>
                      </a:r>
                      <a:r>
                        <a:rPr lang="en-US" sz="900" kern="100" dirty="0" err="1">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premium_cost</a:t>
                      </a: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a:t>
                      </a:r>
                    </a:p>
                  </a:txBody>
                  <a:tcPr marL="45720" marR="45720" marB="73025" anchor="ctr">
                    <a:solidFill>
                      <a:srgbClr val="3555BD"/>
                    </a:solidFill>
                  </a:tcPr>
                </a:tc>
                <a:tc>
                  <a:txBody>
                    <a:bodyPr/>
                    <a:lstStyle/>
                    <a:p>
                      <a:pPr marL="0" marR="0" lvl="0" indent="0" algn="ctr" defTabSz="914400" rtl="0" eaLnBrk="1" fontAlgn="auto" latinLnBrk="0" hangingPunct="1">
                        <a:lnSpc>
                          <a:spcPct val="115000"/>
                        </a:lnSpc>
                        <a:spcBef>
                          <a:spcPts val="0"/>
                        </a:spcBef>
                        <a:spcAft>
                          <a:spcPts val="800"/>
                        </a:spcAft>
                        <a:buClrTx/>
                        <a:buSzTx/>
                        <a:buFontTx/>
                        <a:buNone/>
                        <a:tabLst/>
                        <a:defRPr/>
                      </a:pP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a:t>
                      </a:r>
                      <a:r>
                        <a:rPr lang="en-US" sz="900" kern="100" dirty="0" err="1">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elite_cost</a:t>
                      </a:r>
                      <a:r>
                        <a:rPr lang="en-US" sz="900" kern="100" dirty="0">
                          <a:solidFill>
                            <a:schemeClr val="bg1"/>
                          </a:solidFill>
                          <a:effectLst/>
                          <a:latin typeface="Montserrat SemiBold" panose="00000700000000000000" pitchFamily="2" charset="0"/>
                          <a:ea typeface="Aptos" panose="020B0004020202020204" pitchFamily="34" charset="0"/>
                          <a:cs typeface="Times New Roman" panose="02020603050405020304" pitchFamily="18" charset="0"/>
                        </a:rPr>
                        <a:t>}}</a:t>
                      </a:r>
                    </a:p>
                  </a:txBody>
                  <a:tcPr marL="45720" marR="45720" marB="73025" anchor="ctr">
                    <a:solidFill>
                      <a:srgbClr val="002060"/>
                    </a:solidFill>
                  </a:tcPr>
                </a:tc>
                <a:extLst>
                  <a:ext uri="{0D108BD9-81ED-4DB2-BD59-A6C34878D82A}">
                    <a16:rowId xmlns:a16="http://schemas.microsoft.com/office/drawing/2014/main" val="4199312584"/>
                  </a:ext>
                </a:extLst>
              </a:tr>
            </a:tbl>
          </a:graphicData>
        </a:graphic>
      </p:graphicFrame>
      <p:sp>
        <p:nvSpPr>
          <p:cNvPr id="23" name="TextBox 22">
            <a:extLst>
              <a:ext uri="{FF2B5EF4-FFF2-40B4-BE49-F238E27FC236}">
                <a16:creationId xmlns:a16="http://schemas.microsoft.com/office/drawing/2014/main" id="{7959ABBD-3FE1-6843-DC82-21BFCCBD45C2}"/>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9</a:t>
            </a:r>
          </a:p>
        </p:txBody>
      </p:sp>
      <p:sp>
        <p:nvSpPr>
          <p:cNvPr id="45" name="Graphic 25" descr="Badge 1 with solid fill">
            <a:extLst>
              <a:ext uri="{FF2B5EF4-FFF2-40B4-BE49-F238E27FC236}">
                <a16:creationId xmlns:a16="http://schemas.microsoft.com/office/drawing/2014/main" id="{F6F84AF7-1615-F085-05A0-ADAA9BC86378}"/>
              </a:ext>
            </a:extLst>
          </p:cNvPr>
          <p:cNvSpPr/>
          <p:nvPr/>
        </p:nvSpPr>
        <p:spPr>
          <a:xfrm>
            <a:off x="4590007" y="2305444"/>
            <a:ext cx="167127" cy="167127"/>
          </a:xfrm>
          <a:custGeom>
            <a:avLst/>
            <a:gdLst>
              <a:gd name="csX0" fmla="*/ 83564 w 167127"/>
              <a:gd name="csY0" fmla="*/ 0 h 167127"/>
              <a:gd name="csX1" fmla="*/ 0 w 167127"/>
              <a:gd name="csY1" fmla="*/ 83564 h 167127"/>
              <a:gd name="csX2" fmla="*/ 83564 w 167127"/>
              <a:gd name="csY2" fmla="*/ 167127 h 167127"/>
              <a:gd name="csX3" fmla="*/ 167127 w 167127"/>
              <a:gd name="csY3" fmla="*/ 83564 h 167127"/>
              <a:gd name="csX4" fmla="*/ 167127 w 167127"/>
              <a:gd name="csY4" fmla="*/ 83555 h 167127"/>
              <a:gd name="csX5" fmla="*/ 83630 w 167127"/>
              <a:gd name="csY5" fmla="*/ 0 h 167127"/>
              <a:gd name="csX6" fmla="*/ 83564 w 167127"/>
              <a:gd name="csY6" fmla="*/ 0 h 167127"/>
              <a:gd name="csX7" fmla="*/ 92730 w 167127"/>
              <a:gd name="csY7" fmla="*/ 119034 h 167127"/>
              <a:gd name="csX8" fmla="*/ 80019 w 167127"/>
              <a:gd name="csY8" fmla="*/ 119034 h 167127"/>
              <a:gd name="csX9" fmla="*/ 80019 w 167127"/>
              <a:gd name="csY9" fmla="*/ 58327 h 167127"/>
              <a:gd name="csX10" fmla="*/ 76620 w 167127"/>
              <a:gd name="csY10" fmla="*/ 60446 h 167127"/>
              <a:gd name="csX11" fmla="*/ 72932 w 167127"/>
              <a:gd name="csY11" fmla="*/ 62272 h 167127"/>
              <a:gd name="csX12" fmla="*/ 68622 w 167127"/>
              <a:gd name="csY12" fmla="*/ 63770 h 167127"/>
              <a:gd name="csX13" fmla="*/ 63654 w 167127"/>
              <a:gd name="csY13" fmla="*/ 65121 h 167127"/>
              <a:gd name="csX14" fmla="*/ 63654 w 167127"/>
              <a:gd name="csY14" fmla="*/ 54967 h 167127"/>
              <a:gd name="csX15" fmla="*/ 66976 w 167127"/>
              <a:gd name="csY15" fmla="*/ 53944 h 167127"/>
              <a:gd name="csX16" fmla="*/ 69937 w 167127"/>
              <a:gd name="csY16" fmla="*/ 52921 h 167127"/>
              <a:gd name="csX17" fmla="*/ 72859 w 167127"/>
              <a:gd name="csY17" fmla="*/ 51715 h 167127"/>
              <a:gd name="csX18" fmla="*/ 75781 w 167127"/>
              <a:gd name="csY18" fmla="*/ 50509 h 167127"/>
              <a:gd name="csX19" fmla="*/ 78591 w 167127"/>
              <a:gd name="csY19" fmla="*/ 49048 h 167127"/>
              <a:gd name="csX20" fmla="*/ 81407 w 167127"/>
              <a:gd name="csY20" fmla="*/ 47508 h 167127"/>
              <a:gd name="csX21" fmla="*/ 84437 w 167127"/>
              <a:gd name="csY21" fmla="*/ 45748 h 167127"/>
              <a:gd name="csX22" fmla="*/ 87471 w 167127"/>
              <a:gd name="csY22" fmla="*/ 43988 h 167127"/>
              <a:gd name="csX23" fmla="*/ 92730 w 167127"/>
              <a:gd name="csY23" fmla="*/ 43988 h 1671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Lst>
            <a:rect l="l" t="t" r="r" b="b"/>
            <a:pathLst>
              <a:path w="167127" h="167127">
                <a:moveTo>
                  <a:pt x="83564" y="0"/>
                </a:moveTo>
                <a:cubicBezTo>
                  <a:pt x="37413" y="0"/>
                  <a:pt x="0" y="37413"/>
                  <a:pt x="0" y="83564"/>
                </a:cubicBezTo>
                <a:cubicBezTo>
                  <a:pt x="0" y="129715"/>
                  <a:pt x="37413" y="167127"/>
                  <a:pt x="83564" y="167127"/>
                </a:cubicBezTo>
                <a:cubicBezTo>
                  <a:pt x="129715" y="167127"/>
                  <a:pt x="167127" y="129715"/>
                  <a:pt x="167127" y="83564"/>
                </a:cubicBezTo>
                <a:cubicBezTo>
                  <a:pt x="167127" y="83561"/>
                  <a:pt x="167127" y="83558"/>
                  <a:pt x="167127" y="83555"/>
                </a:cubicBezTo>
                <a:cubicBezTo>
                  <a:pt x="167143" y="37425"/>
                  <a:pt x="129760" y="16"/>
                  <a:pt x="83630" y="0"/>
                </a:cubicBezTo>
                <a:cubicBezTo>
                  <a:pt x="83608" y="0"/>
                  <a:pt x="83586" y="0"/>
                  <a:pt x="83564" y="0"/>
                </a:cubicBezTo>
                <a:close/>
                <a:moveTo>
                  <a:pt x="92730" y="119034"/>
                </a:moveTo>
                <a:lnTo>
                  <a:pt x="80019" y="119034"/>
                </a:lnTo>
                <a:lnTo>
                  <a:pt x="80019" y="58327"/>
                </a:lnTo>
                <a:cubicBezTo>
                  <a:pt x="78945" y="59060"/>
                  <a:pt x="77812" y="59766"/>
                  <a:pt x="76620" y="60446"/>
                </a:cubicBezTo>
                <a:cubicBezTo>
                  <a:pt x="75428" y="61127"/>
                  <a:pt x="74196" y="61737"/>
                  <a:pt x="72932" y="62272"/>
                </a:cubicBezTo>
                <a:cubicBezTo>
                  <a:pt x="71565" y="62809"/>
                  <a:pt x="70128" y="63308"/>
                  <a:pt x="68622" y="63770"/>
                </a:cubicBezTo>
                <a:cubicBezTo>
                  <a:pt x="67115" y="64232"/>
                  <a:pt x="65459" y="64683"/>
                  <a:pt x="63654" y="65121"/>
                </a:cubicBezTo>
                <a:lnTo>
                  <a:pt x="63654" y="54967"/>
                </a:lnTo>
                <a:cubicBezTo>
                  <a:pt x="64871" y="54625"/>
                  <a:pt x="65979" y="54284"/>
                  <a:pt x="66976" y="53944"/>
                </a:cubicBezTo>
                <a:cubicBezTo>
                  <a:pt x="67973" y="53603"/>
                  <a:pt x="68961" y="53262"/>
                  <a:pt x="69937" y="52921"/>
                </a:cubicBezTo>
                <a:cubicBezTo>
                  <a:pt x="70908" y="52531"/>
                  <a:pt x="71885" y="52131"/>
                  <a:pt x="72859" y="51715"/>
                </a:cubicBezTo>
                <a:cubicBezTo>
                  <a:pt x="73834" y="51299"/>
                  <a:pt x="74807" y="50901"/>
                  <a:pt x="75781" y="50509"/>
                </a:cubicBezTo>
                <a:cubicBezTo>
                  <a:pt x="76705" y="50022"/>
                  <a:pt x="77642" y="49535"/>
                  <a:pt x="78591" y="49048"/>
                </a:cubicBezTo>
                <a:cubicBezTo>
                  <a:pt x="79540" y="48561"/>
                  <a:pt x="80479" y="48048"/>
                  <a:pt x="81407" y="47508"/>
                </a:cubicBezTo>
                <a:cubicBezTo>
                  <a:pt x="82434" y="46974"/>
                  <a:pt x="83444" y="46387"/>
                  <a:pt x="84437" y="45748"/>
                </a:cubicBezTo>
                <a:cubicBezTo>
                  <a:pt x="85430" y="45108"/>
                  <a:pt x="86442" y="44522"/>
                  <a:pt x="87471" y="43988"/>
                </a:cubicBezTo>
                <a:lnTo>
                  <a:pt x="92730" y="43988"/>
                </a:lnTo>
                <a:close/>
              </a:path>
            </a:pathLst>
          </a:custGeom>
          <a:solidFill>
            <a:schemeClr val="bg1"/>
          </a:solidFill>
          <a:ln w="2183" cap="flat">
            <a:noFill/>
            <a:prstDash val="solid"/>
            <a:miter/>
          </a:ln>
        </p:spPr>
        <p:txBody>
          <a:bodyPr/>
          <a:lstStyle/>
          <a:p>
            <a:endParaRPr lang="en-US"/>
          </a:p>
        </p:txBody>
      </p:sp>
      <p:sp>
        <p:nvSpPr>
          <p:cNvPr id="36" name="Graphic 26" descr="Badge with solid fill">
            <a:extLst>
              <a:ext uri="{FF2B5EF4-FFF2-40B4-BE49-F238E27FC236}">
                <a16:creationId xmlns:a16="http://schemas.microsoft.com/office/drawing/2014/main" id="{2A0D7E84-8984-B3F9-716E-4854EC3BE417}"/>
              </a:ext>
            </a:extLst>
          </p:cNvPr>
          <p:cNvSpPr/>
          <p:nvPr/>
        </p:nvSpPr>
        <p:spPr>
          <a:xfrm>
            <a:off x="6547143" y="2305444"/>
            <a:ext cx="167127" cy="167127"/>
          </a:xfrm>
          <a:custGeom>
            <a:avLst/>
            <a:gdLst>
              <a:gd name="csX0" fmla="*/ 83564 w 167127"/>
              <a:gd name="csY0" fmla="*/ 0 h 167127"/>
              <a:gd name="csX1" fmla="*/ 0 w 167127"/>
              <a:gd name="csY1" fmla="*/ 83564 h 167127"/>
              <a:gd name="csX2" fmla="*/ 83564 w 167127"/>
              <a:gd name="csY2" fmla="*/ 167127 h 167127"/>
              <a:gd name="csX3" fmla="*/ 167127 w 167127"/>
              <a:gd name="csY3" fmla="*/ 83564 h 167127"/>
              <a:gd name="csX4" fmla="*/ 167127 w 167127"/>
              <a:gd name="csY4" fmla="*/ 83557 h 167127"/>
              <a:gd name="csX5" fmla="*/ 83628 w 167127"/>
              <a:gd name="csY5" fmla="*/ 0 h 167127"/>
              <a:gd name="csX6" fmla="*/ 83564 w 167127"/>
              <a:gd name="csY6" fmla="*/ 0 h 167127"/>
              <a:gd name="csX7" fmla="*/ 107454 w 167127"/>
              <a:gd name="csY7" fmla="*/ 121034 h 167127"/>
              <a:gd name="csX8" fmla="*/ 59675 w 167127"/>
              <a:gd name="csY8" fmla="*/ 121034 h 167127"/>
              <a:gd name="csX9" fmla="*/ 59675 w 167127"/>
              <a:gd name="csY9" fmla="*/ 114022 h 167127"/>
              <a:gd name="csX10" fmla="*/ 61282 w 167127"/>
              <a:gd name="csY10" fmla="*/ 105441 h 167127"/>
              <a:gd name="csX11" fmla="*/ 65700 w 167127"/>
              <a:gd name="csY11" fmla="*/ 98400 h 167127"/>
              <a:gd name="csX12" fmla="*/ 72241 w 167127"/>
              <a:gd name="csY12" fmla="*/ 92411 h 167127"/>
              <a:gd name="csX13" fmla="*/ 80277 w 167127"/>
              <a:gd name="csY13" fmla="*/ 87005 h 167127"/>
              <a:gd name="csX14" fmla="*/ 87097 w 167127"/>
              <a:gd name="csY14" fmla="*/ 82109 h 167127"/>
              <a:gd name="csX15" fmla="*/ 91342 w 167127"/>
              <a:gd name="csY15" fmla="*/ 77449 h 167127"/>
              <a:gd name="csX16" fmla="*/ 93500 w 167127"/>
              <a:gd name="csY16" fmla="*/ 72736 h 167127"/>
              <a:gd name="csX17" fmla="*/ 94083 w 167127"/>
              <a:gd name="csY17" fmla="*/ 67475 h 167127"/>
              <a:gd name="csX18" fmla="*/ 93353 w 167127"/>
              <a:gd name="csY18" fmla="*/ 62947 h 167127"/>
              <a:gd name="csX19" fmla="*/ 91196 w 167127"/>
              <a:gd name="csY19" fmla="*/ 59112 h 167127"/>
              <a:gd name="csX20" fmla="*/ 87544 w 167127"/>
              <a:gd name="csY20" fmla="*/ 56472 h 167127"/>
              <a:gd name="csX21" fmla="*/ 82395 w 167127"/>
              <a:gd name="csY21" fmla="*/ 55486 h 167127"/>
              <a:gd name="csX22" fmla="*/ 72459 w 167127"/>
              <a:gd name="csY22" fmla="*/ 57825 h 167127"/>
              <a:gd name="csX23" fmla="*/ 63621 w 167127"/>
              <a:gd name="csY23" fmla="*/ 64107 h 167127"/>
              <a:gd name="csX24" fmla="*/ 63621 w 167127"/>
              <a:gd name="csY24" fmla="*/ 52709 h 167127"/>
              <a:gd name="csX25" fmla="*/ 72494 w 167127"/>
              <a:gd name="csY25" fmla="*/ 47596 h 167127"/>
              <a:gd name="csX26" fmla="*/ 83495 w 167127"/>
              <a:gd name="csY26" fmla="*/ 46056 h 167127"/>
              <a:gd name="csX27" fmla="*/ 92261 w 167127"/>
              <a:gd name="csY27" fmla="*/ 47376 h 167127"/>
              <a:gd name="csX28" fmla="*/ 99421 w 167127"/>
              <a:gd name="csY28" fmla="*/ 51211 h 167127"/>
              <a:gd name="csX29" fmla="*/ 104244 w 167127"/>
              <a:gd name="csY29" fmla="*/ 57493 h 167127"/>
              <a:gd name="csX30" fmla="*/ 106004 w 167127"/>
              <a:gd name="csY30" fmla="*/ 66074 h 167127"/>
              <a:gd name="csX31" fmla="*/ 105087 w 167127"/>
              <a:gd name="csY31" fmla="*/ 73962 h 167127"/>
              <a:gd name="csX32" fmla="*/ 102077 w 167127"/>
              <a:gd name="csY32" fmla="*/ 80780 h 167127"/>
              <a:gd name="csX33" fmla="*/ 96638 w 167127"/>
              <a:gd name="csY33" fmla="*/ 86992 h 167127"/>
              <a:gd name="csX34" fmla="*/ 88455 w 167127"/>
              <a:gd name="csY34" fmla="*/ 93053 h 167127"/>
              <a:gd name="csX35" fmla="*/ 81440 w 167127"/>
              <a:gd name="csY35" fmla="*/ 97656 h 167127"/>
              <a:gd name="csX36" fmla="*/ 76215 w 167127"/>
              <a:gd name="csY36" fmla="*/ 101857 h 167127"/>
              <a:gd name="csX37" fmla="*/ 72967 w 167127"/>
              <a:gd name="csY37" fmla="*/ 106167 h 167127"/>
              <a:gd name="csX38" fmla="*/ 71867 w 167127"/>
              <a:gd name="csY38" fmla="*/ 111100 h 167127"/>
              <a:gd name="csX39" fmla="*/ 107445 w 167127"/>
              <a:gd name="csY39" fmla="*/ 111100 h 16712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Lst>
            <a:rect l="l" t="t" r="r" b="b"/>
            <a:pathLst>
              <a:path w="167127" h="167127">
                <a:moveTo>
                  <a:pt x="83564" y="0"/>
                </a:moveTo>
                <a:cubicBezTo>
                  <a:pt x="37413" y="0"/>
                  <a:pt x="0" y="37413"/>
                  <a:pt x="0" y="83564"/>
                </a:cubicBezTo>
                <a:cubicBezTo>
                  <a:pt x="0" y="129715"/>
                  <a:pt x="37413" y="167127"/>
                  <a:pt x="83564" y="167127"/>
                </a:cubicBezTo>
                <a:cubicBezTo>
                  <a:pt x="129715" y="167127"/>
                  <a:pt x="167127" y="129715"/>
                  <a:pt x="167127" y="83564"/>
                </a:cubicBezTo>
                <a:cubicBezTo>
                  <a:pt x="167127" y="83561"/>
                  <a:pt x="167127" y="83559"/>
                  <a:pt x="167127" y="83557"/>
                </a:cubicBezTo>
                <a:cubicBezTo>
                  <a:pt x="167143" y="37426"/>
                  <a:pt x="129759" y="16"/>
                  <a:pt x="83628" y="0"/>
                </a:cubicBezTo>
                <a:cubicBezTo>
                  <a:pt x="83606" y="0"/>
                  <a:pt x="83585" y="0"/>
                  <a:pt x="83564" y="0"/>
                </a:cubicBezTo>
                <a:close/>
                <a:moveTo>
                  <a:pt x="107454" y="121034"/>
                </a:moveTo>
                <a:lnTo>
                  <a:pt x="59675" y="121034"/>
                </a:lnTo>
                <a:lnTo>
                  <a:pt x="59675" y="114022"/>
                </a:lnTo>
                <a:cubicBezTo>
                  <a:pt x="59632" y="111083"/>
                  <a:pt x="60178" y="108165"/>
                  <a:pt x="61282" y="105441"/>
                </a:cubicBezTo>
                <a:cubicBezTo>
                  <a:pt x="62363" y="102870"/>
                  <a:pt x="63855" y="100492"/>
                  <a:pt x="65700" y="98400"/>
                </a:cubicBezTo>
                <a:cubicBezTo>
                  <a:pt x="67663" y="96178"/>
                  <a:pt x="69855" y="94171"/>
                  <a:pt x="72241" y="92411"/>
                </a:cubicBezTo>
                <a:cubicBezTo>
                  <a:pt x="74726" y="90561"/>
                  <a:pt x="77405" y="88759"/>
                  <a:pt x="80277" y="87005"/>
                </a:cubicBezTo>
                <a:cubicBezTo>
                  <a:pt x="82682" y="85565"/>
                  <a:pt x="84963" y="83927"/>
                  <a:pt x="87097" y="82109"/>
                </a:cubicBezTo>
                <a:cubicBezTo>
                  <a:pt x="88702" y="80740"/>
                  <a:pt x="90128" y="79174"/>
                  <a:pt x="91342" y="77449"/>
                </a:cubicBezTo>
                <a:cubicBezTo>
                  <a:pt x="92341" y="76022"/>
                  <a:pt x="93072" y="74425"/>
                  <a:pt x="93500" y="72736"/>
                </a:cubicBezTo>
                <a:cubicBezTo>
                  <a:pt x="93901" y="71012"/>
                  <a:pt x="94097" y="69246"/>
                  <a:pt x="94083" y="67475"/>
                </a:cubicBezTo>
                <a:cubicBezTo>
                  <a:pt x="94086" y="65937"/>
                  <a:pt x="93839" y="64407"/>
                  <a:pt x="93353" y="62947"/>
                </a:cubicBezTo>
                <a:cubicBezTo>
                  <a:pt x="92895" y="61539"/>
                  <a:pt x="92162" y="60235"/>
                  <a:pt x="91196" y="59112"/>
                </a:cubicBezTo>
                <a:cubicBezTo>
                  <a:pt x="90191" y="57971"/>
                  <a:pt x="88943" y="57069"/>
                  <a:pt x="87544" y="56472"/>
                </a:cubicBezTo>
                <a:cubicBezTo>
                  <a:pt x="85916" y="55787"/>
                  <a:pt x="84162" y="55451"/>
                  <a:pt x="82395" y="55486"/>
                </a:cubicBezTo>
                <a:cubicBezTo>
                  <a:pt x="78945" y="55473"/>
                  <a:pt x="75541" y="56275"/>
                  <a:pt x="72459" y="57825"/>
                </a:cubicBezTo>
                <a:cubicBezTo>
                  <a:pt x="69218" y="59470"/>
                  <a:pt x="66239" y="61587"/>
                  <a:pt x="63621" y="64107"/>
                </a:cubicBezTo>
                <a:lnTo>
                  <a:pt x="63621" y="52709"/>
                </a:lnTo>
                <a:cubicBezTo>
                  <a:pt x="66151" y="50352"/>
                  <a:pt x="69186" y="48603"/>
                  <a:pt x="72494" y="47596"/>
                </a:cubicBezTo>
                <a:cubicBezTo>
                  <a:pt x="76064" y="46537"/>
                  <a:pt x="79772" y="46018"/>
                  <a:pt x="83495" y="46056"/>
                </a:cubicBezTo>
                <a:cubicBezTo>
                  <a:pt x="86468" y="46035"/>
                  <a:pt x="89426" y="46481"/>
                  <a:pt x="92261" y="47376"/>
                </a:cubicBezTo>
                <a:cubicBezTo>
                  <a:pt x="94870" y="48188"/>
                  <a:pt x="97300" y="49489"/>
                  <a:pt x="99421" y="51211"/>
                </a:cubicBezTo>
                <a:cubicBezTo>
                  <a:pt x="101483" y="52913"/>
                  <a:pt x="103132" y="55061"/>
                  <a:pt x="104244" y="57493"/>
                </a:cubicBezTo>
                <a:cubicBezTo>
                  <a:pt x="105454" y="60189"/>
                  <a:pt x="106055" y="63119"/>
                  <a:pt x="106004" y="66074"/>
                </a:cubicBezTo>
                <a:cubicBezTo>
                  <a:pt x="106030" y="68731"/>
                  <a:pt x="105722" y="71381"/>
                  <a:pt x="105087" y="73962"/>
                </a:cubicBezTo>
                <a:cubicBezTo>
                  <a:pt x="104464" y="76384"/>
                  <a:pt x="103448" y="78688"/>
                  <a:pt x="102077" y="80780"/>
                </a:cubicBezTo>
                <a:cubicBezTo>
                  <a:pt x="100549" y="83084"/>
                  <a:pt x="98719" y="85173"/>
                  <a:pt x="96638" y="86992"/>
                </a:cubicBezTo>
                <a:cubicBezTo>
                  <a:pt x="94075" y="89226"/>
                  <a:pt x="91339" y="91253"/>
                  <a:pt x="88455" y="93053"/>
                </a:cubicBezTo>
                <a:cubicBezTo>
                  <a:pt x="85823" y="94711"/>
                  <a:pt x="83485" y="96245"/>
                  <a:pt x="81440" y="97656"/>
                </a:cubicBezTo>
                <a:cubicBezTo>
                  <a:pt x="79588" y="98914"/>
                  <a:pt x="77841" y="100318"/>
                  <a:pt x="76215" y="101857"/>
                </a:cubicBezTo>
                <a:cubicBezTo>
                  <a:pt x="74892" y="103096"/>
                  <a:pt x="73794" y="104554"/>
                  <a:pt x="72967" y="106167"/>
                </a:cubicBezTo>
                <a:cubicBezTo>
                  <a:pt x="72224" y="107704"/>
                  <a:pt x="71847" y="109393"/>
                  <a:pt x="71867" y="111100"/>
                </a:cubicBezTo>
                <a:lnTo>
                  <a:pt x="107445" y="111100"/>
                </a:lnTo>
                <a:close/>
              </a:path>
            </a:pathLst>
          </a:custGeom>
          <a:solidFill>
            <a:schemeClr val="bg1"/>
          </a:solidFill>
          <a:ln w="2183" cap="flat">
            <a:noFill/>
            <a:prstDash val="solid"/>
            <a:miter/>
          </a:ln>
        </p:spPr>
        <p:txBody>
          <a:bodyPr/>
          <a:lstStyle/>
          <a:p>
            <a:endParaRPr lang="en-US"/>
          </a:p>
        </p:txBody>
      </p:sp>
      <p:sp>
        <p:nvSpPr>
          <p:cNvPr id="37" name="Graphic 27" descr="Badge 3 with solid fill">
            <a:extLst>
              <a:ext uri="{FF2B5EF4-FFF2-40B4-BE49-F238E27FC236}">
                <a16:creationId xmlns:a16="http://schemas.microsoft.com/office/drawing/2014/main" id="{31BC5D50-71E1-AA7A-F0A9-4DC65BC12F62}"/>
              </a:ext>
            </a:extLst>
          </p:cNvPr>
          <p:cNvSpPr/>
          <p:nvPr/>
        </p:nvSpPr>
        <p:spPr>
          <a:xfrm>
            <a:off x="8424065" y="2305444"/>
            <a:ext cx="167131" cy="167131"/>
          </a:xfrm>
          <a:custGeom>
            <a:avLst/>
            <a:gdLst>
              <a:gd name="csX0" fmla="*/ 83568 w 167131"/>
              <a:gd name="csY0" fmla="*/ 0 h 167131"/>
              <a:gd name="csX1" fmla="*/ 0 w 167131"/>
              <a:gd name="csY1" fmla="*/ 83564 h 167131"/>
              <a:gd name="csX2" fmla="*/ 83564 w 167131"/>
              <a:gd name="csY2" fmla="*/ 167132 h 167131"/>
              <a:gd name="csX3" fmla="*/ 167132 w 167131"/>
              <a:gd name="csY3" fmla="*/ 83568 h 167131"/>
              <a:gd name="csX4" fmla="*/ 167132 w 167131"/>
              <a:gd name="csY4" fmla="*/ 83559 h 167131"/>
              <a:gd name="csX5" fmla="*/ 83634 w 167131"/>
              <a:gd name="csY5" fmla="*/ 0 h 167131"/>
              <a:gd name="csX6" fmla="*/ 83568 w 167131"/>
              <a:gd name="csY6" fmla="*/ 0 h 167131"/>
              <a:gd name="csX7" fmla="*/ 105676 w 167131"/>
              <a:gd name="csY7" fmla="*/ 108983 h 167131"/>
              <a:gd name="csX8" fmla="*/ 99428 w 167131"/>
              <a:gd name="csY8" fmla="*/ 115850 h 167131"/>
              <a:gd name="csX9" fmla="*/ 90261 w 167131"/>
              <a:gd name="csY9" fmla="*/ 120051 h 167131"/>
              <a:gd name="csX10" fmla="*/ 79260 w 167131"/>
              <a:gd name="csY10" fmla="*/ 121476 h 167131"/>
              <a:gd name="csX11" fmla="*/ 68083 w 167131"/>
              <a:gd name="csY11" fmla="*/ 120488 h 167131"/>
              <a:gd name="csX12" fmla="*/ 59244 w 167131"/>
              <a:gd name="csY12" fmla="*/ 117531 h 167131"/>
              <a:gd name="csX13" fmla="*/ 59244 w 167131"/>
              <a:gd name="csY13" fmla="*/ 106273 h 167131"/>
              <a:gd name="csX14" fmla="*/ 68925 w 167131"/>
              <a:gd name="csY14" fmla="*/ 110730 h 167131"/>
              <a:gd name="csX15" fmla="*/ 79625 w 167131"/>
              <a:gd name="csY15" fmla="*/ 112191 h 167131"/>
              <a:gd name="csX16" fmla="*/ 84813 w 167131"/>
              <a:gd name="csY16" fmla="*/ 111679 h 167131"/>
              <a:gd name="csX17" fmla="*/ 89966 w 167131"/>
              <a:gd name="csY17" fmla="*/ 109817 h 167131"/>
              <a:gd name="csX18" fmla="*/ 93912 w 167131"/>
              <a:gd name="csY18" fmla="*/ 106127 h 167131"/>
              <a:gd name="csX19" fmla="*/ 95478 w 167131"/>
              <a:gd name="csY19" fmla="*/ 100211 h 167131"/>
              <a:gd name="csX20" fmla="*/ 93984 w 167131"/>
              <a:gd name="csY20" fmla="*/ 94110 h 167131"/>
              <a:gd name="csX21" fmla="*/ 89819 w 167131"/>
              <a:gd name="csY21" fmla="*/ 90019 h 167131"/>
              <a:gd name="csX22" fmla="*/ 83537 w 167131"/>
              <a:gd name="csY22" fmla="*/ 87718 h 167131"/>
              <a:gd name="csX23" fmla="*/ 75680 w 167131"/>
              <a:gd name="csY23" fmla="*/ 86987 h 167131"/>
              <a:gd name="csX24" fmla="*/ 68890 w 167131"/>
              <a:gd name="csY24" fmla="*/ 86987 h 167131"/>
              <a:gd name="csX25" fmla="*/ 68890 w 167131"/>
              <a:gd name="csY25" fmla="*/ 77636 h 167131"/>
              <a:gd name="csX26" fmla="*/ 75319 w 167131"/>
              <a:gd name="csY26" fmla="*/ 77636 h 167131"/>
              <a:gd name="csX27" fmla="*/ 82299 w 167131"/>
              <a:gd name="csY27" fmla="*/ 76976 h 167131"/>
              <a:gd name="csX28" fmla="*/ 87777 w 167131"/>
              <a:gd name="csY28" fmla="*/ 74822 h 167131"/>
              <a:gd name="csX29" fmla="*/ 91357 w 167131"/>
              <a:gd name="csY29" fmla="*/ 70985 h 167131"/>
              <a:gd name="csX30" fmla="*/ 92635 w 167131"/>
              <a:gd name="csY30" fmla="*/ 65288 h 167131"/>
              <a:gd name="csX31" fmla="*/ 91432 w 167131"/>
              <a:gd name="csY31" fmla="*/ 60138 h 167131"/>
              <a:gd name="csX32" fmla="*/ 88351 w 167131"/>
              <a:gd name="csY32" fmla="*/ 56996 h 167131"/>
              <a:gd name="csX33" fmla="*/ 84294 w 167131"/>
              <a:gd name="csY33" fmla="*/ 55425 h 167131"/>
              <a:gd name="csX34" fmla="*/ 80059 w 167131"/>
              <a:gd name="csY34" fmla="*/ 54985 h 167131"/>
              <a:gd name="csX35" fmla="*/ 70998 w 167131"/>
              <a:gd name="csY35" fmla="*/ 56305 h 167131"/>
              <a:gd name="csX36" fmla="*/ 62377 w 167131"/>
              <a:gd name="csY36" fmla="*/ 60248 h 167131"/>
              <a:gd name="csX37" fmla="*/ 62377 w 167131"/>
              <a:gd name="csY37" fmla="*/ 49882 h 167131"/>
              <a:gd name="csX38" fmla="*/ 71057 w 167131"/>
              <a:gd name="csY38" fmla="*/ 46703 h 167131"/>
              <a:gd name="csX39" fmla="*/ 81099 w 167131"/>
              <a:gd name="csY39" fmla="*/ 45644 h 167131"/>
              <a:gd name="csX40" fmla="*/ 90052 w 167131"/>
              <a:gd name="csY40" fmla="*/ 46703 h 167131"/>
              <a:gd name="csX41" fmla="*/ 97753 w 167131"/>
              <a:gd name="csY41" fmla="*/ 49955 h 167131"/>
              <a:gd name="csX42" fmla="*/ 103124 w 167131"/>
              <a:gd name="csY42" fmla="*/ 55506 h 167131"/>
              <a:gd name="csX43" fmla="*/ 105131 w 167131"/>
              <a:gd name="csY43" fmla="*/ 63469 h 167131"/>
              <a:gd name="csX44" fmla="*/ 100933 w 167131"/>
              <a:gd name="csY44" fmla="*/ 75451 h 167131"/>
              <a:gd name="csX45" fmla="*/ 89425 w 167131"/>
              <a:gd name="csY45" fmla="*/ 81806 h 167131"/>
              <a:gd name="csX46" fmla="*/ 96365 w 167131"/>
              <a:gd name="csY46" fmla="*/ 83566 h 167131"/>
              <a:gd name="csX47" fmla="*/ 102321 w 167131"/>
              <a:gd name="csY47" fmla="*/ 87256 h 167131"/>
              <a:gd name="csX48" fmla="*/ 106446 w 167131"/>
              <a:gd name="csY48" fmla="*/ 92662 h 167131"/>
              <a:gd name="csX49" fmla="*/ 107987 w 167131"/>
              <a:gd name="csY49" fmla="*/ 99494 h 167131"/>
              <a:gd name="csX50" fmla="*/ 105676 w 167131"/>
              <a:gd name="csY50" fmla="*/ 108983 h 1671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Lst>
            <a:rect l="l" t="t" r="r" b="b"/>
            <a:pathLst>
              <a:path w="167131" h="167131">
                <a:moveTo>
                  <a:pt x="83568" y="0"/>
                </a:moveTo>
                <a:cubicBezTo>
                  <a:pt x="37416" y="-1"/>
                  <a:pt x="1" y="37411"/>
                  <a:pt x="0" y="83564"/>
                </a:cubicBezTo>
                <a:cubicBezTo>
                  <a:pt x="-1" y="129716"/>
                  <a:pt x="37411" y="167130"/>
                  <a:pt x="83564" y="167132"/>
                </a:cubicBezTo>
                <a:cubicBezTo>
                  <a:pt x="129716" y="167133"/>
                  <a:pt x="167130" y="129720"/>
                  <a:pt x="167132" y="83568"/>
                </a:cubicBezTo>
                <a:cubicBezTo>
                  <a:pt x="167132" y="83565"/>
                  <a:pt x="167132" y="83562"/>
                  <a:pt x="167132" y="83559"/>
                </a:cubicBezTo>
                <a:cubicBezTo>
                  <a:pt x="167149" y="37428"/>
                  <a:pt x="129766" y="17"/>
                  <a:pt x="83634" y="0"/>
                </a:cubicBezTo>
                <a:cubicBezTo>
                  <a:pt x="83612" y="0"/>
                  <a:pt x="83590" y="0"/>
                  <a:pt x="83568" y="0"/>
                </a:cubicBezTo>
                <a:close/>
                <a:moveTo>
                  <a:pt x="105676" y="108983"/>
                </a:moveTo>
                <a:cubicBezTo>
                  <a:pt x="104139" y="111715"/>
                  <a:pt x="102003" y="114063"/>
                  <a:pt x="99428" y="115850"/>
                </a:cubicBezTo>
                <a:cubicBezTo>
                  <a:pt x="96641" y="117774"/>
                  <a:pt x="93538" y="119196"/>
                  <a:pt x="90261" y="120051"/>
                </a:cubicBezTo>
                <a:cubicBezTo>
                  <a:pt x="86674" y="121015"/>
                  <a:pt x="82974" y="121494"/>
                  <a:pt x="79260" y="121476"/>
                </a:cubicBezTo>
                <a:cubicBezTo>
                  <a:pt x="75512" y="121489"/>
                  <a:pt x="71771" y="121159"/>
                  <a:pt x="68083" y="120488"/>
                </a:cubicBezTo>
                <a:cubicBezTo>
                  <a:pt x="64995" y="119991"/>
                  <a:pt x="62010" y="118992"/>
                  <a:pt x="59244" y="117531"/>
                </a:cubicBezTo>
                <a:lnTo>
                  <a:pt x="59244" y="106273"/>
                </a:lnTo>
                <a:cubicBezTo>
                  <a:pt x="62180" y="108322"/>
                  <a:pt x="65459" y="109832"/>
                  <a:pt x="68925" y="110730"/>
                </a:cubicBezTo>
                <a:cubicBezTo>
                  <a:pt x="72412" y="111685"/>
                  <a:pt x="76010" y="112177"/>
                  <a:pt x="79625" y="112191"/>
                </a:cubicBezTo>
                <a:cubicBezTo>
                  <a:pt x="81367" y="112179"/>
                  <a:pt x="83103" y="112007"/>
                  <a:pt x="84813" y="111679"/>
                </a:cubicBezTo>
                <a:cubicBezTo>
                  <a:pt x="86624" y="111353"/>
                  <a:pt x="88366" y="110724"/>
                  <a:pt x="89966" y="109817"/>
                </a:cubicBezTo>
                <a:cubicBezTo>
                  <a:pt x="91552" y="108912"/>
                  <a:pt x="92903" y="107649"/>
                  <a:pt x="93912" y="106127"/>
                </a:cubicBezTo>
                <a:cubicBezTo>
                  <a:pt x="95014" y="104357"/>
                  <a:pt x="95560" y="102295"/>
                  <a:pt x="95478" y="100211"/>
                </a:cubicBezTo>
                <a:cubicBezTo>
                  <a:pt x="95543" y="98079"/>
                  <a:pt x="95026" y="95970"/>
                  <a:pt x="93984" y="94110"/>
                </a:cubicBezTo>
                <a:cubicBezTo>
                  <a:pt x="92967" y="92413"/>
                  <a:pt x="91533" y="91005"/>
                  <a:pt x="89819" y="90019"/>
                </a:cubicBezTo>
                <a:cubicBezTo>
                  <a:pt x="87868" y="88908"/>
                  <a:pt x="85745" y="88131"/>
                  <a:pt x="83537" y="87718"/>
                </a:cubicBezTo>
                <a:cubicBezTo>
                  <a:pt x="80949" y="87214"/>
                  <a:pt x="78317" y="86970"/>
                  <a:pt x="75680" y="86987"/>
                </a:cubicBezTo>
                <a:lnTo>
                  <a:pt x="68890" y="86987"/>
                </a:lnTo>
                <a:lnTo>
                  <a:pt x="68890" y="77636"/>
                </a:lnTo>
                <a:lnTo>
                  <a:pt x="75319" y="77636"/>
                </a:lnTo>
                <a:cubicBezTo>
                  <a:pt x="77662" y="77653"/>
                  <a:pt x="80001" y="77432"/>
                  <a:pt x="82299" y="76976"/>
                </a:cubicBezTo>
                <a:cubicBezTo>
                  <a:pt x="84244" y="76608"/>
                  <a:pt x="86102" y="75877"/>
                  <a:pt x="87777" y="74822"/>
                </a:cubicBezTo>
                <a:cubicBezTo>
                  <a:pt x="89274" y="73864"/>
                  <a:pt x="90505" y="72544"/>
                  <a:pt x="91357" y="70985"/>
                </a:cubicBezTo>
                <a:cubicBezTo>
                  <a:pt x="92256" y="69224"/>
                  <a:pt x="92696" y="67265"/>
                  <a:pt x="92635" y="65288"/>
                </a:cubicBezTo>
                <a:cubicBezTo>
                  <a:pt x="92709" y="63494"/>
                  <a:pt x="92293" y="61714"/>
                  <a:pt x="91432" y="60138"/>
                </a:cubicBezTo>
                <a:cubicBezTo>
                  <a:pt x="90680" y="58852"/>
                  <a:pt x="89621" y="57773"/>
                  <a:pt x="88351" y="56996"/>
                </a:cubicBezTo>
                <a:cubicBezTo>
                  <a:pt x="87102" y="56238"/>
                  <a:pt x="85728" y="55706"/>
                  <a:pt x="84294" y="55425"/>
                </a:cubicBezTo>
                <a:cubicBezTo>
                  <a:pt x="82900" y="55139"/>
                  <a:pt x="81482" y="54991"/>
                  <a:pt x="80059" y="54985"/>
                </a:cubicBezTo>
                <a:cubicBezTo>
                  <a:pt x="76993" y="55013"/>
                  <a:pt x="73945" y="55457"/>
                  <a:pt x="70998" y="56305"/>
                </a:cubicBezTo>
                <a:cubicBezTo>
                  <a:pt x="67928" y="57138"/>
                  <a:pt x="65015" y="58470"/>
                  <a:pt x="62377" y="60248"/>
                </a:cubicBezTo>
                <a:lnTo>
                  <a:pt x="62377" y="49882"/>
                </a:lnTo>
                <a:cubicBezTo>
                  <a:pt x="65113" y="48433"/>
                  <a:pt x="68033" y="47363"/>
                  <a:pt x="71057" y="46703"/>
                </a:cubicBezTo>
                <a:cubicBezTo>
                  <a:pt x="74356" y="45981"/>
                  <a:pt x="77723" y="45626"/>
                  <a:pt x="81099" y="45644"/>
                </a:cubicBezTo>
                <a:cubicBezTo>
                  <a:pt x="84115" y="45639"/>
                  <a:pt x="87121" y="45994"/>
                  <a:pt x="90052" y="46703"/>
                </a:cubicBezTo>
                <a:cubicBezTo>
                  <a:pt x="92785" y="47342"/>
                  <a:pt x="95389" y="48442"/>
                  <a:pt x="97753" y="49955"/>
                </a:cubicBezTo>
                <a:cubicBezTo>
                  <a:pt x="99946" y="51368"/>
                  <a:pt x="101784" y="53267"/>
                  <a:pt x="103124" y="55506"/>
                </a:cubicBezTo>
                <a:cubicBezTo>
                  <a:pt x="104508" y="57927"/>
                  <a:pt x="105202" y="60681"/>
                  <a:pt x="105131" y="63469"/>
                </a:cubicBezTo>
                <a:cubicBezTo>
                  <a:pt x="105305" y="67851"/>
                  <a:pt x="103804" y="72136"/>
                  <a:pt x="100933" y="75451"/>
                </a:cubicBezTo>
                <a:cubicBezTo>
                  <a:pt x="97858" y="78723"/>
                  <a:pt x="93832" y="80946"/>
                  <a:pt x="89425" y="81806"/>
                </a:cubicBezTo>
                <a:cubicBezTo>
                  <a:pt x="91812" y="82052"/>
                  <a:pt x="94149" y="82645"/>
                  <a:pt x="96365" y="83566"/>
                </a:cubicBezTo>
                <a:cubicBezTo>
                  <a:pt x="98542" y="84455"/>
                  <a:pt x="100556" y="85702"/>
                  <a:pt x="102321" y="87256"/>
                </a:cubicBezTo>
                <a:cubicBezTo>
                  <a:pt x="104034" y="88772"/>
                  <a:pt x="105436" y="90609"/>
                  <a:pt x="106446" y="92662"/>
                </a:cubicBezTo>
                <a:cubicBezTo>
                  <a:pt x="107484" y="94788"/>
                  <a:pt x="108012" y="97127"/>
                  <a:pt x="107987" y="99494"/>
                </a:cubicBezTo>
                <a:cubicBezTo>
                  <a:pt x="108056" y="102804"/>
                  <a:pt x="107259" y="106075"/>
                  <a:pt x="105676" y="108983"/>
                </a:cubicBezTo>
                <a:close/>
              </a:path>
            </a:pathLst>
          </a:custGeom>
          <a:solidFill>
            <a:schemeClr val="bg1"/>
          </a:solidFill>
          <a:ln w="2183" cap="flat">
            <a:noFill/>
            <a:prstDash val="solid"/>
            <a:miter/>
          </a:ln>
        </p:spPr>
        <p:txBody>
          <a:bodyPr/>
          <a:lstStyle/>
          <a:p>
            <a:endParaRPr lang="en-US"/>
          </a:p>
        </p:txBody>
      </p:sp>
      <p:sp>
        <p:nvSpPr>
          <p:cNvPr id="39" name="Freeform: Shape 38">
            <a:extLst>
              <a:ext uri="{FF2B5EF4-FFF2-40B4-BE49-F238E27FC236}">
                <a16:creationId xmlns:a16="http://schemas.microsoft.com/office/drawing/2014/main" id="{2B17C13F-E640-5C6C-108C-C0F46440BD9C}"/>
              </a:ext>
            </a:extLst>
          </p:cNvPr>
          <p:cNvSpPr/>
          <p:nvPr/>
        </p:nvSpPr>
        <p:spPr>
          <a:xfrm>
            <a:off x="10365477" y="2365766"/>
            <a:ext cx="21916" cy="31989"/>
          </a:xfrm>
          <a:custGeom>
            <a:avLst/>
            <a:gdLst>
              <a:gd name="csX0" fmla="*/ 10229 w 21916"/>
              <a:gd name="csY0" fmla="*/ 18887 h 31989"/>
              <a:gd name="csX1" fmla="*/ 5188 w 21916"/>
              <a:gd name="csY1" fmla="*/ 25708 h 31989"/>
              <a:gd name="csX2" fmla="*/ 0 w 21916"/>
              <a:gd name="csY2" fmla="*/ 31990 h 31989"/>
              <a:gd name="csX3" fmla="*/ 21917 w 21916"/>
              <a:gd name="csY3" fmla="*/ 31990 h 31989"/>
              <a:gd name="csX4" fmla="*/ 21917 w 21916"/>
              <a:gd name="csY4" fmla="*/ 0 h 31989"/>
              <a:gd name="csX5" fmla="*/ 15635 w 21916"/>
              <a:gd name="csY5" fmla="*/ 10629 h 31989"/>
              <a:gd name="csX6" fmla="*/ 10229 w 21916"/>
              <a:gd name="csY6" fmla="*/ 18887 h 3198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21916" h="31989">
                <a:moveTo>
                  <a:pt x="10229" y="18887"/>
                </a:moveTo>
                <a:cubicBezTo>
                  <a:pt x="8522" y="21347"/>
                  <a:pt x="6841" y="23620"/>
                  <a:pt x="5188" y="25708"/>
                </a:cubicBezTo>
                <a:cubicBezTo>
                  <a:pt x="3535" y="27795"/>
                  <a:pt x="1806" y="29889"/>
                  <a:pt x="0" y="31990"/>
                </a:cubicBezTo>
                <a:lnTo>
                  <a:pt x="21917" y="31990"/>
                </a:lnTo>
                <a:lnTo>
                  <a:pt x="21917" y="0"/>
                </a:lnTo>
                <a:cubicBezTo>
                  <a:pt x="19626" y="4043"/>
                  <a:pt x="17532" y="7586"/>
                  <a:pt x="15635" y="10629"/>
                </a:cubicBezTo>
                <a:cubicBezTo>
                  <a:pt x="13738" y="13673"/>
                  <a:pt x="11936" y="16426"/>
                  <a:pt x="10229" y="18887"/>
                </a:cubicBezTo>
                <a:close/>
              </a:path>
            </a:pathLst>
          </a:custGeom>
          <a:solidFill>
            <a:schemeClr val="bg1"/>
          </a:solidFill>
          <a:ln w="2183" cap="flat">
            <a:noFill/>
            <a:prstDash val="solid"/>
            <a:miter/>
          </a:ln>
        </p:spPr>
        <p:txBody>
          <a:bodyPr/>
          <a:lstStyle/>
          <a:p>
            <a:endParaRPr lang="en-US"/>
          </a:p>
        </p:txBody>
      </p:sp>
      <p:sp>
        <p:nvSpPr>
          <p:cNvPr id="40" name="Freeform: Shape 39">
            <a:extLst>
              <a:ext uri="{FF2B5EF4-FFF2-40B4-BE49-F238E27FC236}">
                <a16:creationId xmlns:a16="http://schemas.microsoft.com/office/drawing/2014/main" id="{2695AE79-E7BB-5F75-C5FD-F9EABD5734F9}"/>
              </a:ext>
            </a:extLst>
          </p:cNvPr>
          <p:cNvSpPr/>
          <p:nvPr/>
        </p:nvSpPr>
        <p:spPr>
          <a:xfrm>
            <a:off x="10300992" y="2305444"/>
            <a:ext cx="167131" cy="167131"/>
          </a:xfrm>
          <a:custGeom>
            <a:avLst/>
            <a:gdLst>
              <a:gd name="csX0" fmla="*/ 83568 w 167131"/>
              <a:gd name="csY0" fmla="*/ 0 h 167131"/>
              <a:gd name="csX1" fmla="*/ 0 w 167131"/>
              <a:gd name="csY1" fmla="*/ 83564 h 167131"/>
              <a:gd name="csX2" fmla="*/ 83564 w 167131"/>
              <a:gd name="csY2" fmla="*/ 167132 h 167131"/>
              <a:gd name="csX3" fmla="*/ 167132 w 167131"/>
              <a:gd name="csY3" fmla="*/ 83568 h 167131"/>
              <a:gd name="csX4" fmla="*/ 167132 w 167131"/>
              <a:gd name="csY4" fmla="*/ 83566 h 167131"/>
              <a:gd name="csX5" fmla="*/ 83641 w 167131"/>
              <a:gd name="csY5" fmla="*/ 0 h 167131"/>
              <a:gd name="csX6" fmla="*/ 83568 w 167131"/>
              <a:gd name="csY6" fmla="*/ 0 h 167131"/>
              <a:gd name="csX7" fmla="*/ 109049 w 167131"/>
              <a:gd name="csY7" fmla="*/ 102913 h 167131"/>
              <a:gd name="csX8" fmla="*/ 99040 w 167131"/>
              <a:gd name="csY8" fmla="*/ 102913 h 167131"/>
              <a:gd name="csX9" fmla="*/ 99040 w 167131"/>
              <a:gd name="csY9" fmla="*/ 118620 h 167131"/>
              <a:gd name="csX10" fmla="*/ 86402 w 167131"/>
              <a:gd name="csY10" fmla="*/ 118620 h 167131"/>
              <a:gd name="csX11" fmla="*/ 86402 w 167131"/>
              <a:gd name="csY11" fmla="*/ 102913 h 167131"/>
              <a:gd name="csX12" fmla="*/ 51992 w 167131"/>
              <a:gd name="csY12" fmla="*/ 102913 h 167131"/>
              <a:gd name="csX13" fmla="*/ 51992 w 167131"/>
              <a:gd name="csY13" fmla="*/ 92906 h 167131"/>
              <a:gd name="csX14" fmla="*/ 62001 w 167131"/>
              <a:gd name="csY14" fmla="*/ 81216 h 167131"/>
              <a:gd name="csX15" fmla="*/ 71207 w 167131"/>
              <a:gd name="csY15" fmla="*/ 68760 h 167131"/>
              <a:gd name="csX16" fmla="*/ 79209 w 167131"/>
              <a:gd name="csY16" fmla="*/ 56195 h 167131"/>
              <a:gd name="csX17" fmla="*/ 85744 w 167131"/>
              <a:gd name="csY17" fmla="*/ 44104 h 167131"/>
              <a:gd name="csX18" fmla="*/ 99040 w 167131"/>
              <a:gd name="csY18" fmla="*/ 44104 h 167131"/>
              <a:gd name="csX19" fmla="*/ 99040 w 167131"/>
              <a:gd name="csY19" fmla="*/ 92321 h 167131"/>
              <a:gd name="csX20" fmla="*/ 109049 w 167131"/>
              <a:gd name="csY20" fmla="*/ 92321 h 1671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Lst>
            <a:rect l="l" t="t" r="r" b="b"/>
            <a:pathLst>
              <a:path w="167131" h="167131">
                <a:moveTo>
                  <a:pt x="83568" y="0"/>
                </a:moveTo>
                <a:cubicBezTo>
                  <a:pt x="37416" y="-1"/>
                  <a:pt x="1" y="37411"/>
                  <a:pt x="0" y="83564"/>
                </a:cubicBezTo>
                <a:cubicBezTo>
                  <a:pt x="-1" y="129716"/>
                  <a:pt x="37411" y="167130"/>
                  <a:pt x="83564" y="167132"/>
                </a:cubicBezTo>
                <a:cubicBezTo>
                  <a:pt x="129716" y="167133"/>
                  <a:pt x="167130" y="129720"/>
                  <a:pt x="167132" y="83568"/>
                </a:cubicBezTo>
                <a:cubicBezTo>
                  <a:pt x="167132" y="83567"/>
                  <a:pt x="167132" y="83567"/>
                  <a:pt x="167132" y="83566"/>
                </a:cubicBezTo>
                <a:cubicBezTo>
                  <a:pt x="167152" y="37434"/>
                  <a:pt x="129772" y="21"/>
                  <a:pt x="83641" y="0"/>
                </a:cubicBezTo>
                <a:cubicBezTo>
                  <a:pt x="83616" y="0"/>
                  <a:pt x="83592" y="0"/>
                  <a:pt x="83568" y="0"/>
                </a:cubicBezTo>
                <a:close/>
                <a:moveTo>
                  <a:pt x="109049" y="102913"/>
                </a:moveTo>
                <a:lnTo>
                  <a:pt x="99040" y="102913"/>
                </a:lnTo>
                <a:lnTo>
                  <a:pt x="99040" y="118620"/>
                </a:lnTo>
                <a:lnTo>
                  <a:pt x="86402" y="118620"/>
                </a:lnTo>
                <a:lnTo>
                  <a:pt x="86402" y="102913"/>
                </a:lnTo>
                <a:lnTo>
                  <a:pt x="51992" y="102913"/>
                </a:lnTo>
                <a:lnTo>
                  <a:pt x="51992" y="92906"/>
                </a:lnTo>
                <a:cubicBezTo>
                  <a:pt x="55401" y="89204"/>
                  <a:pt x="58737" y="85307"/>
                  <a:pt x="62001" y="81216"/>
                </a:cubicBezTo>
                <a:cubicBezTo>
                  <a:pt x="65265" y="77125"/>
                  <a:pt x="68333" y="72973"/>
                  <a:pt x="71207" y="68760"/>
                </a:cubicBezTo>
                <a:cubicBezTo>
                  <a:pt x="74081" y="64548"/>
                  <a:pt x="76748" y="60359"/>
                  <a:pt x="79209" y="56195"/>
                </a:cubicBezTo>
                <a:cubicBezTo>
                  <a:pt x="81671" y="52030"/>
                  <a:pt x="83849" y="48000"/>
                  <a:pt x="85744" y="44104"/>
                </a:cubicBezTo>
                <a:lnTo>
                  <a:pt x="99040" y="44104"/>
                </a:lnTo>
                <a:lnTo>
                  <a:pt x="99040" y="92321"/>
                </a:lnTo>
                <a:lnTo>
                  <a:pt x="109049" y="92321"/>
                </a:lnTo>
                <a:close/>
              </a:path>
            </a:pathLst>
          </a:custGeom>
          <a:solidFill>
            <a:schemeClr val="bg1"/>
          </a:solidFill>
          <a:ln w="2183" cap="flat">
            <a:noFill/>
            <a:prstDash val="solid"/>
            <a:miter/>
          </a:ln>
        </p:spPr>
        <p:txBody>
          <a:bodyPr/>
          <a:lstStyle/>
          <a:p>
            <a:endParaRPr lang="en-US"/>
          </a:p>
        </p:txBody>
      </p:sp>
      <p:sp>
        <p:nvSpPr>
          <p:cNvPr id="30" name="Rectangle: Rounded Corners 29">
            <a:extLst>
              <a:ext uri="{FF2B5EF4-FFF2-40B4-BE49-F238E27FC236}">
                <a16:creationId xmlns:a16="http://schemas.microsoft.com/office/drawing/2014/main" id="{5DA682E7-2761-4F46-34FC-8B679DCB0058}"/>
              </a:ext>
            </a:extLst>
          </p:cNvPr>
          <p:cNvSpPr/>
          <p:nvPr/>
        </p:nvSpPr>
        <p:spPr>
          <a:xfrm>
            <a:off x="6102015" y="2070736"/>
            <a:ext cx="1108910" cy="211225"/>
          </a:xfrm>
          <a:prstGeom prst="roundRect">
            <a:avLst>
              <a:gd name="adj" fmla="val 50000"/>
            </a:avLst>
          </a:prstGeom>
          <a:solidFill>
            <a:srgbClr val="002060"/>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TextBox 30">
            <a:extLst>
              <a:ext uri="{FF2B5EF4-FFF2-40B4-BE49-F238E27FC236}">
                <a16:creationId xmlns:a16="http://schemas.microsoft.com/office/drawing/2014/main" id="{E29F19F0-129D-F075-504C-9151A87C8C95}"/>
              </a:ext>
            </a:extLst>
          </p:cNvPr>
          <p:cNvSpPr txBox="1"/>
          <p:nvPr/>
        </p:nvSpPr>
        <p:spPr>
          <a:xfrm>
            <a:off x="6102016" y="2069255"/>
            <a:ext cx="1108910" cy="200055"/>
          </a:xfrm>
          <a:prstGeom prst="rect">
            <a:avLst/>
          </a:prstGeom>
          <a:noFill/>
        </p:spPr>
        <p:txBody>
          <a:bodyPr wrap="square" numCol="1" rtlCol="0">
            <a:spAutoFit/>
          </a:bodyPr>
          <a:lstStyle/>
          <a:p>
            <a:pPr algn="ctr">
              <a:spcAft>
                <a:spcPts val="1200"/>
              </a:spcAft>
            </a:pPr>
            <a:r>
              <a:rPr lang="en-US" sz="700" dirty="0">
                <a:solidFill>
                  <a:schemeClr val="bg1"/>
                </a:solidFill>
                <a:latin typeface="Montserrat SemiBold" panose="00000700000000000000" pitchFamily="2" charset="0"/>
              </a:rPr>
              <a:t>MOST POPULAR</a:t>
            </a:r>
          </a:p>
        </p:txBody>
      </p:sp>
      <p:sp>
        <p:nvSpPr>
          <p:cNvPr id="41" name="Graphic 31" descr="Checkmark with solid fill">
            <a:extLst>
              <a:ext uri="{FF2B5EF4-FFF2-40B4-BE49-F238E27FC236}">
                <a16:creationId xmlns:a16="http://schemas.microsoft.com/office/drawing/2014/main" id="{1CC8D274-0689-FC46-36DD-79A24AAEB2A7}"/>
              </a:ext>
            </a:extLst>
          </p:cNvPr>
          <p:cNvSpPr/>
          <p:nvPr/>
        </p:nvSpPr>
        <p:spPr>
          <a:xfrm>
            <a:off x="4646276" y="2884932"/>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3C8394"/>
          </a:solidFill>
          <a:ln w="1389" cap="flat">
            <a:noFill/>
            <a:prstDash val="solid"/>
            <a:miter/>
          </a:ln>
        </p:spPr>
        <p:txBody>
          <a:bodyPr/>
          <a:lstStyle/>
          <a:p>
            <a:endParaRPr lang="en-US"/>
          </a:p>
        </p:txBody>
      </p:sp>
      <p:sp>
        <p:nvSpPr>
          <p:cNvPr id="42" name="Graphic 32" descr="Checkmark with solid fill">
            <a:extLst>
              <a:ext uri="{FF2B5EF4-FFF2-40B4-BE49-F238E27FC236}">
                <a16:creationId xmlns:a16="http://schemas.microsoft.com/office/drawing/2014/main" id="{07169A02-30F9-0B96-F415-8D7FEE96F2BE}"/>
              </a:ext>
            </a:extLst>
          </p:cNvPr>
          <p:cNvSpPr/>
          <p:nvPr/>
        </p:nvSpPr>
        <p:spPr>
          <a:xfrm>
            <a:off x="6565538" y="2884932"/>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76BD22"/>
          </a:solidFill>
          <a:ln w="1389" cap="flat">
            <a:noFill/>
            <a:prstDash val="solid"/>
            <a:miter/>
          </a:ln>
        </p:spPr>
        <p:txBody>
          <a:bodyPr/>
          <a:lstStyle/>
          <a:p>
            <a:endParaRPr lang="en-US"/>
          </a:p>
        </p:txBody>
      </p:sp>
      <p:sp>
        <p:nvSpPr>
          <p:cNvPr id="43" name="Graphic 33" descr="Checkmark with solid fill">
            <a:extLst>
              <a:ext uri="{FF2B5EF4-FFF2-40B4-BE49-F238E27FC236}">
                <a16:creationId xmlns:a16="http://schemas.microsoft.com/office/drawing/2014/main" id="{D180AB6E-16BB-8A42-2629-9CE3C870B355}"/>
              </a:ext>
            </a:extLst>
          </p:cNvPr>
          <p:cNvSpPr/>
          <p:nvPr/>
        </p:nvSpPr>
        <p:spPr>
          <a:xfrm>
            <a:off x="8442465" y="2884932"/>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3555BD"/>
          </a:solidFill>
          <a:ln w="1389" cap="flat">
            <a:noFill/>
            <a:prstDash val="solid"/>
            <a:miter/>
          </a:ln>
        </p:spPr>
        <p:txBody>
          <a:bodyPr/>
          <a:lstStyle/>
          <a:p>
            <a:endParaRPr lang="en-US"/>
          </a:p>
        </p:txBody>
      </p:sp>
      <p:sp>
        <p:nvSpPr>
          <p:cNvPr id="44" name="Graphic 34" descr="Checkmark with solid fill">
            <a:extLst>
              <a:ext uri="{FF2B5EF4-FFF2-40B4-BE49-F238E27FC236}">
                <a16:creationId xmlns:a16="http://schemas.microsoft.com/office/drawing/2014/main" id="{0B4C74FB-3EF7-78AF-FBCE-34FDF0C11514}"/>
              </a:ext>
            </a:extLst>
          </p:cNvPr>
          <p:cNvSpPr/>
          <p:nvPr/>
        </p:nvSpPr>
        <p:spPr>
          <a:xfrm>
            <a:off x="10357266" y="2884932"/>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002060"/>
          </a:solidFill>
          <a:ln w="1389" cap="flat">
            <a:noFill/>
            <a:prstDash val="solid"/>
            <a:miter/>
          </a:ln>
        </p:spPr>
        <p:txBody>
          <a:bodyPr/>
          <a:lstStyle/>
          <a:p>
            <a:endParaRPr lang="en-US"/>
          </a:p>
        </p:txBody>
      </p:sp>
      <p:sp>
        <p:nvSpPr>
          <p:cNvPr id="48" name="TextBox 47">
            <a:extLst>
              <a:ext uri="{FF2B5EF4-FFF2-40B4-BE49-F238E27FC236}">
                <a16:creationId xmlns:a16="http://schemas.microsoft.com/office/drawing/2014/main" id="{1959BF17-ECD5-31EF-CF0E-7216694348D1}"/>
              </a:ext>
            </a:extLst>
          </p:cNvPr>
          <p:cNvSpPr txBox="1"/>
          <p:nvPr/>
        </p:nvSpPr>
        <p:spPr>
          <a:xfrm>
            <a:off x="416611" y="1187484"/>
            <a:ext cx="10968684" cy="938719"/>
          </a:xfrm>
          <a:prstGeom prst="rect">
            <a:avLst/>
          </a:prstGeom>
          <a:noFill/>
        </p:spPr>
        <p:txBody>
          <a:bodyPr wrap="square" rtlCol="0">
            <a:spAutoFit/>
          </a:bodyPr>
          <a:lstStyle/>
          <a:p>
            <a:pPr>
              <a:spcAft>
                <a:spcPts val="1200"/>
              </a:spcAft>
            </a:pPr>
            <a:r>
              <a:rPr lang="en-US" sz="1400" dirty="0">
                <a:solidFill>
                  <a:srgbClr val="002060"/>
                </a:solidFill>
                <a:latin typeface="Montserrat SemiBold" panose="00000700000000000000" pitchFamily="2" charset="0"/>
              </a:rPr>
              <a:t>Bundled Implementation Packages. </a:t>
            </a:r>
            <a:r>
              <a:rPr lang="en-US" sz="1400" dirty="0">
                <a:solidFill>
                  <a:srgbClr val="3C8394"/>
                </a:solidFill>
                <a:latin typeface="Montserrat SemiBold" panose="00000700000000000000" pitchFamily="2" charset="0"/>
              </a:rPr>
              <a:t>Built for Your Goals.</a:t>
            </a:r>
          </a:p>
          <a:p>
            <a:pPr>
              <a:spcAft>
                <a:spcPts val="1200"/>
              </a:spcAft>
            </a:pPr>
            <a:r>
              <a:rPr lang="en-US" sz="900" dirty="0">
                <a:latin typeface="Montserrat SemiBold" panose="00000700000000000000" pitchFamily="2" charset="0"/>
              </a:rPr>
              <a:t>Kickstart your email platform subscription with a bundled implementation package. </a:t>
            </a:r>
            <a:endParaRPr lang="en-US" sz="900" dirty="0">
              <a:latin typeface="Montserrat" panose="00000500000000000000" pitchFamily="2" charset="0"/>
            </a:endParaRPr>
          </a:p>
          <a:p>
            <a:pPr marL="628650" lvl="1" indent="-171450">
              <a:buFont typeface="Arial" panose="020B0604020202020204" pitchFamily="34" charset="0"/>
              <a:buChar char="•"/>
            </a:pPr>
            <a:endParaRPr lang="en-US" sz="1200" dirty="0">
              <a:latin typeface="Montserrat SemiBold" panose="00000700000000000000" pitchFamily="2" charset="0"/>
            </a:endParaRPr>
          </a:p>
        </p:txBody>
      </p:sp>
      <p:sp>
        <p:nvSpPr>
          <p:cNvPr id="49" name="Graphic 31" descr="Checkmark with solid fill">
            <a:extLst>
              <a:ext uri="{FF2B5EF4-FFF2-40B4-BE49-F238E27FC236}">
                <a16:creationId xmlns:a16="http://schemas.microsoft.com/office/drawing/2014/main" id="{67900E07-0156-458E-6109-0E0A369DE80E}"/>
              </a:ext>
            </a:extLst>
          </p:cNvPr>
          <p:cNvSpPr/>
          <p:nvPr/>
        </p:nvSpPr>
        <p:spPr>
          <a:xfrm>
            <a:off x="4646276" y="3181160"/>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3C8394"/>
          </a:solidFill>
          <a:ln w="1389" cap="flat">
            <a:noFill/>
            <a:prstDash val="solid"/>
            <a:miter/>
          </a:ln>
        </p:spPr>
        <p:txBody>
          <a:bodyPr/>
          <a:lstStyle/>
          <a:p>
            <a:endParaRPr lang="en-US"/>
          </a:p>
        </p:txBody>
      </p:sp>
      <p:sp>
        <p:nvSpPr>
          <p:cNvPr id="50" name="Graphic 32" descr="Checkmark with solid fill">
            <a:extLst>
              <a:ext uri="{FF2B5EF4-FFF2-40B4-BE49-F238E27FC236}">
                <a16:creationId xmlns:a16="http://schemas.microsoft.com/office/drawing/2014/main" id="{C98E754E-EF52-2BAA-24EB-A023F80EB939}"/>
              </a:ext>
            </a:extLst>
          </p:cNvPr>
          <p:cNvSpPr/>
          <p:nvPr/>
        </p:nvSpPr>
        <p:spPr>
          <a:xfrm>
            <a:off x="6565538" y="3181160"/>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76BD22"/>
          </a:solidFill>
          <a:ln w="1389" cap="flat">
            <a:noFill/>
            <a:prstDash val="solid"/>
            <a:miter/>
          </a:ln>
        </p:spPr>
        <p:txBody>
          <a:bodyPr/>
          <a:lstStyle/>
          <a:p>
            <a:endParaRPr lang="en-US"/>
          </a:p>
        </p:txBody>
      </p:sp>
      <p:sp>
        <p:nvSpPr>
          <p:cNvPr id="51" name="Graphic 33" descr="Checkmark with solid fill">
            <a:extLst>
              <a:ext uri="{FF2B5EF4-FFF2-40B4-BE49-F238E27FC236}">
                <a16:creationId xmlns:a16="http://schemas.microsoft.com/office/drawing/2014/main" id="{9DB1D51B-42DF-4B6D-21B2-C3044BC9DC94}"/>
              </a:ext>
            </a:extLst>
          </p:cNvPr>
          <p:cNvSpPr/>
          <p:nvPr/>
        </p:nvSpPr>
        <p:spPr>
          <a:xfrm>
            <a:off x="8442465" y="3181160"/>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3555BD"/>
          </a:solidFill>
          <a:ln w="1389" cap="flat">
            <a:noFill/>
            <a:prstDash val="solid"/>
            <a:miter/>
          </a:ln>
        </p:spPr>
        <p:txBody>
          <a:bodyPr/>
          <a:lstStyle/>
          <a:p>
            <a:endParaRPr lang="en-US"/>
          </a:p>
        </p:txBody>
      </p:sp>
      <p:sp>
        <p:nvSpPr>
          <p:cNvPr id="52" name="Graphic 34" descr="Checkmark with solid fill">
            <a:extLst>
              <a:ext uri="{FF2B5EF4-FFF2-40B4-BE49-F238E27FC236}">
                <a16:creationId xmlns:a16="http://schemas.microsoft.com/office/drawing/2014/main" id="{CF9B6B8D-8CBC-38C1-4CE3-B4AEA4690410}"/>
              </a:ext>
            </a:extLst>
          </p:cNvPr>
          <p:cNvSpPr/>
          <p:nvPr/>
        </p:nvSpPr>
        <p:spPr>
          <a:xfrm>
            <a:off x="10357266" y="3181160"/>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002060"/>
          </a:solidFill>
          <a:ln w="1389" cap="flat">
            <a:noFill/>
            <a:prstDash val="solid"/>
            <a:miter/>
          </a:ln>
        </p:spPr>
        <p:txBody>
          <a:bodyPr/>
          <a:lstStyle/>
          <a:p>
            <a:endParaRPr lang="en-US"/>
          </a:p>
        </p:txBody>
      </p:sp>
      <p:sp>
        <p:nvSpPr>
          <p:cNvPr id="53" name="Graphic 31" descr="Checkmark with solid fill">
            <a:extLst>
              <a:ext uri="{FF2B5EF4-FFF2-40B4-BE49-F238E27FC236}">
                <a16:creationId xmlns:a16="http://schemas.microsoft.com/office/drawing/2014/main" id="{49C1639C-D87D-6106-D1CA-CBC8F07E5051}"/>
              </a:ext>
            </a:extLst>
          </p:cNvPr>
          <p:cNvSpPr/>
          <p:nvPr/>
        </p:nvSpPr>
        <p:spPr>
          <a:xfrm>
            <a:off x="4646276" y="3450574"/>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3C8394"/>
          </a:solidFill>
          <a:ln w="1389" cap="flat">
            <a:noFill/>
            <a:prstDash val="solid"/>
            <a:miter/>
          </a:ln>
        </p:spPr>
        <p:txBody>
          <a:bodyPr/>
          <a:lstStyle/>
          <a:p>
            <a:endParaRPr lang="en-US"/>
          </a:p>
        </p:txBody>
      </p:sp>
      <p:sp>
        <p:nvSpPr>
          <p:cNvPr id="54" name="Graphic 32" descr="Checkmark with solid fill">
            <a:extLst>
              <a:ext uri="{FF2B5EF4-FFF2-40B4-BE49-F238E27FC236}">
                <a16:creationId xmlns:a16="http://schemas.microsoft.com/office/drawing/2014/main" id="{BDD8B8C7-71A2-9F4A-23BD-84C8837F8A68}"/>
              </a:ext>
            </a:extLst>
          </p:cNvPr>
          <p:cNvSpPr/>
          <p:nvPr/>
        </p:nvSpPr>
        <p:spPr>
          <a:xfrm>
            <a:off x="6565538" y="3450574"/>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76BD22"/>
          </a:solidFill>
          <a:ln w="1389" cap="flat">
            <a:noFill/>
            <a:prstDash val="solid"/>
            <a:miter/>
          </a:ln>
        </p:spPr>
        <p:txBody>
          <a:bodyPr/>
          <a:lstStyle/>
          <a:p>
            <a:endParaRPr lang="en-US"/>
          </a:p>
        </p:txBody>
      </p:sp>
      <p:sp>
        <p:nvSpPr>
          <p:cNvPr id="55" name="Graphic 33" descr="Checkmark with solid fill">
            <a:extLst>
              <a:ext uri="{FF2B5EF4-FFF2-40B4-BE49-F238E27FC236}">
                <a16:creationId xmlns:a16="http://schemas.microsoft.com/office/drawing/2014/main" id="{54830263-1473-7380-4514-84572B757193}"/>
              </a:ext>
            </a:extLst>
          </p:cNvPr>
          <p:cNvSpPr/>
          <p:nvPr/>
        </p:nvSpPr>
        <p:spPr>
          <a:xfrm>
            <a:off x="8442465" y="3450574"/>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3555BD"/>
          </a:solidFill>
          <a:ln w="1389" cap="flat">
            <a:noFill/>
            <a:prstDash val="solid"/>
            <a:miter/>
          </a:ln>
        </p:spPr>
        <p:txBody>
          <a:bodyPr/>
          <a:lstStyle/>
          <a:p>
            <a:endParaRPr lang="en-US"/>
          </a:p>
        </p:txBody>
      </p:sp>
      <p:sp>
        <p:nvSpPr>
          <p:cNvPr id="56" name="Graphic 34" descr="Checkmark with solid fill">
            <a:extLst>
              <a:ext uri="{FF2B5EF4-FFF2-40B4-BE49-F238E27FC236}">
                <a16:creationId xmlns:a16="http://schemas.microsoft.com/office/drawing/2014/main" id="{893853E1-0FD5-6436-615D-3593D62AA1DB}"/>
              </a:ext>
            </a:extLst>
          </p:cNvPr>
          <p:cNvSpPr/>
          <p:nvPr/>
        </p:nvSpPr>
        <p:spPr>
          <a:xfrm>
            <a:off x="10357266" y="3450574"/>
            <a:ext cx="130397" cy="91588"/>
          </a:xfrm>
          <a:custGeom>
            <a:avLst/>
            <a:gdLst>
              <a:gd name="csX0" fmla="*/ 118967 w 130397"/>
              <a:gd name="csY0" fmla="*/ 0 h 91588"/>
              <a:gd name="csX1" fmla="*/ 46712 w 130397"/>
              <a:gd name="csY1" fmla="*/ 68303 h 91588"/>
              <a:gd name="csX2" fmla="*/ 11995 w 130397"/>
              <a:gd name="csY2" fmla="*/ 32741 h 91588"/>
              <a:gd name="csX3" fmla="*/ 0 w 130397"/>
              <a:gd name="csY3" fmla="*/ 44171 h 91588"/>
              <a:gd name="csX4" fmla="*/ 46147 w 130397"/>
              <a:gd name="csY4" fmla="*/ 91589 h 91588"/>
              <a:gd name="csX5" fmla="*/ 58284 w 130397"/>
              <a:gd name="csY5" fmla="*/ 80299 h 91588"/>
              <a:gd name="csX6" fmla="*/ 130398 w 130397"/>
              <a:gd name="csY6" fmla="*/ 11854 h 91588"/>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30397" h="91588">
                <a:moveTo>
                  <a:pt x="118967" y="0"/>
                </a:moveTo>
                <a:lnTo>
                  <a:pt x="46712" y="68303"/>
                </a:lnTo>
                <a:lnTo>
                  <a:pt x="11995" y="32741"/>
                </a:lnTo>
                <a:lnTo>
                  <a:pt x="0" y="44171"/>
                </a:lnTo>
                <a:lnTo>
                  <a:pt x="46147" y="91589"/>
                </a:lnTo>
                <a:lnTo>
                  <a:pt x="58284" y="80299"/>
                </a:lnTo>
                <a:lnTo>
                  <a:pt x="130398" y="11854"/>
                </a:lnTo>
                <a:close/>
              </a:path>
            </a:pathLst>
          </a:custGeom>
          <a:solidFill>
            <a:srgbClr val="002060"/>
          </a:solidFill>
          <a:ln w="1389" cap="flat">
            <a:noFill/>
            <a:prstDash val="solid"/>
            <a:miter/>
          </a:ln>
        </p:spPr>
        <p:txBody>
          <a:bodyPr/>
          <a:lstStyle/>
          <a:p>
            <a:endParaRPr lang="en-US"/>
          </a:p>
        </p:txBody>
      </p:sp>
    </p:spTree>
    <p:extLst>
      <p:ext uri="{BB962C8B-B14F-4D97-AF65-F5344CB8AC3E}">
        <p14:creationId xmlns:p14="http://schemas.microsoft.com/office/powerpoint/2010/main" val="239514201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Content Placeholder 2">
            <a:extLst>
              <a:ext uri="{FF2B5EF4-FFF2-40B4-BE49-F238E27FC236}">
                <a16:creationId xmlns:a16="http://schemas.microsoft.com/office/drawing/2014/main" id="{03FBAD4F-FDCD-B242-0454-76834EC9CE48}"/>
              </a:ext>
            </a:extLst>
          </p:cNvPr>
          <p:cNvSpPr txBox="1">
            <a:spLocks/>
          </p:cNvSpPr>
          <p:nvPr/>
        </p:nvSpPr>
        <p:spPr>
          <a:xfrm>
            <a:off x="458724" y="1585904"/>
            <a:ext cx="11274552" cy="194458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ts val="1500"/>
              </a:lnSpc>
              <a:spcBef>
                <a:spcPct val="20000"/>
              </a:spcBef>
              <a:spcAft>
                <a:spcPts val="600"/>
              </a:spcAft>
              <a:buNone/>
            </a:pPr>
            <a:r>
              <a:rPr lang="en-US" sz="800" dirty="0">
                <a:solidFill>
                  <a:prstClr val="black"/>
                </a:solidFill>
                <a:latin typeface="Montserrat SemiBold" panose="00000700000000000000" pitchFamily="2" charset="0"/>
                <a:cs typeface="Arial" panose="020B0604020202020204" pitchFamily="34" charset="0"/>
              </a:rPr>
              <a:t>We want to thank you for the opportunity to provide you with this proposal.  </a:t>
            </a:r>
          </a:p>
          <a:p>
            <a:pPr marL="0" indent="0">
              <a:lnSpc>
                <a:spcPts val="1500"/>
              </a:lnSpc>
              <a:spcBef>
                <a:spcPct val="20000"/>
              </a:spcBef>
              <a:spcAft>
                <a:spcPts val="600"/>
              </a:spcAft>
              <a:buNone/>
            </a:pPr>
            <a:r>
              <a:rPr lang="en-US" sz="800" dirty="0">
                <a:solidFill>
                  <a:prstClr val="black"/>
                </a:solidFill>
                <a:latin typeface="Montserrat SemiBold" panose="00000700000000000000" pitchFamily="2" charset="0"/>
                <a:cs typeface="Arial" panose="020B0604020202020204" pitchFamily="34" charset="0"/>
              </a:rPr>
              <a:t>Throughout the course of the campaign, we will work with you to measure and evaluate the effectiveness of the campaign stated objectives, using a variety of measurement tools and transaction data as outlined. Doing this during the campaign will afford an opportunity to determine effectiveness and/or adjustments to improve performance. Campaign or program results are not guaranteed or implied and Synergent’s fees are not tied to results in any way.</a:t>
            </a:r>
          </a:p>
          <a:p>
            <a:pPr marL="0" indent="0">
              <a:lnSpc>
                <a:spcPts val="1500"/>
              </a:lnSpc>
              <a:spcBef>
                <a:spcPct val="20000"/>
              </a:spcBef>
              <a:spcAft>
                <a:spcPts val="600"/>
              </a:spcAft>
              <a:buNone/>
            </a:pPr>
            <a:r>
              <a:rPr lang="en-US" sz="800" dirty="0">
                <a:latin typeface="Montserrat SemiBold" panose="00000700000000000000" pitchFamily="2" charset="0"/>
              </a:rPr>
              <a:t>Prices and terms are subject to change.  </a:t>
            </a:r>
            <a:r>
              <a:rPr lang="en-US" sz="800" dirty="0">
                <a:solidFill>
                  <a:prstClr val="black"/>
                </a:solidFill>
                <a:latin typeface="Montserrat SemiBold" panose="00000700000000000000" pitchFamily="2" charset="0"/>
                <a:cs typeface="Arial" panose="020B0604020202020204" pitchFamily="34" charset="0"/>
              </a:rPr>
              <a:t>Estimate is valid for 90 days and may vary based on additional customizations. Program, Data Mining, Programing, and Creative that are canceled after the date of this signature are subject to a cancelation fee of 50% of all one-time fees and all third-party fees Synergent has incurred.  This could include, but is not limited to data mining, creative, programming, training, and third-party fees. Any third-party vendor fees are due upon presentation of invoicing. </a:t>
            </a:r>
          </a:p>
          <a:p>
            <a:pPr marL="0" indent="0">
              <a:lnSpc>
                <a:spcPts val="1500"/>
              </a:lnSpc>
              <a:spcBef>
                <a:spcPct val="20000"/>
              </a:spcBef>
              <a:buNone/>
            </a:pPr>
            <a:r>
              <a:rPr lang="en-US" sz="800" dirty="0">
                <a:solidFill>
                  <a:prstClr val="black"/>
                </a:solidFill>
                <a:latin typeface="Montserrat SemiBold" panose="00000700000000000000" pitchFamily="2" charset="0"/>
                <a:cs typeface="Arial" panose="020B0604020202020204" pitchFamily="34" charset="0"/>
              </a:rPr>
              <a:t>This proposal, if accepted, shall be an addenda to the {{</a:t>
            </a:r>
            <a:r>
              <a:rPr lang="en-US" sz="800" dirty="0" err="1">
                <a:solidFill>
                  <a:prstClr val="black"/>
                </a:solidFill>
                <a:latin typeface="Montserrat SemiBold" panose="00000700000000000000" pitchFamily="2" charset="0"/>
                <a:cs typeface="Arial" panose="020B0604020202020204" pitchFamily="34" charset="0"/>
              </a:rPr>
              <a:t>creditunion_name</a:t>
            </a:r>
            <a:r>
              <a:rPr lang="en-US" sz="800" dirty="0">
                <a:solidFill>
                  <a:prstClr val="black"/>
                </a:solidFill>
                <a:latin typeface="Montserrat SemiBold" panose="00000700000000000000" pitchFamily="2" charset="0"/>
                <a:cs typeface="Arial" panose="020B0604020202020204" pitchFamily="34" charset="0"/>
              </a:rPr>
              <a:t>}} Marketing Services – Master Service Agreement, and shall be governed by the terms and conditions contained therein.</a:t>
            </a:r>
          </a:p>
        </p:txBody>
      </p:sp>
      <p:sp>
        <p:nvSpPr>
          <p:cNvPr id="6" name="TextBox 5">
            <a:extLst>
              <a:ext uri="{FF2B5EF4-FFF2-40B4-BE49-F238E27FC236}">
                <a16:creationId xmlns:a16="http://schemas.microsoft.com/office/drawing/2014/main" id="{DAFEB9D1-1DBE-AA93-D046-695B3EACE72D}"/>
              </a:ext>
            </a:extLst>
          </p:cNvPr>
          <p:cNvSpPr txBox="1"/>
          <p:nvPr/>
        </p:nvSpPr>
        <p:spPr>
          <a:xfrm>
            <a:off x="7077405" y="5074036"/>
            <a:ext cx="4632158" cy="662617"/>
          </a:xfrm>
          <a:prstGeom prst="rect">
            <a:avLst/>
          </a:prstGeom>
          <a:noFill/>
        </p:spPr>
        <p:txBody>
          <a:bodyPr wrap="square">
            <a:spAutoFit/>
          </a:bodyPr>
          <a:lstStyle/>
          <a:p>
            <a:pPr>
              <a:lnSpc>
                <a:spcPct val="200000"/>
              </a:lnSpc>
            </a:pPr>
            <a:r>
              <a:rPr lang="en-US" sz="1000" dirty="0">
                <a:latin typeface="Montserrat SemiBold" panose="00000700000000000000" pitchFamily="2" charset="0"/>
              </a:rPr>
              <a:t>Accepted by: 	______________________________________________________</a:t>
            </a:r>
          </a:p>
          <a:p>
            <a:pPr>
              <a:lnSpc>
                <a:spcPct val="200000"/>
              </a:lnSpc>
            </a:pPr>
            <a:r>
              <a:rPr lang="en-US" sz="1000" dirty="0">
                <a:latin typeface="Montserrat SemiBold" panose="00000700000000000000" pitchFamily="2" charset="0"/>
              </a:rPr>
              <a:t>Date:  ______________________________________________________________ </a:t>
            </a:r>
          </a:p>
        </p:txBody>
      </p:sp>
      <p:sp>
        <p:nvSpPr>
          <p:cNvPr id="3" name="TextBox 2">
            <a:extLst>
              <a:ext uri="{FF2B5EF4-FFF2-40B4-BE49-F238E27FC236}">
                <a16:creationId xmlns:a16="http://schemas.microsoft.com/office/drawing/2014/main" id="{A42A1D88-4A80-02E3-AF7E-0D57983F2FB9}"/>
              </a:ext>
            </a:extLst>
          </p:cNvPr>
          <p:cNvSpPr txBox="1"/>
          <p:nvPr/>
        </p:nvSpPr>
        <p:spPr>
          <a:xfrm>
            <a:off x="0" y="6161186"/>
            <a:ext cx="12192000" cy="246221"/>
          </a:xfrm>
          <a:prstGeom prst="rect">
            <a:avLst/>
          </a:prstGeom>
          <a:noFill/>
        </p:spPr>
        <p:txBody>
          <a:bodyPr wrap="square" numCol="1" rtlCol="0">
            <a:spAutoFit/>
          </a:bodyPr>
          <a:lstStyle/>
          <a:p>
            <a:pPr algn="ctr">
              <a:spcAft>
                <a:spcPts val="1200"/>
              </a:spcAft>
            </a:pPr>
            <a:r>
              <a:rPr lang="en-US" sz="1000" dirty="0">
                <a:solidFill>
                  <a:schemeClr val="bg1"/>
                </a:solidFill>
                <a:latin typeface="Montserrat SemiBold" panose="00000700000000000000" pitchFamily="2" charset="0"/>
              </a:rPr>
              <a:t>10</a:t>
            </a:r>
          </a:p>
        </p:txBody>
      </p:sp>
      <p:sp>
        <p:nvSpPr>
          <p:cNvPr id="4" name="TextBox 3">
            <a:extLst>
              <a:ext uri="{FF2B5EF4-FFF2-40B4-BE49-F238E27FC236}">
                <a16:creationId xmlns:a16="http://schemas.microsoft.com/office/drawing/2014/main" id="{0D07FAA9-757D-D407-9F6D-013F60C289DB}"/>
              </a:ext>
            </a:extLst>
          </p:cNvPr>
          <p:cNvSpPr txBox="1"/>
          <p:nvPr/>
        </p:nvSpPr>
        <p:spPr>
          <a:xfrm>
            <a:off x="967949" y="1221221"/>
            <a:ext cx="10968684" cy="307777"/>
          </a:xfrm>
          <a:prstGeom prst="rect">
            <a:avLst/>
          </a:prstGeom>
          <a:noFill/>
        </p:spPr>
        <p:txBody>
          <a:bodyPr wrap="square" rtlCol="0">
            <a:spAutoFit/>
          </a:bodyPr>
          <a:lstStyle/>
          <a:p>
            <a:pPr>
              <a:spcAft>
                <a:spcPts val="1200"/>
              </a:spcAft>
            </a:pPr>
            <a:r>
              <a:rPr lang="en-US" sz="1400" dirty="0">
                <a:solidFill>
                  <a:srgbClr val="3C8394"/>
                </a:solidFill>
                <a:latin typeface="Montserrat SemiBold" panose="00000700000000000000" pitchFamily="2" charset="0"/>
              </a:rPr>
              <a:t>Conclusion </a:t>
            </a:r>
            <a:r>
              <a:rPr lang="en-US" sz="1400" dirty="0">
                <a:solidFill>
                  <a:srgbClr val="002060"/>
                </a:solidFill>
                <a:latin typeface="Montserrat SemiBold" panose="00000700000000000000" pitchFamily="2" charset="0"/>
              </a:rPr>
              <a:t>&amp; Terms</a:t>
            </a:r>
            <a:endParaRPr lang="en-US" sz="1400" dirty="0">
              <a:solidFill>
                <a:srgbClr val="3C8394"/>
              </a:solidFill>
              <a:latin typeface="Montserrat SemiBold" panose="00000700000000000000" pitchFamily="2" charset="0"/>
            </a:endParaRPr>
          </a:p>
        </p:txBody>
      </p:sp>
      <p:pic>
        <p:nvPicPr>
          <p:cNvPr id="12" name="Graphic 11" descr="Handshake with solid fill">
            <a:extLst>
              <a:ext uri="{FF2B5EF4-FFF2-40B4-BE49-F238E27FC236}">
                <a16:creationId xmlns:a16="http://schemas.microsoft.com/office/drawing/2014/main" id="{D4FDB8A7-2F43-6E77-ACCE-DEC045A971B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502541" y="1164315"/>
            <a:ext cx="421591" cy="421591"/>
          </a:xfrm>
          <a:prstGeom prst="rect">
            <a:avLst/>
          </a:prstGeom>
        </p:spPr>
      </p:pic>
      <p:sp>
        <p:nvSpPr>
          <p:cNvPr id="13" name="TextBox 12">
            <a:extLst>
              <a:ext uri="{FF2B5EF4-FFF2-40B4-BE49-F238E27FC236}">
                <a16:creationId xmlns:a16="http://schemas.microsoft.com/office/drawing/2014/main" id="{05E03307-8C9C-06CE-23B9-0AECD7B793A3}"/>
              </a:ext>
            </a:extLst>
          </p:cNvPr>
          <p:cNvSpPr txBox="1"/>
          <p:nvPr/>
        </p:nvSpPr>
        <p:spPr>
          <a:xfrm>
            <a:off x="872878" y="3661280"/>
            <a:ext cx="10968684" cy="307777"/>
          </a:xfrm>
          <a:prstGeom prst="rect">
            <a:avLst/>
          </a:prstGeom>
          <a:noFill/>
        </p:spPr>
        <p:txBody>
          <a:bodyPr wrap="square" rtlCol="0">
            <a:spAutoFit/>
          </a:bodyPr>
          <a:lstStyle/>
          <a:p>
            <a:pPr>
              <a:spcAft>
                <a:spcPts val="1200"/>
              </a:spcAft>
            </a:pPr>
            <a:r>
              <a:rPr lang="en-US" sz="1400" dirty="0">
                <a:solidFill>
                  <a:srgbClr val="3C8394"/>
                </a:solidFill>
                <a:latin typeface="Montserrat SemiBold" panose="00000700000000000000" pitchFamily="2" charset="0"/>
              </a:rPr>
              <a:t>Implementation </a:t>
            </a:r>
            <a:r>
              <a:rPr lang="en-US" sz="1400" dirty="0">
                <a:solidFill>
                  <a:srgbClr val="002060"/>
                </a:solidFill>
                <a:latin typeface="Montserrat SemiBold" panose="00000700000000000000" pitchFamily="2" charset="0"/>
              </a:rPr>
              <a:t>&amp; Package Selection</a:t>
            </a:r>
            <a:endParaRPr lang="en-US" sz="900" dirty="0">
              <a:solidFill>
                <a:srgbClr val="002060"/>
              </a:solidFill>
              <a:latin typeface="Montserrat" panose="00000500000000000000" pitchFamily="2" charset="0"/>
            </a:endParaRPr>
          </a:p>
        </p:txBody>
      </p:sp>
      <p:pic>
        <p:nvPicPr>
          <p:cNvPr id="14" name="Graphic 13" descr="Checkbox Checked with solid fill">
            <a:extLst>
              <a:ext uri="{FF2B5EF4-FFF2-40B4-BE49-F238E27FC236}">
                <a16:creationId xmlns:a16="http://schemas.microsoft.com/office/drawing/2014/main" id="{089398C5-829C-8328-54AC-C037CAACB794}"/>
              </a:ext>
            </a:extLst>
          </p:cNvPr>
          <p:cNvPicPr>
            <a:picLocks noChangeAspect="1"/>
          </p:cNvPicPr>
          <p:nvPr/>
        </p:nvPicPr>
        <p:blipFill>
          <a:blip>
            <a:extLst>
              <a:ext uri="{96DAC541-7B7A-43D3-8B79-37D633B846F1}">
                <asvg:svgBlip xmlns:asvg="http://schemas.microsoft.com/office/drawing/2016/SVG/main" r:embed="rId3"/>
              </a:ext>
            </a:extLst>
          </a:blip>
          <a:srcRect/>
          <a:stretch/>
        </p:blipFill>
        <p:spPr>
          <a:xfrm>
            <a:off x="502541" y="3604374"/>
            <a:ext cx="421591" cy="421591"/>
          </a:xfrm>
          <a:prstGeom prst="rect">
            <a:avLst/>
          </a:prstGeom>
        </p:spPr>
      </p:pic>
      <p:grpSp>
        <p:nvGrpSpPr>
          <p:cNvPr id="47" name="Group 46">
            <a:extLst>
              <a:ext uri="{FF2B5EF4-FFF2-40B4-BE49-F238E27FC236}">
                <a16:creationId xmlns:a16="http://schemas.microsoft.com/office/drawing/2014/main" id="{4E7C2C77-8D24-83B2-43D0-AC2EB2DDB079}"/>
              </a:ext>
            </a:extLst>
          </p:cNvPr>
          <p:cNvGrpSpPr/>
          <p:nvPr/>
        </p:nvGrpSpPr>
        <p:grpSpPr>
          <a:xfrm>
            <a:off x="938640" y="4043950"/>
            <a:ext cx="1987810" cy="678873"/>
            <a:chOff x="938640" y="4043950"/>
            <a:chExt cx="1987810" cy="678873"/>
          </a:xfrm>
        </p:grpSpPr>
        <p:grpSp>
          <p:nvGrpSpPr>
            <p:cNvPr id="15" name="Group 14">
              <a:extLst>
                <a:ext uri="{FF2B5EF4-FFF2-40B4-BE49-F238E27FC236}">
                  <a16:creationId xmlns:a16="http://schemas.microsoft.com/office/drawing/2014/main" id="{3CA08F08-7C34-9505-CE24-FE2489C03EE2}"/>
                </a:ext>
              </a:extLst>
            </p:cNvPr>
            <p:cNvGrpSpPr/>
            <p:nvPr/>
          </p:nvGrpSpPr>
          <p:grpSpPr>
            <a:xfrm>
              <a:off x="938642" y="4060206"/>
              <a:ext cx="1987808" cy="662617"/>
              <a:chOff x="6470392" y="1606214"/>
              <a:chExt cx="3146261" cy="3170320"/>
            </a:xfrm>
          </p:grpSpPr>
          <p:sp>
            <p:nvSpPr>
              <p:cNvPr id="16" name="Rectangle: Rounded Corners 15">
                <a:extLst>
                  <a:ext uri="{FF2B5EF4-FFF2-40B4-BE49-F238E27FC236}">
                    <a16:creationId xmlns:a16="http://schemas.microsoft.com/office/drawing/2014/main" id="{31468140-B3A2-EB9A-8CEC-E58EB3EB6DE8}"/>
                  </a:ext>
                </a:extLst>
              </p:cNvPr>
              <p:cNvSpPr/>
              <p:nvPr/>
            </p:nvSpPr>
            <p:spPr>
              <a:xfrm>
                <a:off x="6470394" y="1606215"/>
                <a:ext cx="3146259" cy="317031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Top Corners Rounded 16">
                <a:extLst>
                  <a:ext uri="{FF2B5EF4-FFF2-40B4-BE49-F238E27FC236}">
                    <a16:creationId xmlns:a16="http://schemas.microsoft.com/office/drawing/2014/main" id="{EA64D736-61C4-DCE1-67F7-D672FEA9CC4A}"/>
                  </a:ext>
                </a:extLst>
              </p:cNvPr>
              <p:cNvSpPr/>
              <p:nvPr/>
            </p:nvSpPr>
            <p:spPr>
              <a:xfrm>
                <a:off x="6470392" y="1606214"/>
                <a:ext cx="3146259" cy="953464"/>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TextBox 29">
              <a:extLst>
                <a:ext uri="{FF2B5EF4-FFF2-40B4-BE49-F238E27FC236}">
                  <a16:creationId xmlns:a16="http://schemas.microsoft.com/office/drawing/2014/main" id="{C4F7E845-E847-3F2E-C5D0-7D3C0A76F8E3}"/>
                </a:ext>
              </a:extLst>
            </p:cNvPr>
            <p:cNvSpPr txBox="1"/>
            <p:nvPr/>
          </p:nvSpPr>
          <p:spPr>
            <a:xfrm>
              <a:off x="938640" y="4043950"/>
              <a:ext cx="1987807" cy="230832"/>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900" dirty="0">
                  <a:solidFill>
                    <a:schemeClr val="bg1"/>
                  </a:solidFill>
                  <a:latin typeface="Montserrat SemiBold" panose="00000700000000000000" pitchFamily="2" charset="0"/>
                </a:rPr>
                <a:t>Base  Package</a:t>
              </a:r>
            </a:p>
          </p:txBody>
        </p:sp>
        <p:sp>
          <p:nvSpPr>
            <p:cNvPr id="32" name="TextBox 31">
              <a:extLst>
                <a:ext uri="{FF2B5EF4-FFF2-40B4-BE49-F238E27FC236}">
                  <a16:creationId xmlns:a16="http://schemas.microsoft.com/office/drawing/2014/main" id="{4BD630CC-4BBA-DE94-B632-54927DB326F4}"/>
                </a:ext>
              </a:extLst>
            </p:cNvPr>
            <p:cNvSpPr txBox="1"/>
            <p:nvPr/>
          </p:nvSpPr>
          <p:spPr>
            <a:xfrm>
              <a:off x="938640" y="4307087"/>
              <a:ext cx="1987807" cy="361637"/>
            </a:xfrm>
            <a:prstGeom prst="rect">
              <a:avLst/>
            </a:prstGeom>
            <a:noFill/>
          </p:spPr>
          <p:txBody>
            <a:bodyPr wrap="square" numCol="1" rtlCol="0">
              <a:spAutoFit/>
            </a:bodyPr>
            <a:lstStyle/>
            <a:p>
              <a:pPr>
                <a:spcAft>
                  <a:spcPts val="300"/>
                </a:spcAft>
              </a:pPr>
              <a:r>
                <a:rPr lang="en-US" sz="800" dirty="0">
                  <a:latin typeface="Montserrat" panose="00000500000000000000" pitchFamily="2" charset="0"/>
                </a:rPr>
                <a:t>Implementation (one-time): </a:t>
              </a:r>
              <a:r>
                <a:rPr lang="en-US" sz="800" b="1" dirty="0">
                  <a:solidFill>
                    <a:srgbClr val="3C8394"/>
                  </a:solidFill>
                  <a:latin typeface="Montserrat" panose="00000500000000000000" pitchFamily="2" charset="0"/>
                </a:rPr>
                <a:t>N/A</a:t>
              </a:r>
            </a:p>
            <a:p>
              <a:pPr>
                <a:spcAft>
                  <a:spcPts val="300"/>
                </a:spcAft>
              </a:pPr>
              <a:r>
                <a:rPr lang="en-US" sz="700" dirty="0">
                  <a:latin typeface="Montserrat SemiBold" panose="00000700000000000000" pitchFamily="2" charset="0"/>
                </a:rPr>
                <a:t>Monthly Cost: </a:t>
              </a:r>
              <a:r>
                <a:rPr lang="en-US" sz="700" dirty="0">
                  <a:solidFill>
                    <a:srgbClr val="3C8394"/>
                  </a:solidFill>
                  <a:latin typeface="Montserrat SemiBold" panose="00000700000000000000" pitchFamily="2" charset="0"/>
                </a:rPr>
                <a:t>{{</a:t>
              </a:r>
              <a:r>
                <a:rPr lang="en-US" sz="700" dirty="0" err="1">
                  <a:solidFill>
                    <a:srgbClr val="3C8394"/>
                  </a:solidFill>
                  <a:latin typeface="Montserrat SemiBold" panose="00000700000000000000" pitchFamily="2" charset="0"/>
                </a:rPr>
                <a:t>tier_cost</a:t>
              </a:r>
              <a:r>
                <a:rPr lang="en-US" sz="700" dirty="0">
                  <a:solidFill>
                    <a:srgbClr val="3C8394"/>
                  </a:solidFill>
                  <a:latin typeface="Montserrat SemiBold" panose="00000700000000000000" pitchFamily="2" charset="0"/>
                </a:rPr>
                <a:t>}}</a:t>
              </a:r>
            </a:p>
          </p:txBody>
        </p:sp>
      </p:grpSp>
      <p:grpSp>
        <p:nvGrpSpPr>
          <p:cNvPr id="48" name="Group 47">
            <a:extLst>
              <a:ext uri="{FF2B5EF4-FFF2-40B4-BE49-F238E27FC236}">
                <a16:creationId xmlns:a16="http://schemas.microsoft.com/office/drawing/2014/main" id="{CF53190A-7B35-7A74-B64E-DF557E7A42A6}"/>
              </a:ext>
            </a:extLst>
          </p:cNvPr>
          <p:cNvGrpSpPr/>
          <p:nvPr/>
        </p:nvGrpSpPr>
        <p:grpSpPr>
          <a:xfrm>
            <a:off x="3498693" y="4039183"/>
            <a:ext cx="1987810" cy="681965"/>
            <a:chOff x="3653766" y="4040858"/>
            <a:chExt cx="1987810" cy="681965"/>
          </a:xfrm>
        </p:grpSpPr>
        <p:grpSp>
          <p:nvGrpSpPr>
            <p:cNvPr id="18" name="Group 17">
              <a:extLst>
                <a:ext uri="{FF2B5EF4-FFF2-40B4-BE49-F238E27FC236}">
                  <a16:creationId xmlns:a16="http://schemas.microsoft.com/office/drawing/2014/main" id="{F98279D6-D830-B659-C5D6-F5E58CD0529E}"/>
                </a:ext>
              </a:extLst>
            </p:cNvPr>
            <p:cNvGrpSpPr/>
            <p:nvPr/>
          </p:nvGrpSpPr>
          <p:grpSpPr>
            <a:xfrm>
              <a:off x="3653768" y="4060206"/>
              <a:ext cx="1987808" cy="662617"/>
              <a:chOff x="6470392" y="1606214"/>
              <a:chExt cx="3146261" cy="3170320"/>
            </a:xfrm>
          </p:grpSpPr>
          <p:sp>
            <p:nvSpPr>
              <p:cNvPr id="19" name="Rectangle: Rounded Corners 18">
                <a:extLst>
                  <a:ext uri="{FF2B5EF4-FFF2-40B4-BE49-F238E27FC236}">
                    <a16:creationId xmlns:a16="http://schemas.microsoft.com/office/drawing/2014/main" id="{20A9F5E5-1EF2-50DB-6DE6-9524824EE8C0}"/>
                  </a:ext>
                </a:extLst>
              </p:cNvPr>
              <p:cNvSpPr/>
              <p:nvPr/>
            </p:nvSpPr>
            <p:spPr>
              <a:xfrm>
                <a:off x="6470394" y="1606215"/>
                <a:ext cx="3146259" cy="317031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Top Corners Rounded 19">
                <a:extLst>
                  <a:ext uri="{FF2B5EF4-FFF2-40B4-BE49-F238E27FC236}">
                    <a16:creationId xmlns:a16="http://schemas.microsoft.com/office/drawing/2014/main" id="{444415D4-D71B-C0A9-B821-8FAF9A74D1A7}"/>
                  </a:ext>
                </a:extLst>
              </p:cNvPr>
              <p:cNvSpPr/>
              <p:nvPr/>
            </p:nvSpPr>
            <p:spPr>
              <a:xfrm>
                <a:off x="6470392" y="1606214"/>
                <a:ext cx="3146259" cy="953464"/>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3" name="TextBox 32">
              <a:extLst>
                <a:ext uri="{FF2B5EF4-FFF2-40B4-BE49-F238E27FC236}">
                  <a16:creationId xmlns:a16="http://schemas.microsoft.com/office/drawing/2014/main" id="{4DF9CDFF-AE6D-ABA0-8859-75F7E2B22447}"/>
                </a:ext>
              </a:extLst>
            </p:cNvPr>
            <p:cNvSpPr txBox="1"/>
            <p:nvPr/>
          </p:nvSpPr>
          <p:spPr>
            <a:xfrm>
              <a:off x="3653766" y="4040858"/>
              <a:ext cx="1987809" cy="230832"/>
            </a:xfrm>
            <a:prstGeom prst="rect">
              <a:avLst/>
            </a:prstGeom>
            <a:noFill/>
          </p:spPr>
          <p:txBody>
            <a:bodyPr wrap="square" numCol="1" rtlCol="0">
              <a:spAutoFit/>
            </a:bodyPr>
            <a:lstStyle/>
            <a:p>
              <a:pPr>
                <a:spcAft>
                  <a:spcPts val="1200"/>
                </a:spcAft>
              </a:pPr>
              <a:r>
                <a:rPr lang="en-US" sz="900" dirty="0">
                  <a:solidFill>
                    <a:schemeClr val="bg1"/>
                  </a:solidFill>
                  <a:latin typeface="Montserrat SemiBold" panose="00000700000000000000" pitchFamily="2" charset="0"/>
                </a:rPr>
                <a:t>          Essentials Package</a:t>
              </a:r>
            </a:p>
          </p:txBody>
        </p:sp>
        <p:sp>
          <p:nvSpPr>
            <p:cNvPr id="35" name="TextBox 34">
              <a:extLst>
                <a:ext uri="{FF2B5EF4-FFF2-40B4-BE49-F238E27FC236}">
                  <a16:creationId xmlns:a16="http://schemas.microsoft.com/office/drawing/2014/main" id="{54917A0C-2816-234B-D60A-4F46981D212D}"/>
                </a:ext>
              </a:extLst>
            </p:cNvPr>
            <p:cNvSpPr txBox="1"/>
            <p:nvPr/>
          </p:nvSpPr>
          <p:spPr>
            <a:xfrm>
              <a:off x="3653769" y="4315590"/>
              <a:ext cx="1987807" cy="361637"/>
            </a:xfrm>
            <a:prstGeom prst="rect">
              <a:avLst/>
            </a:prstGeom>
            <a:noFill/>
          </p:spPr>
          <p:txBody>
            <a:bodyPr wrap="square" numCol="1" rtlCol="0">
              <a:spAutoFit/>
            </a:bodyPr>
            <a:lstStyle/>
            <a:p>
              <a:pPr>
                <a:spcAft>
                  <a:spcPts val="300"/>
                </a:spcAft>
              </a:pPr>
              <a:r>
                <a:rPr lang="en-US" sz="800" dirty="0">
                  <a:latin typeface="Montserrat" panose="00000500000000000000" pitchFamily="2" charset="0"/>
                </a:rPr>
                <a:t>Implementation (one-time): </a:t>
              </a:r>
              <a:r>
                <a:rPr lang="en-US" sz="800" b="1" dirty="0">
                  <a:solidFill>
                    <a:srgbClr val="3C8394"/>
                  </a:solidFill>
                  <a:latin typeface="Montserrat" panose="00000500000000000000" pitchFamily="2" charset="0"/>
                </a:rPr>
                <a:t>$5,500</a:t>
              </a:r>
            </a:p>
            <a:p>
              <a:pPr>
                <a:spcAft>
                  <a:spcPts val="300"/>
                </a:spcAft>
              </a:pPr>
              <a:r>
                <a:rPr lang="en-US" sz="700" dirty="0">
                  <a:latin typeface="Montserrat SemiBold" panose="00000700000000000000" pitchFamily="2" charset="0"/>
                </a:rPr>
                <a:t>Monthly Cost: </a:t>
              </a:r>
              <a:r>
                <a:rPr lang="en-US" sz="700" dirty="0">
                  <a:solidFill>
                    <a:srgbClr val="3C8394"/>
                  </a:solidFill>
                  <a:latin typeface="Montserrat SemiBold" panose="00000700000000000000" pitchFamily="2" charset="0"/>
                </a:rPr>
                <a:t>{{</a:t>
              </a:r>
              <a:r>
                <a:rPr lang="en-US" sz="700" dirty="0" err="1">
                  <a:solidFill>
                    <a:srgbClr val="3C8394"/>
                  </a:solidFill>
                  <a:latin typeface="Montserrat SemiBold" panose="00000700000000000000" pitchFamily="2" charset="0"/>
                </a:rPr>
                <a:t>essentials_cost</a:t>
              </a:r>
              <a:r>
                <a:rPr lang="en-US" sz="700" dirty="0">
                  <a:solidFill>
                    <a:srgbClr val="3C8394"/>
                  </a:solidFill>
                  <a:latin typeface="Montserrat SemiBold" panose="00000700000000000000" pitchFamily="2" charset="0"/>
                </a:rPr>
                <a:t>}}</a:t>
              </a:r>
            </a:p>
          </p:txBody>
        </p:sp>
      </p:grpSp>
      <p:grpSp>
        <p:nvGrpSpPr>
          <p:cNvPr id="49" name="Group 48">
            <a:extLst>
              <a:ext uri="{FF2B5EF4-FFF2-40B4-BE49-F238E27FC236}">
                <a16:creationId xmlns:a16="http://schemas.microsoft.com/office/drawing/2014/main" id="{B7249938-D7B0-C0B5-C213-27A894706956}"/>
              </a:ext>
            </a:extLst>
          </p:cNvPr>
          <p:cNvGrpSpPr/>
          <p:nvPr/>
        </p:nvGrpSpPr>
        <p:grpSpPr>
          <a:xfrm>
            <a:off x="6058747" y="4039183"/>
            <a:ext cx="2062569" cy="681965"/>
            <a:chOff x="6083502" y="4037509"/>
            <a:chExt cx="2062569" cy="681965"/>
          </a:xfrm>
        </p:grpSpPr>
        <p:grpSp>
          <p:nvGrpSpPr>
            <p:cNvPr id="21" name="Group 20">
              <a:extLst>
                <a:ext uri="{FF2B5EF4-FFF2-40B4-BE49-F238E27FC236}">
                  <a16:creationId xmlns:a16="http://schemas.microsoft.com/office/drawing/2014/main" id="{784E3D22-A981-1C0D-B715-2DABC6C1C7D8}"/>
                </a:ext>
              </a:extLst>
            </p:cNvPr>
            <p:cNvGrpSpPr/>
            <p:nvPr/>
          </p:nvGrpSpPr>
          <p:grpSpPr>
            <a:xfrm>
              <a:off x="6083502" y="4056857"/>
              <a:ext cx="1987808" cy="662617"/>
              <a:chOff x="6470392" y="1606214"/>
              <a:chExt cx="3146261" cy="3170320"/>
            </a:xfrm>
          </p:grpSpPr>
          <p:sp>
            <p:nvSpPr>
              <p:cNvPr id="22" name="Rectangle: Rounded Corners 21">
                <a:extLst>
                  <a:ext uri="{FF2B5EF4-FFF2-40B4-BE49-F238E27FC236}">
                    <a16:creationId xmlns:a16="http://schemas.microsoft.com/office/drawing/2014/main" id="{60A37A22-2D99-182F-A9A9-4493BC6D59F4}"/>
                  </a:ext>
                </a:extLst>
              </p:cNvPr>
              <p:cNvSpPr/>
              <p:nvPr/>
            </p:nvSpPr>
            <p:spPr>
              <a:xfrm>
                <a:off x="6470394" y="1606215"/>
                <a:ext cx="3146259" cy="317031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Top Corners Rounded 22">
                <a:extLst>
                  <a:ext uri="{FF2B5EF4-FFF2-40B4-BE49-F238E27FC236}">
                    <a16:creationId xmlns:a16="http://schemas.microsoft.com/office/drawing/2014/main" id="{B926A8FA-8E7F-7381-B333-9021273DF41F}"/>
                  </a:ext>
                </a:extLst>
              </p:cNvPr>
              <p:cNvSpPr/>
              <p:nvPr/>
            </p:nvSpPr>
            <p:spPr>
              <a:xfrm>
                <a:off x="6470392" y="1606214"/>
                <a:ext cx="3146259" cy="953464"/>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TextBox 35">
              <a:extLst>
                <a:ext uri="{FF2B5EF4-FFF2-40B4-BE49-F238E27FC236}">
                  <a16:creationId xmlns:a16="http://schemas.microsoft.com/office/drawing/2014/main" id="{7D4DD40F-9E2D-1141-DF0A-FFD518D8FF4D}"/>
                </a:ext>
              </a:extLst>
            </p:cNvPr>
            <p:cNvSpPr txBox="1"/>
            <p:nvPr/>
          </p:nvSpPr>
          <p:spPr>
            <a:xfrm>
              <a:off x="6083502" y="4037509"/>
              <a:ext cx="1987807" cy="230832"/>
            </a:xfrm>
            <a:prstGeom prst="rect">
              <a:avLst/>
            </a:prstGeom>
            <a:noFill/>
          </p:spPr>
          <p:txBody>
            <a:bodyPr wrap="square" numCol="1" rtlCol="0">
              <a:spAutoFit/>
            </a:bodyPr>
            <a:lstStyle/>
            <a:p>
              <a:pPr>
                <a:spcAft>
                  <a:spcPts val="1200"/>
                </a:spcAft>
              </a:pPr>
              <a:r>
                <a:rPr lang="en-US" sz="900" dirty="0">
                  <a:solidFill>
                    <a:schemeClr val="bg1"/>
                  </a:solidFill>
                  <a:latin typeface="Montserrat SemiBold" panose="00000700000000000000" pitchFamily="2" charset="0"/>
                </a:rPr>
                <a:t>          Premium Package</a:t>
              </a:r>
            </a:p>
          </p:txBody>
        </p:sp>
        <p:sp>
          <p:nvSpPr>
            <p:cNvPr id="38" name="TextBox 37">
              <a:extLst>
                <a:ext uri="{FF2B5EF4-FFF2-40B4-BE49-F238E27FC236}">
                  <a16:creationId xmlns:a16="http://schemas.microsoft.com/office/drawing/2014/main" id="{597E5423-1DC6-FABA-1364-6AA51343FBCB}"/>
                </a:ext>
              </a:extLst>
            </p:cNvPr>
            <p:cNvSpPr txBox="1"/>
            <p:nvPr/>
          </p:nvSpPr>
          <p:spPr>
            <a:xfrm>
              <a:off x="6083502" y="4315590"/>
              <a:ext cx="2062569" cy="361637"/>
            </a:xfrm>
            <a:prstGeom prst="rect">
              <a:avLst/>
            </a:prstGeom>
            <a:noFill/>
          </p:spPr>
          <p:txBody>
            <a:bodyPr wrap="square" numCol="1" rtlCol="0">
              <a:spAutoFit/>
            </a:bodyPr>
            <a:lstStyle/>
            <a:p>
              <a:pPr>
                <a:spcAft>
                  <a:spcPts val="300"/>
                </a:spcAft>
              </a:pPr>
              <a:r>
                <a:rPr lang="en-US" sz="800" dirty="0">
                  <a:latin typeface="Montserrat" panose="00000500000000000000" pitchFamily="2" charset="0"/>
                </a:rPr>
                <a:t>Implementation (one-time): </a:t>
              </a:r>
              <a:r>
                <a:rPr lang="en-US" sz="800" b="1" dirty="0">
                  <a:solidFill>
                    <a:srgbClr val="3C8394"/>
                  </a:solidFill>
                  <a:latin typeface="Montserrat" panose="00000500000000000000" pitchFamily="2" charset="0"/>
                </a:rPr>
                <a:t>$8,000</a:t>
              </a:r>
            </a:p>
            <a:p>
              <a:pPr>
                <a:spcAft>
                  <a:spcPts val="300"/>
                </a:spcAft>
              </a:pPr>
              <a:r>
                <a:rPr lang="en-US" sz="700" dirty="0">
                  <a:latin typeface="Montserrat SemiBold" panose="00000700000000000000" pitchFamily="2" charset="0"/>
                </a:rPr>
                <a:t>Monthly Cost: </a:t>
              </a:r>
              <a:r>
                <a:rPr lang="en-US" sz="700" dirty="0">
                  <a:solidFill>
                    <a:srgbClr val="3C8394"/>
                  </a:solidFill>
                  <a:latin typeface="Montserrat SemiBold" panose="00000700000000000000" pitchFamily="2" charset="0"/>
                </a:rPr>
                <a:t>{{</a:t>
              </a:r>
              <a:r>
                <a:rPr lang="en-US" sz="700" dirty="0" err="1">
                  <a:solidFill>
                    <a:srgbClr val="3C8394"/>
                  </a:solidFill>
                  <a:latin typeface="Montserrat SemiBold" panose="00000700000000000000" pitchFamily="2" charset="0"/>
                </a:rPr>
                <a:t>premium_cost</a:t>
              </a:r>
              <a:r>
                <a:rPr lang="en-US" sz="700" dirty="0">
                  <a:solidFill>
                    <a:srgbClr val="3C8394"/>
                  </a:solidFill>
                  <a:latin typeface="Montserrat SemiBold" panose="00000700000000000000" pitchFamily="2" charset="0"/>
                </a:rPr>
                <a:t>}}</a:t>
              </a:r>
            </a:p>
          </p:txBody>
        </p:sp>
      </p:grpSp>
      <p:grpSp>
        <p:nvGrpSpPr>
          <p:cNvPr id="50" name="Group 49">
            <a:extLst>
              <a:ext uri="{FF2B5EF4-FFF2-40B4-BE49-F238E27FC236}">
                <a16:creationId xmlns:a16="http://schemas.microsoft.com/office/drawing/2014/main" id="{90070F81-639C-27E2-55EB-F410DAAE8033}"/>
              </a:ext>
            </a:extLst>
          </p:cNvPr>
          <p:cNvGrpSpPr/>
          <p:nvPr/>
        </p:nvGrpSpPr>
        <p:grpSpPr>
          <a:xfrm>
            <a:off x="8618800" y="4038033"/>
            <a:ext cx="2101337" cy="683115"/>
            <a:chOff x="8618800" y="4036358"/>
            <a:chExt cx="2101337" cy="683115"/>
          </a:xfrm>
        </p:grpSpPr>
        <p:grpSp>
          <p:nvGrpSpPr>
            <p:cNvPr id="24" name="Group 23">
              <a:extLst>
                <a:ext uri="{FF2B5EF4-FFF2-40B4-BE49-F238E27FC236}">
                  <a16:creationId xmlns:a16="http://schemas.microsoft.com/office/drawing/2014/main" id="{83DB5A3A-42A9-01CF-73F3-87C5A86EF553}"/>
                </a:ext>
              </a:extLst>
            </p:cNvPr>
            <p:cNvGrpSpPr/>
            <p:nvPr/>
          </p:nvGrpSpPr>
          <p:grpSpPr>
            <a:xfrm>
              <a:off x="8618800" y="4056856"/>
              <a:ext cx="1987808" cy="662617"/>
              <a:chOff x="6470392" y="1606214"/>
              <a:chExt cx="3146261" cy="3170320"/>
            </a:xfrm>
          </p:grpSpPr>
          <p:sp>
            <p:nvSpPr>
              <p:cNvPr id="25" name="Rectangle: Rounded Corners 24">
                <a:extLst>
                  <a:ext uri="{FF2B5EF4-FFF2-40B4-BE49-F238E27FC236}">
                    <a16:creationId xmlns:a16="http://schemas.microsoft.com/office/drawing/2014/main" id="{3B79146C-349C-5995-DC15-5F0B3CD0CF61}"/>
                  </a:ext>
                </a:extLst>
              </p:cNvPr>
              <p:cNvSpPr/>
              <p:nvPr/>
            </p:nvSpPr>
            <p:spPr>
              <a:xfrm>
                <a:off x="6470394" y="1606215"/>
                <a:ext cx="3146259" cy="317031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6" name="Rectangle: Top Corners Rounded 25">
                <a:extLst>
                  <a:ext uri="{FF2B5EF4-FFF2-40B4-BE49-F238E27FC236}">
                    <a16:creationId xmlns:a16="http://schemas.microsoft.com/office/drawing/2014/main" id="{68398EBB-1A98-9B9F-2D63-A844EC9E0D5E}"/>
                  </a:ext>
                </a:extLst>
              </p:cNvPr>
              <p:cNvSpPr/>
              <p:nvPr/>
            </p:nvSpPr>
            <p:spPr>
              <a:xfrm>
                <a:off x="6470392" y="1606214"/>
                <a:ext cx="3146259" cy="953464"/>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9" name="TextBox 38">
              <a:extLst>
                <a:ext uri="{FF2B5EF4-FFF2-40B4-BE49-F238E27FC236}">
                  <a16:creationId xmlns:a16="http://schemas.microsoft.com/office/drawing/2014/main" id="{5B61A8D6-F724-162F-1500-4723CB620238}"/>
                </a:ext>
              </a:extLst>
            </p:cNvPr>
            <p:cNvSpPr txBox="1"/>
            <p:nvPr/>
          </p:nvSpPr>
          <p:spPr>
            <a:xfrm>
              <a:off x="8618800" y="4036358"/>
              <a:ext cx="1987807" cy="230832"/>
            </a:xfrm>
            <a:prstGeom prst="rect">
              <a:avLst/>
            </a:prstGeom>
            <a:noFill/>
          </p:spPr>
          <p:txBody>
            <a:bodyPr wrap="square" numCol="1" rtlCol="0">
              <a:spAutoFit/>
            </a:bodyPr>
            <a:lstStyle/>
            <a:p>
              <a:pPr>
                <a:spcAft>
                  <a:spcPts val="1200"/>
                </a:spcAft>
              </a:pPr>
              <a:r>
                <a:rPr lang="en-US" sz="700" dirty="0">
                  <a:solidFill>
                    <a:schemeClr val="bg1"/>
                  </a:solidFill>
                  <a:latin typeface="Montserrat SemiBold" panose="00000700000000000000" pitchFamily="2" charset="0"/>
                </a:rPr>
                <a:t>          </a:t>
              </a:r>
              <a:r>
                <a:rPr lang="en-US" sz="900" dirty="0">
                  <a:solidFill>
                    <a:schemeClr val="bg1"/>
                  </a:solidFill>
                  <a:latin typeface="Montserrat SemiBold" panose="00000700000000000000" pitchFamily="2" charset="0"/>
                </a:rPr>
                <a:t>Elite Package</a:t>
              </a:r>
            </a:p>
          </p:txBody>
        </p:sp>
        <p:sp>
          <p:nvSpPr>
            <p:cNvPr id="41" name="TextBox 40">
              <a:extLst>
                <a:ext uri="{FF2B5EF4-FFF2-40B4-BE49-F238E27FC236}">
                  <a16:creationId xmlns:a16="http://schemas.microsoft.com/office/drawing/2014/main" id="{1D9655C0-5660-9163-2FC3-7540C0FB8DE7}"/>
                </a:ext>
              </a:extLst>
            </p:cNvPr>
            <p:cNvSpPr txBox="1"/>
            <p:nvPr/>
          </p:nvSpPr>
          <p:spPr>
            <a:xfrm>
              <a:off x="8618800" y="4309422"/>
              <a:ext cx="2101337" cy="361637"/>
            </a:xfrm>
            <a:prstGeom prst="rect">
              <a:avLst/>
            </a:prstGeom>
            <a:noFill/>
          </p:spPr>
          <p:txBody>
            <a:bodyPr wrap="square" numCol="1" rtlCol="0">
              <a:spAutoFit/>
            </a:bodyPr>
            <a:lstStyle/>
            <a:p>
              <a:pPr>
                <a:spcAft>
                  <a:spcPts val="300"/>
                </a:spcAft>
              </a:pPr>
              <a:r>
                <a:rPr lang="en-US" sz="800" dirty="0">
                  <a:latin typeface="Montserrat" panose="00000500000000000000" pitchFamily="2" charset="0"/>
                </a:rPr>
                <a:t>Implementation (one-time): </a:t>
              </a:r>
              <a:r>
                <a:rPr lang="en-US" sz="800" b="1" dirty="0">
                  <a:solidFill>
                    <a:srgbClr val="3C8394"/>
                  </a:solidFill>
                  <a:latin typeface="Montserrat" panose="00000500000000000000" pitchFamily="2" charset="0"/>
                </a:rPr>
                <a:t>$10,500</a:t>
              </a:r>
            </a:p>
            <a:p>
              <a:pPr>
                <a:spcAft>
                  <a:spcPts val="300"/>
                </a:spcAft>
              </a:pPr>
              <a:r>
                <a:rPr lang="en-US" sz="700" dirty="0">
                  <a:latin typeface="Montserrat SemiBold" panose="00000700000000000000" pitchFamily="2" charset="0"/>
                </a:rPr>
                <a:t>Monthly Cost: </a:t>
              </a:r>
              <a:r>
                <a:rPr lang="en-US" sz="700" dirty="0">
                  <a:solidFill>
                    <a:srgbClr val="3C8394"/>
                  </a:solidFill>
                  <a:latin typeface="Montserrat SemiBold" panose="00000700000000000000" pitchFamily="2" charset="0"/>
                </a:rPr>
                <a:t>{{</a:t>
              </a:r>
              <a:r>
                <a:rPr lang="en-US" sz="700" dirty="0" err="1">
                  <a:solidFill>
                    <a:srgbClr val="3C8394"/>
                  </a:solidFill>
                  <a:latin typeface="Montserrat SemiBold" panose="00000700000000000000" pitchFamily="2" charset="0"/>
                </a:rPr>
                <a:t>elite_cost</a:t>
              </a:r>
              <a:r>
                <a:rPr lang="en-US" sz="700" dirty="0">
                  <a:solidFill>
                    <a:srgbClr val="3C8394"/>
                  </a:solidFill>
                  <a:latin typeface="Montserrat SemiBold" panose="00000700000000000000" pitchFamily="2" charset="0"/>
                </a:rPr>
                <a:t>}}</a:t>
              </a:r>
            </a:p>
          </p:txBody>
        </p:sp>
      </p:grpSp>
      <p:grpSp>
        <p:nvGrpSpPr>
          <p:cNvPr id="46" name="Group 45">
            <a:extLst>
              <a:ext uri="{FF2B5EF4-FFF2-40B4-BE49-F238E27FC236}">
                <a16:creationId xmlns:a16="http://schemas.microsoft.com/office/drawing/2014/main" id="{3372D17E-0FF1-BD3B-9C3F-6A2367BAFE7D}"/>
              </a:ext>
            </a:extLst>
          </p:cNvPr>
          <p:cNvGrpSpPr/>
          <p:nvPr/>
        </p:nvGrpSpPr>
        <p:grpSpPr>
          <a:xfrm>
            <a:off x="919601" y="4810622"/>
            <a:ext cx="5139146" cy="1135167"/>
            <a:chOff x="916695" y="4808432"/>
            <a:chExt cx="5139146" cy="1135167"/>
          </a:xfrm>
        </p:grpSpPr>
        <p:grpSp>
          <p:nvGrpSpPr>
            <p:cNvPr id="27" name="Group 26">
              <a:extLst>
                <a:ext uri="{FF2B5EF4-FFF2-40B4-BE49-F238E27FC236}">
                  <a16:creationId xmlns:a16="http://schemas.microsoft.com/office/drawing/2014/main" id="{BCA63D93-C765-F099-9174-064B6A8C9B1D}"/>
                </a:ext>
              </a:extLst>
            </p:cNvPr>
            <p:cNvGrpSpPr/>
            <p:nvPr/>
          </p:nvGrpSpPr>
          <p:grpSpPr>
            <a:xfrm>
              <a:off x="935928" y="4808432"/>
              <a:ext cx="5055798" cy="1135167"/>
              <a:chOff x="6470392" y="1606215"/>
              <a:chExt cx="3146261" cy="3170319"/>
            </a:xfrm>
          </p:grpSpPr>
          <p:sp>
            <p:nvSpPr>
              <p:cNvPr id="28" name="Rectangle: Rounded Corners 27">
                <a:extLst>
                  <a:ext uri="{FF2B5EF4-FFF2-40B4-BE49-F238E27FC236}">
                    <a16:creationId xmlns:a16="http://schemas.microsoft.com/office/drawing/2014/main" id="{A600439F-501D-0A1F-763B-C80EE6BEE9A1}"/>
                  </a:ext>
                </a:extLst>
              </p:cNvPr>
              <p:cNvSpPr/>
              <p:nvPr/>
            </p:nvSpPr>
            <p:spPr>
              <a:xfrm>
                <a:off x="6470394" y="1606215"/>
                <a:ext cx="3146259" cy="3170319"/>
              </a:xfrm>
              <a:prstGeom prst="roundRect">
                <a:avLst>
                  <a:gd name="adj" fmla="val 5708"/>
                </a:avLst>
              </a:prstGeom>
              <a:no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Top Corners Rounded 28">
                <a:extLst>
                  <a:ext uri="{FF2B5EF4-FFF2-40B4-BE49-F238E27FC236}">
                    <a16:creationId xmlns:a16="http://schemas.microsoft.com/office/drawing/2014/main" id="{EAEE49CE-9038-22DC-80A0-6710BECE0270}"/>
                  </a:ext>
                </a:extLst>
              </p:cNvPr>
              <p:cNvSpPr/>
              <p:nvPr/>
            </p:nvSpPr>
            <p:spPr>
              <a:xfrm>
                <a:off x="6470392" y="1606221"/>
                <a:ext cx="3146259" cy="643036"/>
              </a:xfrm>
              <a:prstGeom prst="round2SameRect">
                <a:avLst/>
              </a:prstGeom>
              <a:solidFill>
                <a:srgbClr val="2F667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42" name="TextBox 41">
              <a:extLst>
                <a:ext uri="{FF2B5EF4-FFF2-40B4-BE49-F238E27FC236}">
                  <a16:creationId xmlns:a16="http://schemas.microsoft.com/office/drawing/2014/main" id="{509F3713-1F61-9EB1-3948-9EAA95E262A5}"/>
                </a:ext>
              </a:extLst>
            </p:cNvPr>
            <p:cNvSpPr txBox="1"/>
            <p:nvPr/>
          </p:nvSpPr>
          <p:spPr>
            <a:xfrm>
              <a:off x="965043" y="4814226"/>
              <a:ext cx="4702930" cy="230832"/>
            </a:xfrm>
            <a:prstGeom prst="rect">
              <a:avLst/>
            </a:prstGeom>
            <a:noFill/>
          </p:spPr>
          <p:txBody>
            <a:bodyPr wrap="square" numCol="1" rtlCol="0">
              <a:spAutoFit/>
            </a:bodyPr>
            <a:lstStyle/>
            <a:p>
              <a:pPr>
                <a:spcAft>
                  <a:spcPts val="1200"/>
                </a:spcAft>
              </a:pPr>
              <a:r>
                <a:rPr lang="en-US" sz="900" dirty="0">
                  <a:solidFill>
                    <a:schemeClr val="bg1"/>
                  </a:solidFill>
                  <a:latin typeface="Montserrat SemiBold" panose="00000700000000000000" pitchFamily="2" charset="0"/>
                </a:rPr>
                <a:t>          Custom Set-up</a:t>
              </a:r>
            </a:p>
          </p:txBody>
        </p:sp>
        <p:sp>
          <p:nvSpPr>
            <p:cNvPr id="43" name="TextBox 42">
              <a:extLst>
                <a:ext uri="{FF2B5EF4-FFF2-40B4-BE49-F238E27FC236}">
                  <a16:creationId xmlns:a16="http://schemas.microsoft.com/office/drawing/2014/main" id="{922541C4-7F65-3EC8-8BD3-F09893ACA576}"/>
                </a:ext>
              </a:extLst>
            </p:cNvPr>
            <p:cNvSpPr txBox="1"/>
            <p:nvPr/>
          </p:nvSpPr>
          <p:spPr>
            <a:xfrm>
              <a:off x="916695" y="5061374"/>
              <a:ext cx="2390158" cy="638636"/>
            </a:xfrm>
            <a:prstGeom prst="rect">
              <a:avLst/>
            </a:prstGeom>
            <a:noFill/>
          </p:spPr>
          <p:txBody>
            <a:bodyPr wrap="square" numCol="1" rtlCol="0">
              <a:spAutoFit/>
            </a:bodyPr>
            <a:lstStyle/>
            <a:p>
              <a:pPr>
                <a:spcAft>
                  <a:spcPts val="300"/>
                </a:spcAft>
              </a:pPr>
              <a:r>
                <a:rPr lang="en-US" sz="700" dirty="0">
                  <a:solidFill>
                    <a:srgbClr val="3C8394"/>
                  </a:solidFill>
                  <a:latin typeface="Montserrat SemiBold" panose="00000700000000000000" pitchFamily="2" charset="0"/>
                </a:rPr>
                <a:t>Implementation (on-time)</a:t>
              </a:r>
            </a:p>
            <a:p>
              <a:pPr>
                <a:spcAft>
                  <a:spcPts val="300"/>
                </a:spcAft>
              </a:pPr>
              <a:r>
                <a:rPr lang="en-US" sz="700" dirty="0">
                  <a:latin typeface="Montserrat SemiBold" panose="00000700000000000000" pitchFamily="2" charset="0"/>
                </a:rPr>
                <a:t>API Connection set-up fee: $2,500</a:t>
              </a:r>
            </a:p>
            <a:p>
              <a:pPr>
                <a:spcAft>
                  <a:spcPts val="300"/>
                </a:spcAft>
              </a:pPr>
              <a:r>
                <a:rPr lang="en-US" sz="700" dirty="0">
                  <a:latin typeface="Montserrat SemiBold" panose="00000700000000000000" pitchFamily="2" charset="0"/>
                </a:rPr>
                <a:t>Custom fields ($100 each):</a:t>
              </a:r>
            </a:p>
            <a:p>
              <a:pPr>
                <a:spcAft>
                  <a:spcPts val="300"/>
                </a:spcAft>
              </a:pPr>
              <a:endParaRPr lang="en-US" sz="700" dirty="0">
                <a:latin typeface="Montserrat SemiBold" panose="00000700000000000000" pitchFamily="2" charset="0"/>
              </a:endParaRPr>
            </a:p>
          </p:txBody>
        </p:sp>
        <p:sp>
          <p:nvSpPr>
            <p:cNvPr id="44" name="TextBox 43">
              <a:extLst>
                <a:ext uri="{FF2B5EF4-FFF2-40B4-BE49-F238E27FC236}">
                  <a16:creationId xmlns:a16="http://schemas.microsoft.com/office/drawing/2014/main" id="{BF8F3A8F-0A5B-7084-0A23-7B57E53B44F2}"/>
                </a:ext>
              </a:extLst>
            </p:cNvPr>
            <p:cNvSpPr txBox="1"/>
            <p:nvPr/>
          </p:nvSpPr>
          <p:spPr>
            <a:xfrm>
              <a:off x="3306629" y="5061373"/>
              <a:ext cx="2749212" cy="784830"/>
            </a:xfrm>
            <a:prstGeom prst="rect">
              <a:avLst/>
            </a:prstGeom>
            <a:noFill/>
          </p:spPr>
          <p:txBody>
            <a:bodyPr wrap="square" numCol="1" rtlCol="0">
              <a:spAutoFit/>
            </a:bodyPr>
            <a:lstStyle/>
            <a:p>
              <a:pPr>
                <a:spcAft>
                  <a:spcPts val="300"/>
                </a:spcAft>
              </a:pPr>
              <a:r>
                <a:rPr lang="en-US" sz="700" dirty="0">
                  <a:solidFill>
                    <a:srgbClr val="3C8394"/>
                  </a:solidFill>
                  <a:latin typeface="Montserrat SemiBold" panose="00000700000000000000" pitchFamily="2" charset="0"/>
                </a:rPr>
                <a:t>Monthly Costs (recurring)</a:t>
              </a:r>
            </a:p>
            <a:p>
              <a:pPr>
                <a:spcAft>
                  <a:spcPts val="300"/>
                </a:spcAft>
              </a:pPr>
              <a:r>
                <a:rPr lang="en-US" sz="700" dirty="0">
                  <a:latin typeface="Montserrat SemiBold" panose="00000700000000000000" pitchFamily="2" charset="0"/>
                </a:rPr>
                <a:t>Refresh Rate</a:t>
              </a:r>
            </a:p>
            <a:p>
              <a:pPr>
                <a:spcAft>
                  <a:spcPts val="300"/>
                </a:spcAft>
              </a:pPr>
              <a:r>
                <a:rPr lang="en-US" sz="700" dirty="0">
                  <a:latin typeface="Montserrat SemiBold" panose="00000700000000000000" pitchFamily="2" charset="0"/>
                </a:rPr>
                <a:t>      Monthly($50)        Weekly($100)        Daily($200)</a:t>
              </a:r>
            </a:p>
            <a:p>
              <a:pPr>
                <a:spcAft>
                  <a:spcPts val="300"/>
                </a:spcAft>
              </a:pPr>
              <a:endParaRPr lang="en-US" sz="700" dirty="0">
                <a:latin typeface="Montserrat SemiBold" panose="00000700000000000000" pitchFamily="2" charset="0"/>
              </a:endParaRPr>
            </a:p>
            <a:p>
              <a:pPr>
                <a:spcAft>
                  <a:spcPts val="300"/>
                </a:spcAft>
              </a:pPr>
              <a:r>
                <a:rPr lang="en-US" sz="700" dirty="0">
                  <a:latin typeface="Montserrat SemiBold" panose="00000700000000000000" pitchFamily="2" charset="0"/>
                </a:rPr>
                <a:t>Base Subscription: {{</a:t>
              </a:r>
              <a:r>
                <a:rPr lang="en-US" sz="700" dirty="0" err="1">
                  <a:latin typeface="Montserrat SemiBold" panose="00000700000000000000" pitchFamily="2" charset="0"/>
                </a:rPr>
                <a:t>tier_cost</a:t>
              </a:r>
              <a:r>
                <a:rPr lang="en-US" sz="700" dirty="0">
                  <a:latin typeface="Montserrat SemiBold" panose="00000700000000000000" pitchFamily="2" charset="0"/>
                </a:rPr>
                <a:t>}}/ month</a:t>
              </a:r>
            </a:p>
          </p:txBody>
        </p:sp>
        <p:sp>
          <p:nvSpPr>
            <p:cNvPr id="45" name="TextBox 44">
              <a:extLst>
                <a:ext uri="{FF2B5EF4-FFF2-40B4-BE49-F238E27FC236}">
                  <a16:creationId xmlns:a16="http://schemas.microsoft.com/office/drawing/2014/main" id="{E7BE849F-2E93-ABAD-8C3F-1BC13D62C9DE}"/>
                </a:ext>
              </a:extLst>
            </p:cNvPr>
            <p:cNvSpPr txBox="1"/>
            <p:nvPr/>
          </p:nvSpPr>
          <p:spPr>
            <a:xfrm>
              <a:off x="916695" y="5503363"/>
              <a:ext cx="1940794" cy="346249"/>
            </a:xfrm>
            <a:prstGeom prst="rect">
              <a:avLst/>
            </a:prstGeom>
            <a:noFill/>
          </p:spPr>
          <p:txBody>
            <a:bodyPr wrap="square" rtlCol="0">
              <a:spAutoFit/>
            </a:bodyPr>
            <a:lstStyle/>
            <a:p>
              <a:pPr>
                <a:spcAft>
                  <a:spcPts val="300"/>
                </a:spcAft>
              </a:pPr>
              <a:r>
                <a:rPr lang="en-US" sz="700" dirty="0">
                  <a:latin typeface="Montserrat SemiBold" panose="00000700000000000000" pitchFamily="2" charset="0"/>
                </a:rPr>
                <a:t>Basic Journeys ($200 each):</a:t>
              </a:r>
              <a:endParaRPr lang="en-US" sz="700" dirty="0">
                <a:solidFill>
                  <a:srgbClr val="3C8394"/>
                </a:solidFill>
                <a:latin typeface="Montserrat SemiBold" panose="00000700000000000000" pitchFamily="2" charset="0"/>
              </a:endParaRPr>
            </a:p>
            <a:p>
              <a:pPr>
                <a:spcAft>
                  <a:spcPts val="300"/>
                </a:spcAft>
              </a:pPr>
              <a:r>
                <a:rPr lang="en-US" sz="700" dirty="0">
                  <a:latin typeface="Montserrat SemiBold" panose="00000700000000000000" pitchFamily="2" charset="0"/>
                </a:rPr>
                <a:t>Advanced Journeys ($600 each):</a:t>
              </a:r>
            </a:p>
          </p:txBody>
        </p:sp>
      </p:grpSp>
    </p:spTree>
    <p:extLst>
      <p:ext uri="{BB962C8B-B14F-4D97-AF65-F5344CB8AC3E}">
        <p14:creationId xmlns:p14="http://schemas.microsoft.com/office/powerpoint/2010/main" val="15954093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1712</TotalTime>
  <Words>1663</Words>
  <Application>Microsoft Office PowerPoint</Application>
  <PresentationFormat>Widescreen</PresentationFormat>
  <Paragraphs>237</Paragraphs>
  <Slides>10</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10</vt:i4>
      </vt:variant>
    </vt:vector>
  </HeadingPairs>
  <TitlesOfParts>
    <vt:vector size="19" baseType="lpstr">
      <vt:lpstr>Aptos</vt:lpstr>
      <vt:lpstr>Arial</vt:lpstr>
      <vt:lpstr>Avenir LT Std 55 Roman</vt:lpstr>
      <vt:lpstr>Lora Medium</vt:lpstr>
      <vt:lpstr>Montserrat</vt:lpstr>
      <vt:lpstr>Montserrat Medium</vt:lpstr>
      <vt:lpstr>Montserrat SemiBold</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Vachon, Erica</dc:creator>
  <cp:lastModifiedBy>Jen Braziel</cp:lastModifiedBy>
  <cp:revision>68</cp:revision>
  <cp:lastPrinted>2025-02-12T14:26:21Z</cp:lastPrinted>
  <dcterms:created xsi:type="dcterms:W3CDTF">2025-02-12T12:02:51Z</dcterms:created>
  <dcterms:modified xsi:type="dcterms:W3CDTF">2026-05-22T23:38:52Z</dcterms:modified>
</cp:coreProperties>
</file>